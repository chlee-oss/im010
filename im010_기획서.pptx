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F2430"/>
                </a:solidFill>
                <a:latin typeface="Malgun Gothic"/>
              </a:defRPr>
            </a:pPr>
            <a:r>
              <a:rPr sz="1200" b="0" i="0" u="none" strike="noStrike">
                <a:solidFill>
                  <a:srgbClr val="1F2430"/>
                </a:solidFill>
                <a:latin typeface="Malgun Gothic"/>
              </a:rPr>
              <a:t>GB당 평균 요금 (원, 낮을수록 효율적)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GB당 평균 요금</c:v>
                </c:pt>
              </c:strCache>
            </c:strRef>
          </c:tx>
          <c:spPr>
            <a:solidFill>
              <a:srgbClr val="1F2430"/>
            </a:solidFill>
            <a:effectLst/>
          </c:spPr>
          <c:invertIfNegative val="0"/>
          <c:dLbls>
            <c:numFmt formatCode="#,##0&quot;원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243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인스모바일</c:v>
                  </c:pt>
                  <c:pt idx="1">
                    <c:v>마블링</c:v>
                  </c:pt>
                  <c:pt idx="2">
                    <c:v>슈가모바일</c:v>
                  </c:pt>
                  <c:pt idx="3">
                    <c:v>토리모바일</c:v>
                  </c:pt>
                  <c:pt idx="4">
                    <c:v>시월모바일</c:v>
                  </c:pt>
                  <c:pt idx="5">
                    <c:v>조이M</c:v>
                  </c:pt>
                  <c:pt idx="6">
                    <c:v>위너스텔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1450</c:v>
                </c:pt>
                <c:pt idx="1">
                  <c:v>1320</c:v>
                </c:pt>
                <c:pt idx="2">
                  <c:v>1260</c:v>
                </c:pt>
                <c:pt idx="3">
                  <c:v>1180</c:v>
                </c:pt>
                <c:pt idx="4">
                  <c:v>1120</c:v>
                </c:pt>
                <c:pt idx="5">
                  <c:v>1050</c:v>
                </c:pt>
                <c:pt idx="6">
                  <c:v>980</c:v>
                </c:pt>
              </c:numCache>
            </c:numRef>
          </c:val>
        </c:ser>
        <c:dLbls>
          <c:numFmt formatCode="#,##0&quot;원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1F243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4B5262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70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63040"/>
            <a:ext cx="1962912" cy="329184"/>
          </a:xfrm>
          <a:prstGeom prst="roundRect">
            <a:avLst>
              <a:gd name="adj" fmla="val 50000"/>
            </a:avLst>
          </a:prstGeom>
          <a:solidFill>
            <a:srgbClr val="FA5A47"/>
          </a:solidFill>
          <a:ln w="9525">
            <a:solidFill>
              <a:srgbClr val="FA5A4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알뜰폰 요금비교 플랫폼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920240"/>
            <a:ext cx="5486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</a:t>
            </a:r>
            <a:pPr indent="0" marL="0">
              <a:buNone/>
            </a:pPr>
            <a:r>
              <a:rPr lang="en-US" sz="7200" b="1" dirty="0">
                <a:solidFill>
                  <a:srgbClr val="FA5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010</a:t>
            </a:r>
            <a:endParaRPr lang="en-US" sz="7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06324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홈페이지 기획서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9319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6CB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메인 페이지 기획 v0.2  ·  하위 페이지 기획 v0.1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57607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2026.10.01   |   (주)아임공일공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 rot="180000">
            <a:off x="8503920" y="822960"/>
            <a:ext cx="2834640" cy="1600200"/>
          </a:xfrm>
          <a:prstGeom prst="roundRect">
            <a:avLst>
              <a:gd name="adj" fmla="val 914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30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 rot="180000">
            <a:off x="8503920" y="822960"/>
            <a:ext cx="2834640" cy="1600200"/>
          </a:xfrm>
          <a:prstGeom prst="rect">
            <a:avLst/>
          </a:prstGeom>
          <a:noFill/>
          <a:ln/>
        </p:spPr>
        <p:txBody>
          <a:bodyPr wrap="square" lIns="152400" tIns="203200" rIns="203200" bIns="15240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마블링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넉넉 11GB+ 요금제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200" b="1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16,500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원 / 월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SKT 망 · 5G · 소진 시 1Mbps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 rot="-240000">
            <a:off x="7040880" y="2606040"/>
            <a:ext cx="2834640" cy="1600200"/>
          </a:xfrm>
          <a:prstGeom prst="roundRect">
            <a:avLst>
              <a:gd name="adj" fmla="val 914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30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 rot="-240000">
            <a:off x="7040880" y="2606040"/>
            <a:ext cx="2834640" cy="1600200"/>
          </a:xfrm>
          <a:prstGeom prst="rect">
            <a:avLst/>
          </a:prstGeom>
          <a:noFill/>
          <a:ln/>
        </p:spPr>
        <p:txBody>
          <a:bodyPr wrap="square" lIns="152400" tIns="203200" rIns="203200" bIns="15240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B379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인스모바일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가벼운 3GB 요금제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200" b="1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8,900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원 / 월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LGU+ 망 · LTE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 rot="120000">
            <a:off x="8778240" y="4206240"/>
            <a:ext cx="2834640" cy="1600200"/>
          </a:xfrm>
          <a:prstGeom prst="roundRect">
            <a:avLst>
              <a:gd name="adj" fmla="val 914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30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 rot="120000">
            <a:off x="8778240" y="4206240"/>
            <a:ext cx="2834640" cy="1600200"/>
          </a:xfrm>
          <a:prstGeom prst="rect">
            <a:avLst/>
          </a:prstGeom>
          <a:noFill/>
          <a:ln/>
        </p:spPr>
        <p:txBody>
          <a:bodyPr wrap="square" lIns="152400" tIns="203200" rIns="203200" bIns="15240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6C39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조이M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무제한 요금제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200" b="1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24,900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원 / 월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KT 망 · 5G 완전 무제한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A5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23444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목차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731520" y="4206240"/>
            <a:ext cx="3291840" cy="1554480"/>
          </a:xfrm>
          <a:prstGeom prst="roundRect">
            <a:avLst>
              <a:gd name="adj" fmla="val 7059"/>
            </a:avLst>
          </a:prstGeom>
          <a:solidFill>
            <a:srgbClr val="FFF1EE"/>
          </a:solidFill>
          <a:ln w="9525">
            <a:solidFill>
              <a:srgbClr val="FFF1E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32688" y="4370832"/>
            <a:ext cx="2889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 문서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932688" y="4681728"/>
            <a:ext cx="28895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im010_홈페이지_기획서.md (v0.2)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im010_하위페이지_기획서.md (v0.1)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im010_홈페이지_목업_2.html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4937760" y="914400"/>
            <a:ext cx="658368" cy="658368"/>
          </a:xfrm>
          <a:prstGeom prst="ellipse">
            <a:avLst/>
          </a:prstGeom>
          <a:solidFill>
            <a:srgbClr val="FFF1EE"/>
          </a:solidFill>
          <a:ln>
            <a:solidFill>
              <a:srgbClr val="FFF1E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94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852160" y="932688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개요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5852160" y="1316736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 · 타깃 · 핵심 지표, 7개 제휴 브랜드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937760" y="1938528"/>
            <a:ext cx="658368" cy="658368"/>
          </a:xfrm>
          <a:prstGeom prst="ellipse">
            <a:avLst/>
          </a:prstGeom>
          <a:solidFill>
            <a:srgbClr val="FFF1EE"/>
          </a:solidFill>
          <a:ln>
            <a:solidFill>
              <a:srgbClr val="FFF1E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94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852160" y="1956816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메인 페이지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5852160" y="2340864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구성, 디자인 시스템, 섹션별 설계, 검토 이슈 반영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937760" y="2962656"/>
            <a:ext cx="658368" cy="658368"/>
          </a:xfrm>
          <a:prstGeom prst="ellipse">
            <a:avLst/>
          </a:prstGeom>
          <a:solidFill>
            <a:srgbClr val="FFF1EE"/>
          </a:solidFill>
          <a:ln>
            <a:solidFill>
              <a:srgbClr val="FFF1E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94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5852160" y="2980944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하위 페이지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5852160" y="3364992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9개 페이지 화면 설계, 공통 규칙, 개발 우선순위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4937760" y="3986784"/>
            <a:ext cx="658368" cy="658368"/>
          </a:xfrm>
          <a:prstGeom prst="ellipse">
            <a:avLst/>
          </a:prstGeom>
          <a:solidFill>
            <a:srgbClr val="FFF1EE"/>
          </a:solidFill>
          <a:ln>
            <a:solidFill>
              <a:srgbClr val="FFF1E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94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5852160" y="4005072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· 운영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5852160" y="438912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소스, 트래킹 이벤트, 관리자 기능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4937760" y="5010912"/>
            <a:ext cx="658368" cy="658368"/>
          </a:xfrm>
          <a:prstGeom prst="ellipse">
            <a:avLst/>
          </a:prstGeom>
          <a:solidFill>
            <a:srgbClr val="FFF1EE"/>
          </a:solidFill>
          <a:ln>
            <a:solidFill>
              <a:srgbClr val="FFF1E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94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5852160" y="502920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 사항 · 다음 단계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5852160" y="5413248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확정이 필요한 14건과 진행 순서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5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  서비스 개요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7개 알뜰폰 브랜드를 한 곳에서 비교하고 가입까지 연결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070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im010은 비교 플랫폼 — 가입·개통은 각 제휴사에서 진행됩니다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9052560" y="6473952"/>
            <a:ext cx="2587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im010 홈페이지 기획서   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5029200" cy="1280160"/>
          </a:xfrm>
          <a:prstGeom prst="roundRect">
            <a:avLst>
              <a:gd name="adj" fmla="val 8571"/>
            </a:avLst>
          </a:prstGeom>
          <a:solidFill>
            <a:srgbClr val="FFF1EE"/>
          </a:solidFill>
          <a:ln w="9525">
            <a:solidFill>
              <a:srgbClr val="FFF1E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9659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28600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7개 제휴 알뜰폰 요금제를 한 곳에서 비교하고 제휴사 가입 페이지로 연결, 인터넷 상담 신청까지 유도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3246120"/>
            <a:ext cx="5029200" cy="1280160"/>
          </a:xfrm>
          <a:prstGeom prst="roundRect">
            <a:avLst>
              <a:gd name="adj" fmla="val 8571"/>
            </a:avLst>
          </a:prstGeom>
          <a:solidFill>
            <a:srgbClr val="FFF1EE"/>
          </a:solidFill>
          <a:ln w="9525">
            <a:solidFill>
              <a:srgbClr val="FFF1E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3429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타깃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374904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통신비 절감에 관심 있는 통신 3사 이용자, 단기·선불 수요자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4709160"/>
            <a:ext cx="5029200" cy="1280160"/>
          </a:xfrm>
          <a:prstGeom prst="roundRect">
            <a:avLst>
              <a:gd name="adj" fmla="val 8571"/>
            </a:avLst>
          </a:prstGeom>
          <a:solidFill>
            <a:srgbClr val="FFF1EE"/>
          </a:solidFill>
          <a:ln w="9525">
            <a:solidFill>
              <a:srgbClr val="FFF1E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7240" y="48920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지표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521208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제휴사 요금제 상세 클릭률 · 선불 충전 전환율 · 인터넷 상담 신청 수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0" y="17830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제휴 브랜드 7개사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943600" y="2240280"/>
            <a:ext cx="1307592" cy="1783080"/>
          </a:xfrm>
          <a:prstGeom prst="roundRect">
            <a:avLst>
              <a:gd name="adj" fmla="val 8392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  <a:effectLst>
            <a:outerShdw sx="100000" sy="100000" kx="0" ky="0" algn="bl" rotWithShape="0" blurRad="127000" dist="38100" dir="5400000">
              <a:srgbClr val="1F2430">
                <a:alpha val="14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080760" y="2423160"/>
            <a:ext cx="637032" cy="274320"/>
          </a:xfrm>
          <a:prstGeom prst="roundRect">
            <a:avLst>
              <a:gd name="adj" fmla="val 50000"/>
            </a:avLst>
          </a:prstGeom>
          <a:solidFill>
            <a:srgbClr val="FFE9E5"/>
          </a:solidFill>
          <a:ln w="9525">
            <a:solidFill>
              <a:srgbClr val="FFE9E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마블링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6080760" y="2862072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marvelring.com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6080760" y="3200400"/>
            <a:ext cx="10789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후불 요금제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415784" y="2240280"/>
            <a:ext cx="1307592" cy="1783080"/>
          </a:xfrm>
          <a:prstGeom prst="roundRect">
            <a:avLst>
              <a:gd name="adj" fmla="val 8392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  <a:effectLst>
            <a:outerShdw sx="100000" sy="100000" kx="0" ky="0" algn="bl" rotWithShape="0" blurRad="127000" dist="38100" dir="5400000">
              <a:srgbClr val="1F2430">
                <a:alpha val="14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7552944" y="2423160"/>
            <a:ext cx="891032" cy="274320"/>
          </a:xfrm>
          <a:prstGeom prst="roundRect">
            <a:avLst>
              <a:gd name="adj" fmla="val 50000"/>
            </a:avLst>
          </a:prstGeom>
          <a:solidFill>
            <a:srgbClr val="E6F0FF"/>
          </a:solidFill>
          <a:ln w="9525">
            <a:solidFill>
              <a:srgbClr val="E6F0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158C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토리모바일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7552944" y="2862072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ntontel.com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7552944" y="3200400"/>
            <a:ext cx="10789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후불 요금제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8887968" y="2240280"/>
            <a:ext cx="1307592" cy="1783080"/>
          </a:xfrm>
          <a:prstGeom prst="roundRect">
            <a:avLst>
              <a:gd name="adj" fmla="val 8392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  <a:effectLst>
            <a:outerShdw sx="100000" sy="100000" kx="0" ky="0" algn="bl" rotWithShape="0" blurRad="127000" dist="38100" dir="5400000">
              <a:srgbClr val="1F2430">
                <a:alpha val="14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9025128" y="2423160"/>
            <a:ext cx="764032" cy="274320"/>
          </a:xfrm>
          <a:prstGeom prst="roundRect">
            <a:avLst>
              <a:gd name="adj" fmla="val 50000"/>
            </a:avLst>
          </a:prstGeom>
          <a:solidFill>
            <a:srgbClr val="E9F8EE"/>
          </a:solidFill>
          <a:ln w="9525">
            <a:solidFill>
              <a:srgbClr val="E9F8E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9E5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위너스텔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9025128" y="2862072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idowell.co.kr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9025128" y="3200400"/>
            <a:ext cx="10789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후불 요금제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9025128" y="3538728"/>
            <a:ext cx="781812" cy="237744"/>
          </a:xfrm>
          <a:prstGeom prst="roundRect">
            <a:avLst>
              <a:gd name="adj" fmla="val 50000"/>
            </a:avLst>
          </a:prstGeom>
          <a:solidFill>
            <a:srgbClr val="1F2430"/>
          </a:solidFill>
          <a:ln w="9525">
            <a:solidFill>
              <a:srgbClr val="1F243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선불 제공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10360152" y="2240280"/>
            <a:ext cx="1307592" cy="1783080"/>
          </a:xfrm>
          <a:prstGeom prst="roundRect">
            <a:avLst>
              <a:gd name="adj" fmla="val 8392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  <a:effectLst>
            <a:outerShdw sx="100000" sy="100000" kx="0" ky="0" algn="bl" rotWithShape="0" blurRad="127000" dist="38100" dir="5400000">
              <a:srgbClr val="1F2430">
                <a:alpha val="14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10497312" y="2423160"/>
            <a:ext cx="891032" cy="274320"/>
          </a:xfrm>
          <a:prstGeom prst="roundRect">
            <a:avLst>
              <a:gd name="adj" fmla="val 50000"/>
            </a:avLst>
          </a:prstGeom>
          <a:solidFill>
            <a:srgbClr val="FFE4EC"/>
          </a:solidFill>
          <a:ln w="9525">
            <a:solidFill>
              <a:srgbClr val="FFE4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6336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슈가모바일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10497312" y="2862072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sugarmobile.co.kr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10497312" y="3200400"/>
            <a:ext cx="10789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후불 요금제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10497312" y="3538728"/>
            <a:ext cx="781812" cy="237744"/>
          </a:xfrm>
          <a:prstGeom prst="roundRect">
            <a:avLst>
              <a:gd name="adj" fmla="val 50000"/>
            </a:avLst>
          </a:prstGeom>
          <a:solidFill>
            <a:srgbClr val="1F2430"/>
          </a:solidFill>
          <a:ln w="9525">
            <a:solidFill>
              <a:srgbClr val="1F243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선불 제공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5943600" y="4206240"/>
            <a:ext cx="1307592" cy="1783080"/>
          </a:xfrm>
          <a:prstGeom prst="roundRect">
            <a:avLst>
              <a:gd name="adj" fmla="val 8392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  <a:effectLst>
            <a:outerShdw sx="100000" sy="100000" kx="0" ky="0" algn="bl" rotWithShape="0" blurRad="127000" dist="38100" dir="5400000">
              <a:srgbClr val="1F2430">
                <a:alpha val="14000"/>
              </a:srgbClr>
            </a:outerShdw>
          </a:effectLst>
        </p:spPr>
      </p:sp>
      <p:sp>
        <p:nvSpPr>
          <p:cNvPr id="35" name="Text 33"/>
          <p:cNvSpPr txBox="1"/>
          <p:nvPr/>
        </p:nvSpPr>
        <p:spPr>
          <a:xfrm>
            <a:off x="6080760" y="4389120"/>
            <a:ext cx="891032" cy="274320"/>
          </a:xfrm>
          <a:prstGeom prst="roundRect">
            <a:avLst>
              <a:gd name="adj" fmla="val 50000"/>
            </a:avLst>
          </a:prstGeom>
          <a:solidFill>
            <a:srgbClr val="FFF3D6"/>
          </a:solidFill>
          <a:ln w="9525">
            <a:solidFill>
              <a:srgbClr val="FFF3D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379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인스모바일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6080760" y="4828032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insmobile.co.kr</a:t>
            </a:r>
            <a:endParaRPr lang="en-US" sz="900" dirty="0"/>
          </a:p>
        </p:txBody>
      </p:sp>
      <p:sp>
        <p:nvSpPr>
          <p:cNvPr id="37" name="Text 35"/>
          <p:cNvSpPr txBox="1"/>
          <p:nvPr/>
        </p:nvSpPr>
        <p:spPr>
          <a:xfrm>
            <a:off x="6080760" y="5166360"/>
            <a:ext cx="10789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후불 요금제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6080760" y="5504688"/>
            <a:ext cx="781812" cy="237744"/>
          </a:xfrm>
          <a:prstGeom prst="roundRect">
            <a:avLst>
              <a:gd name="adj" fmla="val 50000"/>
            </a:avLst>
          </a:prstGeom>
          <a:solidFill>
            <a:srgbClr val="1F2430"/>
          </a:solidFill>
          <a:ln w="9525">
            <a:solidFill>
              <a:srgbClr val="1F243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선불 제공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415784" y="4206240"/>
            <a:ext cx="1307592" cy="1783080"/>
          </a:xfrm>
          <a:prstGeom prst="roundRect">
            <a:avLst>
              <a:gd name="adj" fmla="val 8392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  <a:effectLst>
            <a:outerShdw sx="100000" sy="100000" kx="0" ky="0" algn="bl" rotWithShape="0" blurRad="127000" dist="38100" dir="5400000">
              <a:srgbClr val="1F2430">
                <a:alpha val="14000"/>
              </a:srgbClr>
            </a:outerShdw>
          </a:effectLst>
        </p:spPr>
      </p:sp>
      <p:sp>
        <p:nvSpPr>
          <p:cNvPr id="40" name="Text 38"/>
          <p:cNvSpPr txBox="1"/>
          <p:nvPr/>
        </p:nvSpPr>
        <p:spPr>
          <a:xfrm>
            <a:off x="7552944" y="4389120"/>
            <a:ext cx="586232" cy="274320"/>
          </a:xfrm>
          <a:prstGeom prst="roundRect">
            <a:avLst>
              <a:gd name="adj" fmla="val 50000"/>
            </a:avLst>
          </a:prstGeom>
          <a:solidFill>
            <a:srgbClr val="F1E9FF"/>
          </a:solidFill>
          <a:ln w="9525">
            <a:solidFill>
              <a:srgbClr val="F1E9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C39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조이M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7552944" y="4828032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joytel.co.kr</a:t>
            </a:r>
            <a:endParaRPr lang="en-US" sz="900" dirty="0"/>
          </a:p>
        </p:txBody>
      </p:sp>
      <p:sp>
        <p:nvSpPr>
          <p:cNvPr id="42" name="Text 40"/>
          <p:cNvSpPr txBox="1"/>
          <p:nvPr/>
        </p:nvSpPr>
        <p:spPr>
          <a:xfrm>
            <a:off x="7552944" y="5166360"/>
            <a:ext cx="10789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후불 요금제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8887968" y="4206240"/>
            <a:ext cx="1307592" cy="1783080"/>
          </a:xfrm>
          <a:prstGeom prst="roundRect">
            <a:avLst>
              <a:gd name="adj" fmla="val 8392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  <a:effectLst>
            <a:outerShdw sx="100000" sy="100000" kx="0" ky="0" algn="bl" rotWithShape="0" blurRad="127000" dist="38100" dir="5400000">
              <a:srgbClr val="1F2430">
                <a:alpha val="14000"/>
              </a:srgbClr>
            </a:outerShdw>
          </a:effectLst>
        </p:spPr>
      </p:sp>
      <p:sp>
        <p:nvSpPr>
          <p:cNvPr id="44" name="Text 42"/>
          <p:cNvSpPr txBox="1"/>
          <p:nvPr/>
        </p:nvSpPr>
        <p:spPr>
          <a:xfrm>
            <a:off x="9025128" y="4389120"/>
            <a:ext cx="891032" cy="274320"/>
          </a:xfrm>
          <a:prstGeom prst="roundRect">
            <a:avLst>
              <a:gd name="adj" fmla="val 50000"/>
            </a:avLst>
          </a:prstGeom>
          <a:solidFill>
            <a:srgbClr val="FDECC8"/>
          </a:solidFill>
          <a:ln w="9525">
            <a:solidFill>
              <a:srgbClr val="FDECC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26A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시월모바일</a:t>
            </a:r>
            <a:endParaRPr lang="en-US" sz="1000" dirty="0"/>
          </a:p>
        </p:txBody>
      </p:sp>
      <p:sp>
        <p:nvSpPr>
          <p:cNvPr id="45" name="Text 43"/>
          <p:cNvSpPr txBox="1"/>
          <p:nvPr/>
        </p:nvSpPr>
        <p:spPr>
          <a:xfrm>
            <a:off x="9025128" y="4828032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siwolmobile.com</a:t>
            </a:r>
            <a:endParaRPr lang="en-US" sz="900" dirty="0"/>
          </a:p>
        </p:txBody>
      </p:sp>
      <p:sp>
        <p:nvSpPr>
          <p:cNvPr id="46" name="Text 44"/>
          <p:cNvSpPr txBox="1"/>
          <p:nvPr/>
        </p:nvSpPr>
        <p:spPr>
          <a:xfrm>
            <a:off x="9025128" y="5166360"/>
            <a:ext cx="10789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후불 요금제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10360152" y="4206240"/>
            <a:ext cx="1307592" cy="1783080"/>
          </a:xfrm>
          <a:prstGeom prst="roundRect">
            <a:avLst>
              <a:gd name="adj" fmla="val 8392"/>
            </a:avLst>
          </a:prstGeom>
          <a:solidFill>
            <a:srgbClr val="1F2430"/>
          </a:solidFill>
          <a:ln w="9525">
            <a:solidFill>
              <a:srgbClr val="1F2430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0497312" y="4389120"/>
            <a:ext cx="1097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A5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4000" dirty="0"/>
          </a:p>
        </p:txBody>
      </p:sp>
      <p:sp>
        <p:nvSpPr>
          <p:cNvPr id="49" name="Text 47"/>
          <p:cNvSpPr txBox="1"/>
          <p:nvPr/>
        </p:nvSpPr>
        <p:spPr>
          <a:xfrm>
            <a:off x="10497312" y="5166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제휴사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그중 선불 3개사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F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8288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FA5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97180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메인 페이지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84048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6CB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구성 · 디자인 시스템 · 섹션별 설계 · 검토 이슈 반영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680960" y="1188720"/>
            <a:ext cx="3931920" cy="384048"/>
          </a:xfrm>
          <a:prstGeom prst="roundRect">
            <a:avLst>
              <a:gd name="adj" fmla="val 50000"/>
            </a:avLst>
          </a:prstGeom>
          <a:solidFill>
            <a:srgbClr val="2C3345"/>
          </a:solidFill>
          <a:ln w="9525">
            <a:solidFill>
              <a:srgbClr val="2C334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909560" y="118872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GNB (Sticky Header)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680960" y="1664208"/>
            <a:ext cx="3931920" cy="384048"/>
          </a:xfrm>
          <a:prstGeom prst="roundRect">
            <a:avLst>
              <a:gd name="adj" fmla="val 50000"/>
            </a:avLst>
          </a:prstGeom>
          <a:solidFill>
            <a:srgbClr val="2C3345"/>
          </a:solidFill>
          <a:ln w="9525">
            <a:solidFill>
              <a:srgbClr val="2C334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909560" y="1664208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Hero + 요금 계산기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680960" y="2139696"/>
            <a:ext cx="3931920" cy="384048"/>
          </a:xfrm>
          <a:prstGeom prst="roundRect">
            <a:avLst>
              <a:gd name="adj" fmla="val 50000"/>
            </a:avLst>
          </a:prstGeom>
          <a:solidFill>
            <a:srgbClr val="2C3345"/>
          </a:solidFill>
          <a:ln w="9525">
            <a:solidFill>
              <a:srgbClr val="2C334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909560" y="2139696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이달의 요금제비교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680960" y="2615184"/>
            <a:ext cx="3931920" cy="384048"/>
          </a:xfrm>
          <a:prstGeom prst="roundRect">
            <a:avLst>
              <a:gd name="adj" fmla="val 50000"/>
            </a:avLst>
          </a:prstGeom>
          <a:solidFill>
            <a:srgbClr val="2C3345"/>
          </a:solidFill>
          <a:ln w="9525">
            <a:solidFill>
              <a:srgbClr val="2C334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909560" y="2615184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제휴사별 요금제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680960" y="3090672"/>
            <a:ext cx="3931920" cy="384048"/>
          </a:xfrm>
          <a:prstGeom prst="roundRect">
            <a:avLst>
              <a:gd name="adj" fmla="val 50000"/>
            </a:avLst>
          </a:prstGeom>
          <a:solidFill>
            <a:srgbClr val="2C3345"/>
          </a:solidFill>
          <a:ln w="9525">
            <a:solidFill>
              <a:srgbClr val="2C334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909560" y="3090672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선불요금제 + 충전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680960" y="3566160"/>
            <a:ext cx="3931920" cy="384048"/>
          </a:xfrm>
          <a:prstGeom prst="roundRect">
            <a:avLst>
              <a:gd name="adj" fmla="val 50000"/>
            </a:avLst>
          </a:prstGeom>
          <a:solidFill>
            <a:srgbClr val="2C3345"/>
          </a:solidFill>
          <a:ln w="9525">
            <a:solidFill>
              <a:srgbClr val="2C334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909560" y="356616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인터넷 배너 · 상품 비교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680960" y="4041648"/>
            <a:ext cx="3931920" cy="384048"/>
          </a:xfrm>
          <a:prstGeom prst="roundRect">
            <a:avLst>
              <a:gd name="adj" fmla="val 50000"/>
            </a:avLst>
          </a:prstGeom>
          <a:solidFill>
            <a:srgbClr val="2C3345"/>
          </a:solidFill>
          <a:ln w="9525">
            <a:solidFill>
              <a:srgbClr val="2C3345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909560" y="4041648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요금제분석 · 신뢰 지표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680960" y="4517136"/>
            <a:ext cx="3931920" cy="384048"/>
          </a:xfrm>
          <a:prstGeom prst="roundRect">
            <a:avLst>
              <a:gd name="adj" fmla="val 50000"/>
            </a:avLst>
          </a:prstGeom>
          <a:solidFill>
            <a:srgbClr val="2C3345"/>
          </a:solidFill>
          <a:ln w="9525">
            <a:solidFill>
              <a:srgbClr val="2C3345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909560" y="4517136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Footer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5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 메인 페이지 · 화면 구성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페이지, 10개 섹션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070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상단 메뉴는 섹션으로 스크롤 이동, 제휴사 페이지는 새 창으로 엽니다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9052560" y="6473952"/>
            <a:ext cx="2587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im010 홈페이지 기획서   5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7373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섹션 순서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2057400"/>
            <a:ext cx="338328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20574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 GNB (Sticky)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2487168"/>
            <a:ext cx="3383280" cy="365760"/>
          </a:xfrm>
          <a:prstGeom prst="roundRect">
            <a:avLst>
              <a:gd name="adj" fmla="val 15000"/>
            </a:avLst>
          </a:prstGeom>
          <a:solidFill>
            <a:srgbClr val="FFFBF8"/>
          </a:solidFill>
          <a:ln w="9525">
            <a:solidFill>
              <a:srgbClr val="E9E7E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248716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 Hero + 요금 계산기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2514600" y="2487168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#calc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48640" y="2916936"/>
            <a:ext cx="338328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5800" y="2916936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 이달의 요금제비교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2514600" y="2916936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#month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48640" y="3346704"/>
            <a:ext cx="3383280" cy="365760"/>
          </a:xfrm>
          <a:prstGeom prst="roundRect">
            <a:avLst>
              <a:gd name="adj" fmla="val 15000"/>
            </a:avLst>
          </a:prstGeom>
          <a:solidFill>
            <a:srgbClr val="FFF1EE"/>
          </a:solidFill>
          <a:ln w="9525">
            <a:solidFill>
              <a:srgbClr val="FFE4D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5800" y="3346704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 제휴사별 요금제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2514600" y="3346704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#partners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48640" y="3776472"/>
            <a:ext cx="338328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85800" y="377647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 선불요금제 + 충전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2514600" y="3776472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#prepaid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48640" y="4206240"/>
            <a:ext cx="3383280" cy="365760"/>
          </a:xfrm>
          <a:prstGeom prst="roundRect">
            <a:avLst>
              <a:gd name="adj" fmla="val 15000"/>
            </a:avLst>
          </a:prstGeom>
          <a:solidFill>
            <a:srgbClr val="1F2430"/>
          </a:solidFill>
          <a:ln w="9525">
            <a:solidFill>
              <a:srgbClr val="1F243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85800" y="42062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 인터넷 배너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2514600" y="420624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6CB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#internet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48640" y="4636008"/>
            <a:ext cx="338328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85800" y="463600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 인터넷 상품 비교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2514600" y="4636008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#internet-compare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48640" y="5065776"/>
            <a:ext cx="3383280" cy="365760"/>
          </a:xfrm>
          <a:prstGeom prst="roundRect">
            <a:avLst>
              <a:gd name="adj" fmla="val 15000"/>
            </a:avLst>
          </a:prstGeom>
          <a:solidFill>
            <a:srgbClr val="FFF1EE"/>
          </a:solidFill>
          <a:ln w="9525">
            <a:solidFill>
              <a:srgbClr val="FFE4D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85800" y="5065776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 요금제분석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2514600" y="5065776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#analysis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48640" y="5495544"/>
            <a:ext cx="338328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85800" y="5495544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 신뢰 지표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548640" y="5925312"/>
            <a:ext cx="3383280" cy="365760"/>
          </a:xfrm>
          <a:prstGeom prst="roundRect">
            <a:avLst>
              <a:gd name="adj" fmla="val 15000"/>
            </a:avLst>
          </a:prstGeom>
          <a:solidFill>
            <a:srgbClr val="1F2430"/>
          </a:solidFill>
          <a:ln w="9525">
            <a:solidFill>
              <a:srgbClr val="1F243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85800" y="592531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  Footer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4343400" y="173736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상단 메뉴 (GNB)</a:t>
            </a:r>
            <a:endParaRPr lang="en-US" sz="1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343400" y="2057400"/>
          <a:ext cx="726948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3337560"/>
                <a:gridCol w="201168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메뉴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이동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비고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이달의 요금제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#month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요금제 ▾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#partners · 7개사 요금제 페이지(새 창)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하위: 전체 비교 → S1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선불요금제 ▾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#prepaid · 3개사 선불결제(새 창)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인터넷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#internet-compare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9432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v0.2 추가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이벤트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S3 이벤트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현재 "준비 중" 안내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요금제분석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#analysis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마이페이지 · 로그인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S6 · S5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현재 "준비 중" 안내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요금제 비교하기 (CTA)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#calc  Hero 계산기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6" name="Shape 33"/>
          <p:cNvSpPr/>
          <p:nvPr/>
        </p:nvSpPr>
        <p:spPr>
          <a:xfrm>
            <a:off x="4343400" y="5532120"/>
            <a:ext cx="7269480" cy="731520"/>
          </a:xfrm>
          <a:prstGeom prst="roundRect">
            <a:avLst>
              <a:gd name="adj" fmla="val 15000"/>
            </a:avLst>
          </a:prstGeom>
          <a:solidFill>
            <a:srgbClr val="FFF1EE"/>
          </a:solidFill>
          <a:ln w="9525">
            <a:solidFill>
              <a:srgbClr val="FFF1EE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4544568" y="5696712"/>
            <a:ext cx="6867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모바일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4544568" y="6007608"/>
            <a:ext cx="68671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≤920px 햄버거 메뉴(☰/✕)로 전환 · ≤600px 마이페이지·로그인은 메뉴 패널 하단으로 이동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5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 메인 페이지 · 디자인 시스템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코랄 + 네이비, 숫자는 Space Grotesk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070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하위 페이지도 같은 토큰과 컴포넌트를 사용합니다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9052560" y="6473952"/>
            <a:ext cx="2587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im010 홈페이지 기획서   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987552" cy="777240"/>
          </a:xfrm>
          <a:prstGeom prst="roundRect">
            <a:avLst>
              <a:gd name="adj" fmla="val 14118"/>
            </a:avLst>
          </a:prstGeom>
          <a:solidFill>
            <a:srgbClr val="FA5A47"/>
          </a:solidFill>
          <a:ln w="9525">
            <a:solidFill>
              <a:srgbClr val="E9E7E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633472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coral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852928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#FA5A47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659636" y="1783080"/>
            <a:ext cx="987552" cy="777240"/>
          </a:xfrm>
          <a:prstGeom prst="roundRect">
            <a:avLst>
              <a:gd name="adj" fmla="val 14118"/>
            </a:avLst>
          </a:prstGeom>
          <a:solidFill>
            <a:srgbClr val="D9432F"/>
          </a:solidFill>
          <a:ln w="9525">
            <a:solidFill>
              <a:srgbClr val="E9E7E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659636" y="2633472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coral-dark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659636" y="2852928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#D9432F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770632" y="1783080"/>
            <a:ext cx="987552" cy="777240"/>
          </a:xfrm>
          <a:prstGeom prst="roundRect">
            <a:avLst>
              <a:gd name="adj" fmla="val 14118"/>
            </a:avLst>
          </a:prstGeom>
          <a:solidFill>
            <a:srgbClr val="FFF1EE"/>
          </a:solidFill>
          <a:ln w="9525">
            <a:solidFill>
              <a:srgbClr val="E9E7E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770632" y="2633472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coral-tint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2770632" y="2852928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#FFF1EE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881628" y="1783080"/>
            <a:ext cx="987552" cy="777240"/>
          </a:xfrm>
          <a:prstGeom prst="roundRect">
            <a:avLst>
              <a:gd name="adj" fmla="val 14118"/>
            </a:avLst>
          </a:prstGeom>
          <a:solidFill>
            <a:srgbClr val="FFE4DF"/>
          </a:solidFill>
          <a:ln w="9525">
            <a:solidFill>
              <a:srgbClr val="E9E7E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881628" y="2633472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coral-tint-2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3881628" y="2852928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#FFE4DF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992624" y="1783080"/>
            <a:ext cx="987552" cy="777240"/>
          </a:xfrm>
          <a:prstGeom prst="roundRect">
            <a:avLst>
              <a:gd name="adj" fmla="val 14118"/>
            </a:avLst>
          </a:prstGeom>
          <a:solidFill>
            <a:srgbClr val="1F2430"/>
          </a:solidFill>
          <a:ln w="9525">
            <a:solidFill>
              <a:srgbClr val="E9E7E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992624" y="2633472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navy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4992624" y="2852928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#1F2430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6103620" y="1783080"/>
            <a:ext cx="987552" cy="777240"/>
          </a:xfrm>
          <a:prstGeom prst="roundRect">
            <a:avLst>
              <a:gd name="adj" fmla="val 14118"/>
            </a:avLst>
          </a:prstGeom>
          <a:solidFill>
            <a:srgbClr val="4B5262"/>
          </a:solidFill>
          <a:ln w="9525">
            <a:solidFill>
              <a:srgbClr val="E9E7E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103620" y="2633472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gray-700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6103620" y="2852928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#4B5262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214616" y="1783080"/>
            <a:ext cx="987552" cy="777240"/>
          </a:xfrm>
          <a:prstGeom prst="roundRect">
            <a:avLst>
              <a:gd name="adj" fmla="val 14118"/>
            </a:avLst>
          </a:prstGeom>
          <a:solidFill>
            <a:srgbClr val="8A8F9C"/>
          </a:solidFill>
          <a:ln w="9525">
            <a:solidFill>
              <a:srgbClr val="E9E7E3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214616" y="2633472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gray-500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7214616" y="2852928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#8A8F9C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8325612" y="1783080"/>
            <a:ext cx="987552" cy="777240"/>
          </a:xfrm>
          <a:prstGeom prst="roundRect">
            <a:avLst>
              <a:gd name="adj" fmla="val 14118"/>
            </a:avLst>
          </a:prstGeom>
          <a:solidFill>
            <a:srgbClr val="E9E7E3"/>
          </a:solidFill>
          <a:ln w="9525">
            <a:solidFill>
              <a:srgbClr val="E9E7E3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325612" y="2633472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gray-200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8325612" y="2852928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#E9E7E3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9436608" y="1783080"/>
            <a:ext cx="987552" cy="777240"/>
          </a:xfrm>
          <a:prstGeom prst="roundRect">
            <a:avLst>
              <a:gd name="adj" fmla="val 14118"/>
            </a:avLst>
          </a:prstGeom>
          <a:solidFill>
            <a:srgbClr val="FFFBF8"/>
          </a:solidFill>
          <a:ln w="9525">
            <a:solidFill>
              <a:srgbClr val="E9E7E3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9436608" y="2633472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cream</a:t>
            </a:r>
            <a:endParaRPr lang="en-US" sz="950" dirty="0"/>
          </a:p>
        </p:txBody>
      </p:sp>
      <p:sp>
        <p:nvSpPr>
          <p:cNvPr id="32" name="Text 30"/>
          <p:cNvSpPr txBox="1"/>
          <p:nvPr/>
        </p:nvSpPr>
        <p:spPr>
          <a:xfrm>
            <a:off x="9436608" y="2852928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#FFFBF8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10547604" y="1783080"/>
            <a:ext cx="987552" cy="777240"/>
          </a:xfrm>
          <a:prstGeom prst="roundRect">
            <a:avLst>
              <a:gd name="adj" fmla="val 14118"/>
            </a:avLst>
          </a:prstGeom>
          <a:solidFill>
            <a:srgbClr val="FFB020"/>
          </a:solidFill>
          <a:ln w="9525">
            <a:solidFill>
              <a:srgbClr val="E9E7E3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10547604" y="2633472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gold</a:t>
            </a:r>
            <a:endParaRPr lang="en-US" sz="950" dirty="0"/>
          </a:p>
        </p:txBody>
      </p:sp>
      <p:sp>
        <p:nvSpPr>
          <p:cNvPr id="35" name="Text 33"/>
          <p:cNvSpPr txBox="1"/>
          <p:nvPr/>
        </p:nvSpPr>
        <p:spPr>
          <a:xfrm>
            <a:off x="10547604" y="2852928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#FFB020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48640" y="3337560"/>
            <a:ext cx="5486400" cy="2926080"/>
          </a:xfrm>
          <a:prstGeom prst="roundRect">
            <a:avLst>
              <a:gd name="adj" fmla="val 3750"/>
            </a:avLst>
          </a:prstGeom>
          <a:solidFill>
            <a:srgbClr val="F4F5F7"/>
          </a:solidFill>
          <a:ln w="9525">
            <a:solidFill>
              <a:srgbClr val="F4F5F7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77240" y="34930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타이포그래피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777240" y="38404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</a:t>
            </a:r>
            <a:pPr indent="0" marL="0">
              <a:buNone/>
            </a:pPr>
            <a:r>
              <a:rPr lang="en-US" sz="2200" b="1" dirty="0">
                <a:solidFill>
                  <a:srgbClr val="FA5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010</a:t>
            </a:r>
            <a:endParaRPr lang="en-US" sz="2200" dirty="0"/>
          </a:p>
        </p:txBody>
      </p:sp>
      <p:sp>
        <p:nvSpPr>
          <p:cNvPr id="39" name="Text 37"/>
          <p:cNvSpPr txBox="1"/>
          <p:nvPr/>
        </p:nvSpPr>
        <p:spPr>
          <a:xfrm>
            <a:off x="3611880" y="384048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로고 · 22 / 800</a:t>
            </a:r>
            <a:endParaRPr lang="en-US" sz="950" dirty="0"/>
          </a:p>
        </p:txBody>
      </p:sp>
      <p:sp>
        <p:nvSpPr>
          <p:cNvPr id="40" name="Text 38"/>
          <p:cNvSpPr txBox="1"/>
          <p:nvPr/>
        </p:nvSpPr>
        <p:spPr>
          <a:xfrm>
            <a:off x="777240" y="42976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매달 통신비, 얼마나</a:t>
            </a:r>
            <a:endParaRPr lang="en-US" sz="2200" dirty="0"/>
          </a:p>
        </p:txBody>
      </p:sp>
      <p:sp>
        <p:nvSpPr>
          <p:cNvPr id="41" name="Text 39"/>
          <p:cNvSpPr txBox="1"/>
          <p:nvPr/>
        </p:nvSpPr>
        <p:spPr>
          <a:xfrm>
            <a:off x="3611880" y="429768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Hero 타이틀 · 40 / 800 (모바일 30)</a:t>
            </a:r>
            <a:endParaRPr lang="en-US" sz="950" dirty="0"/>
          </a:p>
        </p:txBody>
      </p:sp>
      <p:sp>
        <p:nvSpPr>
          <p:cNvPr id="42" name="Text 40"/>
          <p:cNvSpPr txBox="1"/>
          <p:nvPr/>
        </p:nvSpPr>
        <p:spPr>
          <a:xfrm>
            <a:off x="777240" y="47548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이달의 요금제비교</a:t>
            </a:r>
            <a:endParaRPr lang="en-US" sz="1700" dirty="0"/>
          </a:p>
        </p:txBody>
      </p:sp>
      <p:sp>
        <p:nvSpPr>
          <p:cNvPr id="43" name="Text 41"/>
          <p:cNvSpPr txBox="1"/>
          <p:nvPr/>
        </p:nvSpPr>
        <p:spPr>
          <a:xfrm>
            <a:off x="3611880" y="475488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섹션 타이틀 · 26 / 800</a:t>
            </a:r>
            <a:endParaRPr lang="en-US" sz="950" dirty="0"/>
          </a:p>
        </p:txBody>
      </p:sp>
      <p:sp>
        <p:nvSpPr>
          <p:cNvPr id="44" name="Text 42"/>
          <p:cNvSpPr txBox="1"/>
          <p:nvPr/>
        </p:nvSpPr>
        <p:spPr>
          <a:xfrm>
            <a:off x="777240" y="52120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16,500원</a:t>
            </a:r>
            <a:endParaRPr lang="en-US" sz="2000" dirty="0"/>
          </a:p>
        </p:txBody>
      </p:sp>
      <p:sp>
        <p:nvSpPr>
          <p:cNvPr id="45" name="Text 43"/>
          <p:cNvSpPr txBox="1"/>
          <p:nvPr/>
        </p:nvSpPr>
        <p:spPr>
          <a:xfrm>
            <a:off x="3611880" y="521208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가격·지표 · Space Grotesk 700</a:t>
            </a:r>
            <a:endParaRPr lang="en-US" sz="950" dirty="0"/>
          </a:p>
        </p:txBody>
      </p:sp>
      <p:sp>
        <p:nvSpPr>
          <p:cNvPr id="46" name="Text 44"/>
          <p:cNvSpPr txBox="1"/>
          <p:nvPr/>
        </p:nvSpPr>
        <p:spPr>
          <a:xfrm>
            <a:off x="777240" y="56692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7월, 가장 많이 비교된 요금제</a:t>
            </a:r>
            <a:endParaRPr lang="en-US" sz="1100" dirty="0"/>
          </a:p>
        </p:txBody>
      </p:sp>
      <p:sp>
        <p:nvSpPr>
          <p:cNvPr id="47" name="Text 45"/>
          <p:cNvSpPr txBox="1"/>
          <p:nvPr/>
        </p:nvSpPr>
        <p:spPr>
          <a:xfrm>
            <a:off x="3611880" y="566928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서브·캡션 · 14 / gray-500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6263640" y="3337560"/>
            <a:ext cx="5349240" cy="2926080"/>
          </a:xfrm>
          <a:prstGeom prst="roundRect">
            <a:avLst>
              <a:gd name="adj" fmla="val 3750"/>
            </a:avLst>
          </a:prstGeom>
          <a:solidFill>
            <a:srgbClr val="F4F5F7"/>
          </a:solidFill>
          <a:ln w="9525">
            <a:solidFill>
              <a:srgbClr val="F4F5F7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492240" y="34930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컴포넌트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6492240" y="388620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버튼</a:t>
            </a:r>
            <a:endParaRPr lang="en-US" sz="950" dirty="0"/>
          </a:p>
        </p:txBody>
      </p:sp>
      <p:sp>
        <p:nvSpPr>
          <p:cNvPr id="51" name="Text 49"/>
          <p:cNvSpPr txBox="1"/>
          <p:nvPr/>
        </p:nvSpPr>
        <p:spPr>
          <a:xfrm>
            <a:off x="7863840" y="3886200"/>
            <a:ext cx="1221232" cy="310896"/>
          </a:xfrm>
          <a:prstGeom prst="roundRect">
            <a:avLst>
              <a:gd name="adj" fmla="val 50000"/>
            </a:avLst>
          </a:prstGeom>
          <a:solidFill>
            <a:srgbClr val="FA5A47"/>
          </a:solidFill>
          <a:ln w="9525">
            <a:solidFill>
              <a:srgbClr val="FA5A4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요금제 비교하기</a:t>
            </a:r>
            <a:endParaRPr lang="en-US" sz="1000" dirty="0"/>
          </a:p>
        </p:txBody>
      </p:sp>
      <p:sp>
        <p:nvSpPr>
          <p:cNvPr id="52" name="Text 50"/>
          <p:cNvSpPr txBox="1"/>
          <p:nvPr/>
        </p:nvSpPr>
        <p:spPr>
          <a:xfrm>
            <a:off x="9372600" y="3886200"/>
            <a:ext cx="1424432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F243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요금제 자세히 보기</a:t>
            </a:r>
            <a:endParaRPr lang="en-US" sz="1000" dirty="0"/>
          </a:p>
        </p:txBody>
      </p:sp>
      <p:sp>
        <p:nvSpPr>
          <p:cNvPr id="53" name="Text 51"/>
          <p:cNvSpPr txBox="1"/>
          <p:nvPr/>
        </p:nvSpPr>
        <p:spPr>
          <a:xfrm>
            <a:off x="6492240" y="434340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브랜드 칩</a:t>
            </a:r>
            <a:endParaRPr lang="en-US" sz="950" dirty="0"/>
          </a:p>
        </p:txBody>
      </p:sp>
      <p:sp>
        <p:nvSpPr>
          <p:cNvPr id="54" name="Text 52"/>
          <p:cNvSpPr txBox="1"/>
          <p:nvPr/>
        </p:nvSpPr>
        <p:spPr>
          <a:xfrm>
            <a:off x="7863840" y="4361688"/>
            <a:ext cx="637032" cy="274320"/>
          </a:xfrm>
          <a:prstGeom prst="roundRect">
            <a:avLst>
              <a:gd name="adj" fmla="val 50000"/>
            </a:avLst>
          </a:prstGeom>
          <a:solidFill>
            <a:srgbClr val="FFE9E5"/>
          </a:solidFill>
          <a:ln w="9525">
            <a:solidFill>
              <a:srgbClr val="FFE9E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마블링</a:t>
            </a:r>
            <a:endParaRPr lang="en-US" sz="1000" dirty="0"/>
          </a:p>
        </p:txBody>
      </p:sp>
      <p:sp>
        <p:nvSpPr>
          <p:cNvPr id="55" name="Text 53"/>
          <p:cNvSpPr txBox="1"/>
          <p:nvPr/>
        </p:nvSpPr>
        <p:spPr>
          <a:xfrm>
            <a:off x="8574024" y="4361688"/>
            <a:ext cx="891032" cy="274320"/>
          </a:xfrm>
          <a:prstGeom prst="roundRect">
            <a:avLst>
              <a:gd name="adj" fmla="val 50000"/>
            </a:avLst>
          </a:prstGeom>
          <a:solidFill>
            <a:srgbClr val="E6F0FF"/>
          </a:solidFill>
          <a:ln w="9525">
            <a:solidFill>
              <a:srgbClr val="E6F0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158C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토리모바일</a:t>
            </a:r>
            <a:endParaRPr lang="en-US" sz="1000" dirty="0"/>
          </a:p>
        </p:txBody>
      </p:sp>
      <p:sp>
        <p:nvSpPr>
          <p:cNvPr id="56" name="Text 54"/>
          <p:cNvSpPr txBox="1"/>
          <p:nvPr/>
        </p:nvSpPr>
        <p:spPr>
          <a:xfrm>
            <a:off x="9538208" y="4361688"/>
            <a:ext cx="764032" cy="274320"/>
          </a:xfrm>
          <a:prstGeom prst="roundRect">
            <a:avLst>
              <a:gd name="adj" fmla="val 50000"/>
            </a:avLst>
          </a:prstGeom>
          <a:solidFill>
            <a:srgbClr val="E9F8EE"/>
          </a:solidFill>
          <a:ln w="9525">
            <a:solidFill>
              <a:srgbClr val="E9F8E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9E5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위너스텔</a:t>
            </a:r>
            <a:endParaRPr lang="en-US" sz="1000" dirty="0"/>
          </a:p>
        </p:txBody>
      </p:sp>
      <p:sp>
        <p:nvSpPr>
          <p:cNvPr id="57" name="Text 55"/>
          <p:cNvSpPr txBox="1"/>
          <p:nvPr/>
        </p:nvSpPr>
        <p:spPr>
          <a:xfrm>
            <a:off x="10375392" y="4361688"/>
            <a:ext cx="891032" cy="274320"/>
          </a:xfrm>
          <a:prstGeom prst="roundRect">
            <a:avLst>
              <a:gd name="adj" fmla="val 50000"/>
            </a:avLst>
          </a:prstGeom>
          <a:solidFill>
            <a:srgbClr val="FFE4EC"/>
          </a:solidFill>
          <a:ln w="9525">
            <a:solidFill>
              <a:srgbClr val="FFE4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6336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슈가모바일</a:t>
            </a:r>
            <a:endParaRPr lang="en-US" sz="1000" dirty="0"/>
          </a:p>
        </p:txBody>
      </p:sp>
      <p:sp>
        <p:nvSpPr>
          <p:cNvPr id="58" name="Text 56"/>
          <p:cNvSpPr txBox="1"/>
          <p:nvPr/>
        </p:nvSpPr>
        <p:spPr>
          <a:xfrm>
            <a:off x="6492240" y="480060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배지 · 태그</a:t>
            </a:r>
            <a:endParaRPr lang="en-US" sz="950" dirty="0"/>
          </a:p>
        </p:txBody>
      </p:sp>
      <p:sp>
        <p:nvSpPr>
          <p:cNvPr id="59" name="Text 57"/>
          <p:cNvSpPr txBox="1"/>
          <p:nvPr/>
        </p:nvSpPr>
        <p:spPr>
          <a:xfrm>
            <a:off x="7863840" y="4818888"/>
            <a:ext cx="883412" cy="274320"/>
          </a:xfrm>
          <a:prstGeom prst="roundRect">
            <a:avLst>
              <a:gd name="adj" fmla="val 50000"/>
            </a:avLst>
          </a:prstGeom>
          <a:solidFill>
            <a:srgbClr val="FFB020"/>
          </a:solidFill>
          <a:ln w="9525">
            <a:solidFill>
              <a:srgbClr val="FFB02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2A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이달의 1위</a:t>
            </a:r>
            <a:endParaRPr lang="en-US" sz="950" dirty="0"/>
          </a:p>
        </p:txBody>
      </p:sp>
      <p:sp>
        <p:nvSpPr>
          <p:cNvPr id="60" name="Text 58"/>
          <p:cNvSpPr txBox="1"/>
          <p:nvPr/>
        </p:nvSpPr>
        <p:spPr>
          <a:xfrm>
            <a:off x="8823960" y="4818888"/>
            <a:ext cx="640080" cy="274320"/>
          </a:xfrm>
          <a:prstGeom prst="roundRect">
            <a:avLst>
              <a:gd name="adj" fmla="val 20000"/>
            </a:avLst>
          </a:prstGeom>
          <a:solidFill>
            <a:srgbClr val="E9E7E3"/>
          </a:solidFill>
          <a:ln>
            <a:solidFill>
              <a:srgbClr val="E9E7E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SKT망</a:t>
            </a:r>
            <a:endParaRPr lang="en-US" sz="950" dirty="0"/>
          </a:p>
        </p:txBody>
      </p:sp>
      <p:sp>
        <p:nvSpPr>
          <p:cNvPr id="61" name="Text 59"/>
          <p:cNvSpPr txBox="1"/>
          <p:nvPr/>
        </p:nvSpPr>
        <p:spPr>
          <a:xfrm>
            <a:off x="6492240" y="525780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탭 (활성/기본)</a:t>
            </a:r>
            <a:endParaRPr lang="en-US" sz="950" dirty="0"/>
          </a:p>
        </p:txBody>
      </p:sp>
      <p:sp>
        <p:nvSpPr>
          <p:cNvPr id="62" name="Text 60"/>
          <p:cNvSpPr txBox="1"/>
          <p:nvPr/>
        </p:nvSpPr>
        <p:spPr>
          <a:xfrm>
            <a:off x="7863840" y="5276088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1F2430"/>
          </a:solidFill>
          <a:ln w="9525">
            <a:solidFill>
              <a:srgbClr val="1F243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</a:t>
            </a:r>
            <a:endParaRPr lang="en-US" sz="1000" dirty="0"/>
          </a:p>
        </p:txBody>
      </p:sp>
      <p:sp>
        <p:nvSpPr>
          <p:cNvPr id="63" name="Text 61"/>
          <p:cNvSpPr txBox="1"/>
          <p:nvPr/>
        </p:nvSpPr>
        <p:spPr>
          <a:xfrm>
            <a:off x="8668512" y="5276088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9E7E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마블링</a:t>
            </a:r>
            <a:endParaRPr lang="en-US" sz="1000" dirty="0"/>
          </a:p>
        </p:txBody>
      </p:sp>
      <p:sp>
        <p:nvSpPr>
          <p:cNvPr id="64" name="Text 62"/>
          <p:cNvSpPr txBox="1"/>
          <p:nvPr/>
        </p:nvSpPr>
        <p:spPr>
          <a:xfrm>
            <a:off x="6492240" y="571500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</a:t>
            </a:r>
            <a:endParaRPr lang="en-US" sz="950" dirty="0"/>
          </a:p>
        </p:txBody>
      </p:sp>
      <p:sp>
        <p:nvSpPr>
          <p:cNvPr id="65" name="Shape 63"/>
          <p:cNvSpPr/>
          <p:nvPr/>
        </p:nvSpPr>
        <p:spPr>
          <a:xfrm>
            <a:off x="7863840" y="5669280"/>
            <a:ext cx="1371600" cy="41148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  <a:effectLst>
            <a:outerShdw sx="100000" sy="100000" kx="0" ky="0" algn="bl" rotWithShape="0" blurRad="127000" dist="38100" dir="5400000">
              <a:srgbClr val="1F2430">
                <a:alpha val="14000"/>
              </a:srgbClr>
            </a:outerShdw>
          </a:effectLst>
        </p:spPr>
      </p:sp>
      <p:sp>
        <p:nvSpPr>
          <p:cNvPr id="66" name="Text 64"/>
          <p:cNvSpPr txBox="1"/>
          <p:nvPr/>
        </p:nvSpPr>
        <p:spPr>
          <a:xfrm>
            <a:off x="9326880" y="56692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radius 14–16 · hover 시 상승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5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 메인 페이지 · Hero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요금 계산기 — 조건에 맞는 최저가 요금제를 바로 찾기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070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사용량과 통신망을 고르면 요금제 데이터에서 최저가 요금제를 조회합니다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9052560" y="6473952"/>
            <a:ext cx="2587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im010 홈페이지 기획서   7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5212080" cy="4434840"/>
          </a:xfrm>
          <a:prstGeom prst="roundRect">
            <a:avLst>
              <a:gd name="adj" fmla="val 3711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  <a:effectLst>
            <a:outerShdw sx="100000" sy="100000" kx="0" ky="0" algn="bl" rotWithShape="0" blurRad="127000" dist="38100" dir="5400000">
              <a:srgbClr val="1F2430">
                <a:alpha val="14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822960" y="20116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 데이터 사용량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4114800" y="1984248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11GB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22960" y="2487168"/>
            <a:ext cx="4663440" cy="73152"/>
          </a:xfrm>
          <a:prstGeom prst="roundRect">
            <a:avLst>
              <a:gd name="adj" fmla="val 50000"/>
            </a:avLst>
          </a:prstGeom>
          <a:solidFill>
            <a:srgbClr val="E9E7E3"/>
          </a:solidFill>
          <a:ln w="9525">
            <a:solidFill>
              <a:srgbClr val="E9E7E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2487168"/>
            <a:ext cx="3291840" cy="73152"/>
          </a:xfrm>
          <a:prstGeom prst="roundRect">
            <a:avLst>
              <a:gd name="adj" fmla="val 50000"/>
            </a:avLst>
          </a:prstGeom>
          <a:solidFill>
            <a:srgbClr val="FA5A47"/>
          </a:solidFill>
          <a:ln w="9525">
            <a:solidFill>
              <a:srgbClr val="FA5A4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986784" y="2386584"/>
            <a:ext cx="274320" cy="274320"/>
          </a:xfrm>
          <a:prstGeom prst="ellipse">
            <a:avLst/>
          </a:prstGeom>
          <a:solidFill>
            <a:srgbClr val="FA5A47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" y="26974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1GB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3026664" y="26974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7GB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0" y="26974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무제한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3063240"/>
            <a:ext cx="1463040" cy="411480"/>
          </a:xfrm>
          <a:prstGeom prst="roundRect">
            <a:avLst>
              <a:gd name="adj" fmla="val 22222"/>
            </a:avLst>
          </a:prstGeom>
          <a:solidFill>
            <a:srgbClr val="FFF1EE"/>
          </a:solidFill>
          <a:ln w="15875">
            <a:solidFill>
              <a:srgbClr val="FA5A4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SKT망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2423160" y="3063240"/>
            <a:ext cx="1463040" cy="411480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15875">
            <a:solidFill>
              <a:srgbClr val="E9E7E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KT망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4023360" y="3063240"/>
            <a:ext cx="1463040" cy="411480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15875">
            <a:solidFill>
              <a:srgbClr val="E9E7E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LGU+망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22960" y="3657600"/>
            <a:ext cx="4663440" cy="1417320"/>
          </a:xfrm>
          <a:prstGeom prst="roundRect">
            <a:avLst>
              <a:gd name="adj" fmla="val 9032"/>
            </a:avLst>
          </a:prstGeom>
          <a:solidFill>
            <a:srgbClr val="1F2430"/>
          </a:solidFill>
          <a:ln w="9525">
            <a:solidFill>
              <a:srgbClr val="1F243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05840" y="382219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ADE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im010 최저가 요금제 · SKT망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1005840" y="41605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ADE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 </a:t>
            </a:r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16,500</a:t>
            </a:r>
            <a:pPr indent="0" marL="0">
              <a:buNone/>
            </a:pPr>
            <a:r>
              <a:rPr lang="en-US" sz="1300" dirty="0">
                <a:solidFill>
                  <a:srgbClr val="DADE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429000" y="3794760"/>
            <a:ext cx="1874520" cy="1143000"/>
          </a:xfrm>
          <a:prstGeom prst="roundRect">
            <a:avLst>
              <a:gd name="adj" fmla="val 8000"/>
            </a:avLst>
          </a:prstGeom>
          <a:solidFill>
            <a:srgbClr val="2C3345"/>
          </a:solidFill>
          <a:ln w="9525">
            <a:solidFill>
              <a:srgbClr val="4A526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566160" y="3904488"/>
            <a:ext cx="598932" cy="237744"/>
          </a:xfrm>
          <a:prstGeom prst="roundRect">
            <a:avLst>
              <a:gd name="adj" fmla="val 50000"/>
            </a:avLst>
          </a:prstGeom>
          <a:solidFill>
            <a:srgbClr val="FFE9E5"/>
          </a:solidFill>
          <a:ln w="9525">
            <a:solidFill>
              <a:srgbClr val="FFE9E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마블링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3566160" y="420624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11GB +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매일 2GB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3566160" y="4636008"/>
            <a:ext cx="1691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FFB0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요금제 보기 →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822960" y="523036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통신 3사 평균(월 43,900원) 대비 월 27,400원 · 62% 절약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822960" y="557784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2026.10.01 기준 제휴사 공시 요금. 3사 평균은 동일 데이터 구간 요금제 평균(예시)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6172200" y="1783080"/>
            <a:ext cx="502920" cy="502920"/>
          </a:xfrm>
          <a:prstGeom prst="ellipse">
            <a:avLst/>
          </a:prstGeom>
          <a:solidFill>
            <a:srgbClr val="FA5A47"/>
          </a:solidFill>
          <a:ln>
            <a:solidFill>
              <a:srgbClr val="FA5A4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6858000" y="1764792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6858000" y="2084832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8단계(1·2·3·5·7·11·30GB·무제한)와 통신망(SKT·KT·LGU+) 선택. 기본값은 11GB · SKT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6172200" y="2770632"/>
            <a:ext cx="502920" cy="502920"/>
          </a:xfrm>
          <a:prstGeom prst="ellipse">
            <a:avLst/>
          </a:prstGeom>
          <a:solidFill>
            <a:srgbClr val="FA5A47"/>
          </a:solidFill>
          <a:ln>
            <a:solidFill>
              <a:srgbClr val="FA5A4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6858000" y="2752344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6858000" y="3072384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요금제 데이터에서 "선택한 망 + 기본 제공량 ≥ 선택 데이터"를 만족하는 최저가 요금제</a:t>
            </a:r>
            <a:endParaRPr lang="en-US" sz="1150" dirty="0"/>
          </a:p>
        </p:txBody>
      </p:sp>
      <p:sp>
        <p:nvSpPr>
          <p:cNvPr id="33" name="Text 31"/>
          <p:cNvSpPr txBox="1"/>
          <p:nvPr/>
        </p:nvSpPr>
        <p:spPr>
          <a:xfrm>
            <a:off x="6172200" y="3758184"/>
            <a:ext cx="502920" cy="502920"/>
          </a:xfrm>
          <a:prstGeom prst="ellipse">
            <a:avLst/>
          </a:prstGeom>
          <a:solidFill>
            <a:srgbClr val="FA5A47"/>
          </a:solidFill>
          <a:ln>
            <a:solidFill>
              <a:srgbClr val="FA5A4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6858000" y="3739896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표시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6858000" y="4059936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브랜드 · 요금제명 · 월 요금, "요금제 보기 →"로 제휴사 요금제 페이지(새 창)</a:t>
            </a:r>
            <a:endParaRPr lang="en-US" sz="1150" dirty="0"/>
          </a:p>
        </p:txBody>
      </p:sp>
      <p:sp>
        <p:nvSpPr>
          <p:cNvPr id="36" name="Text 34"/>
          <p:cNvSpPr txBox="1"/>
          <p:nvPr/>
        </p:nvSpPr>
        <p:spPr>
          <a:xfrm>
            <a:off x="6172200" y="4745736"/>
            <a:ext cx="502920" cy="502920"/>
          </a:xfrm>
          <a:prstGeom prst="ellipse">
            <a:avLst/>
          </a:prstGeom>
          <a:solidFill>
            <a:srgbClr val="FA5A47"/>
          </a:solidFill>
          <a:ln>
            <a:solidFill>
              <a:srgbClr val="FA5A4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6858000" y="4727448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절약 계산</a:t>
            </a:r>
            <a:endParaRPr lang="en-US" sz="1500" dirty="0"/>
          </a:p>
        </p:txBody>
      </p:sp>
      <p:sp>
        <p:nvSpPr>
          <p:cNvPr id="38" name="Text 36"/>
          <p:cNvSpPr txBox="1"/>
          <p:nvPr/>
        </p:nvSpPr>
        <p:spPr>
          <a:xfrm>
            <a:off x="6858000" y="5047488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절약액 = 3사 평균 − 결과 요금, 절약률 = 1 − 결과 ÷ 3사 평균 → 망마다 달라짐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6172200" y="5760720"/>
            <a:ext cx="5440680" cy="502920"/>
          </a:xfrm>
          <a:prstGeom prst="roundRect">
            <a:avLst>
              <a:gd name="adj" fmla="val 21818"/>
            </a:avLst>
          </a:prstGeom>
          <a:solidFill>
            <a:srgbClr val="F4F5F7"/>
          </a:solidFill>
          <a:ln w="9525">
            <a:solidFill>
              <a:srgbClr val="F4F5F7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373368" y="576072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처음 화면 값 = 기본 상태 → 페이지를 열 때 숫자가 바뀌지 않음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5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 메인 페이지 · Hero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· 통신망별 계산 결과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070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요금제 예시 데이터 기준 (2026.10.01) · 괄호는 3사 평균 대비 절약률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9052560" y="6473952"/>
            <a:ext cx="2587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im010 홈페이지 기획서   8</a:t>
            </a:r>
            <a:endParaRPr lang="en-US" sz="9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795528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1051560"/>
                <a:gridCol w="2011680"/>
                <a:gridCol w="2011680"/>
                <a:gridCol w="201168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데이터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3사 평균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SKT망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KT망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LGU+망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1GB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33,000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조이M 12,900 (61%)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토리모바일 9,900 (70%)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인스모바일 8,900 (73%)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2GB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33,000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조이M 12,900 (61%)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토리모바일 9,900 (70%)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인스모바일 8,900 (73%)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3GB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36,000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조이M 12,900 (64%)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토리모바일 9,900 (73%)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9432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인스모바일 8,900 (75%)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E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5GB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39,000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조이M 12,900 (67%)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9432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토리모바일 9,900 (75%)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인스모바일 13,200 (66%)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7GB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42,000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마블링 16,500 (61%)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슈가모바일 15,400 (63%)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인스모바일 13,200 (69%)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11GB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43,900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마블링 16,500 (62%)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슈가모바일 15,400 (65%)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인스모바일 13,200 (70%)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30GB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55,000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시월모바일 17,900 (67%)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슈가모바일 15,400 (72%)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위너스텔 23,000 (58%)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무제한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69,000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마블링 26,400 (62%)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조이M 24,900 (64%)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위너스텔 23,000 (67%)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8869680" y="1783080"/>
            <a:ext cx="2743200" cy="2240280"/>
          </a:xfrm>
          <a:prstGeom prst="roundRect">
            <a:avLst>
              <a:gd name="adj" fmla="val 4898"/>
            </a:avLst>
          </a:prstGeom>
          <a:solidFill>
            <a:srgbClr val="1F2430"/>
          </a:solidFill>
          <a:ln w="9525">
            <a:solidFill>
              <a:srgbClr val="1F243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9098280" y="19659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6CB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절감률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9098280" y="224028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FA5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75%</a:t>
            </a:r>
            <a:endParaRPr lang="en-US" sz="5400" dirty="0"/>
          </a:p>
        </p:txBody>
      </p:sp>
      <p:sp>
        <p:nvSpPr>
          <p:cNvPr id="10" name="Text 7"/>
          <p:cNvSpPr txBox="1"/>
          <p:nvPr/>
        </p:nvSpPr>
        <p:spPr>
          <a:xfrm>
            <a:off x="9098280" y="32004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KT망 5GB · LGU+망 3GB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 지표 "최대 N%"에 자동 반영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8869680" y="4206240"/>
            <a:ext cx="2743200" cy="1325880"/>
          </a:xfrm>
          <a:prstGeom prst="roundRect">
            <a:avLst>
              <a:gd name="adj" fmla="val 8276"/>
            </a:avLst>
          </a:prstGeom>
          <a:solidFill>
            <a:srgbClr val="FFF1EE"/>
          </a:solidFill>
          <a:ln w="9525">
            <a:solidFill>
              <a:srgbClr val="FFF1EE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9098280" y="437083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 27,400원</a:t>
            </a:r>
            <a:endParaRPr lang="en-US" sz="2400" dirty="0"/>
          </a:p>
        </p:txBody>
      </p:sp>
      <p:sp>
        <p:nvSpPr>
          <p:cNvPr id="13" name="Text 10"/>
          <p:cNvSpPr txBox="1"/>
          <p:nvPr/>
        </p:nvSpPr>
        <p:spPr>
          <a:xfrm>
            <a:off x="9098280" y="4873752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상태(11GB · SKT망) 절약액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 43,900 − 16,500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61722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계산기 결과를 위해 예시 요금제 3종 추가: 토리모바일 5GB · 인스모바일 15GB · 마블링 무제한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5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 메인 페이지 · 요금제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이달의 요금제와 제휴사별 요금제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070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큐레이션 7개는 가로 스크롤로, 전체 12개는 브랜드 탭으로 걸러서 보여줍니다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9052560" y="6473952"/>
            <a:ext cx="2587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im010 홈페이지 기획서   9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73736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이달의 요금제비교  #month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126480" y="17556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가로 스크롤 + 스냅 · "N월"은 현재 월로 자동 표기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48640" y="2148840"/>
            <a:ext cx="210312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  <a:effectLst>
            <a:outerShdw sx="100000" sy="100000" kx="0" ky="0" algn="bl" rotWithShape="0" blurRad="127000" dist="38100" dir="5400000">
              <a:srgbClr val="1F2430">
                <a:alpha val="14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685800" y="2286000"/>
            <a:ext cx="598932" cy="237744"/>
          </a:xfrm>
          <a:prstGeom prst="roundRect">
            <a:avLst>
              <a:gd name="adj" fmla="val 50000"/>
            </a:avLst>
          </a:prstGeom>
          <a:solidFill>
            <a:srgbClr val="FFE9E5"/>
          </a:solidFill>
          <a:ln w="9525">
            <a:solidFill>
              <a:srgbClr val="FFE9E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마블링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1724660" y="2286000"/>
            <a:ext cx="817372" cy="237744"/>
          </a:xfrm>
          <a:prstGeom prst="roundRect">
            <a:avLst>
              <a:gd name="adj" fmla="val 50000"/>
            </a:avLst>
          </a:prstGeom>
          <a:solidFill>
            <a:srgbClr val="FFB020"/>
          </a:solidFill>
          <a:ln w="9525">
            <a:solidFill>
              <a:srgbClr val="FFB02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A2A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이달의 1위</a:t>
            </a:r>
            <a:endParaRPr lang="en-US" sz="85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263347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11GB + 매일 2GB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89864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16,500</a:t>
            </a:r>
            <a:pPr indent="0" marL="0">
              <a:buNone/>
            </a:pPr>
            <a:r>
              <a:rPr lang="en-US" sz="95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원/월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327355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요금제 자세히 보기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2788920" y="2148840"/>
            <a:ext cx="210312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  <a:effectLst>
            <a:outerShdw sx="100000" sy="100000" kx="0" ky="0" algn="bl" rotWithShape="0" blurRad="127000" dist="38100" dir="5400000">
              <a:srgbClr val="1F2430">
                <a:alpha val="14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2926080" y="2286000"/>
            <a:ext cx="827532" cy="237744"/>
          </a:xfrm>
          <a:prstGeom prst="roundRect">
            <a:avLst>
              <a:gd name="adj" fmla="val 50000"/>
            </a:avLst>
          </a:prstGeom>
          <a:solidFill>
            <a:srgbClr val="E6F0FF"/>
          </a:solidFill>
          <a:ln w="9525">
            <a:solidFill>
              <a:srgbClr val="E6F0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158C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토리모바일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2926080" y="263347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100GB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2926080" y="289864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19,800</a:t>
            </a:r>
            <a:pPr indent="0" marL="0">
              <a:buNone/>
            </a:pPr>
            <a:r>
              <a:rPr lang="en-US" sz="95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원/월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2926080" y="327355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요금제 자세히 보기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029200" y="2148840"/>
            <a:ext cx="210312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  <a:effectLst>
            <a:outerShdw sx="100000" sy="100000" kx="0" ky="0" algn="bl" rotWithShape="0" blurRad="127000" dist="38100" dir="5400000">
              <a:srgbClr val="1F2430">
                <a:alpha val="14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5166360" y="2286000"/>
            <a:ext cx="713232" cy="237744"/>
          </a:xfrm>
          <a:prstGeom prst="roundRect">
            <a:avLst>
              <a:gd name="adj" fmla="val 50000"/>
            </a:avLst>
          </a:prstGeom>
          <a:solidFill>
            <a:srgbClr val="E9F8EE"/>
          </a:solidFill>
          <a:ln w="9525">
            <a:solidFill>
              <a:srgbClr val="E9F8E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9E5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위너스텔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6269990" y="2286000"/>
            <a:ext cx="752602" cy="237744"/>
          </a:xfrm>
          <a:prstGeom prst="roundRect">
            <a:avLst>
              <a:gd name="adj" fmla="val 50000"/>
            </a:avLst>
          </a:prstGeom>
          <a:solidFill>
            <a:srgbClr val="FFB020"/>
          </a:solidFill>
          <a:ln w="9525">
            <a:solidFill>
              <a:srgbClr val="FFB02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A2A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출시</a:t>
            </a:r>
            <a:endParaRPr lang="en-US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5166360" y="263347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무제한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5166360" y="289864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23,000</a:t>
            </a:r>
            <a:pPr indent="0" marL="0">
              <a:buNone/>
            </a:pPr>
            <a:r>
              <a:rPr lang="en-US" sz="95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원/월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5166360" y="327355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요금제 자세히 보기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7269480" y="2148840"/>
            <a:ext cx="210312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  <a:effectLst>
            <a:outerShdw sx="100000" sy="100000" kx="0" ky="0" algn="bl" rotWithShape="0" blurRad="127000" dist="38100" dir="5400000">
              <a:srgbClr val="1F2430">
                <a:alpha val="14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7406640" y="2286000"/>
            <a:ext cx="827532" cy="237744"/>
          </a:xfrm>
          <a:prstGeom prst="roundRect">
            <a:avLst>
              <a:gd name="adj" fmla="val 50000"/>
            </a:avLst>
          </a:prstGeom>
          <a:solidFill>
            <a:srgbClr val="FFE4EC"/>
          </a:solidFill>
          <a:ln w="9525">
            <a:solidFill>
              <a:srgbClr val="FFE4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6336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슈가모바일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7406640" y="263347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30GB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7406640" y="289864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15,400</a:t>
            </a:r>
            <a:pPr indent="0" marL="0">
              <a:buNone/>
            </a:pPr>
            <a:r>
              <a:rPr lang="en-US" sz="95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원/월</a:t>
            </a:r>
            <a:endParaRPr lang="en-US" sz="1800" dirty="0"/>
          </a:p>
        </p:txBody>
      </p:sp>
      <p:sp>
        <p:nvSpPr>
          <p:cNvPr id="29" name="Text 27"/>
          <p:cNvSpPr txBox="1"/>
          <p:nvPr/>
        </p:nvSpPr>
        <p:spPr>
          <a:xfrm>
            <a:off x="7406640" y="327355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요금제 자세히 보기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9509760" y="2148840"/>
            <a:ext cx="210312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  <a:effectLst>
            <a:outerShdw sx="100000" sy="100000" kx="0" ky="0" algn="bl" rotWithShape="0" blurRad="127000" dist="38100" dir="5400000">
              <a:srgbClr val="1F2430">
                <a:alpha val="14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9646920" y="2286000"/>
            <a:ext cx="827532" cy="237744"/>
          </a:xfrm>
          <a:prstGeom prst="roundRect">
            <a:avLst>
              <a:gd name="adj" fmla="val 50000"/>
            </a:avLst>
          </a:prstGeom>
          <a:solidFill>
            <a:srgbClr val="FFF3D6"/>
          </a:solidFill>
          <a:ln w="9525">
            <a:solidFill>
              <a:srgbClr val="FFF3D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379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인스모바일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9646920" y="263347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3GB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9646920" y="289864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8,900</a:t>
            </a:r>
            <a:pPr indent="0" marL="0">
              <a:buNone/>
            </a:pPr>
            <a:r>
              <a:rPr lang="en-US" sz="95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원/월</a:t>
            </a:r>
            <a:endParaRPr lang="en-US" sz="1800" dirty="0"/>
          </a:p>
        </p:txBody>
      </p:sp>
      <p:sp>
        <p:nvSpPr>
          <p:cNvPr id="34" name="Text 32"/>
          <p:cNvSpPr txBox="1"/>
          <p:nvPr/>
        </p:nvSpPr>
        <p:spPr>
          <a:xfrm>
            <a:off x="9646920" y="327355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요금제 자세히 보기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548640" y="3794760"/>
            <a:ext cx="11064240" cy="2468880"/>
          </a:xfrm>
          <a:prstGeom prst="roundRect">
            <a:avLst>
              <a:gd name="adj" fmla="val 5926"/>
            </a:avLst>
          </a:prstGeom>
          <a:solidFill>
            <a:srgbClr val="FFF1EE"/>
          </a:solidFill>
          <a:ln w="9525">
            <a:solidFill>
              <a:srgbClr val="FFF1EE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777240" y="393192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제휴사별 요금제  #partners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777240" y="4315968"/>
            <a:ext cx="497332" cy="274320"/>
          </a:xfrm>
          <a:prstGeom prst="roundRect">
            <a:avLst>
              <a:gd name="adj" fmla="val 50000"/>
            </a:avLst>
          </a:prstGeom>
          <a:solidFill>
            <a:srgbClr val="1F2430"/>
          </a:solidFill>
          <a:ln w="9525">
            <a:solidFill>
              <a:srgbClr val="1F243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</a:t>
            </a:r>
            <a:endParaRPr lang="en-US" sz="950" dirty="0"/>
          </a:p>
        </p:txBody>
      </p:sp>
      <p:sp>
        <p:nvSpPr>
          <p:cNvPr id="38" name="Text 36"/>
          <p:cNvSpPr txBox="1"/>
          <p:nvPr/>
        </p:nvSpPr>
        <p:spPr>
          <a:xfrm>
            <a:off x="1347724" y="4315968"/>
            <a:ext cx="61798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마블링</a:t>
            </a:r>
            <a:endParaRPr lang="en-US" sz="950" dirty="0"/>
          </a:p>
        </p:txBody>
      </p:sp>
      <p:sp>
        <p:nvSpPr>
          <p:cNvPr id="39" name="Text 37"/>
          <p:cNvSpPr txBox="1"/>
          <p:nvPr/>
        </p:nvSpPr>
        <p:spPr>
          <a:xfrm>
            <a:off x="2038858" y="4315968"/>
            <a:ext cx="85928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토리모바일</a:t>
            </a:r>
            <a:endParaRPr lang="en-US" sz="950" dirty="0"/>
          </a:p>
        </p:txBody>
      </p:sp>
      <p:sp>
        <p:nvSpPr>
          <p:cNvPr id="40" name="Text 38"/>
          <p:cNvSpPr txBox="1"/>
          <p:nvPr/>
        </p:nvSpPr>
        <p:spPr>
          <a:xfrm>
            <a:off x="2971292" y="4315968"/>
            <a:ext cx="73863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위너스텔</a:t>
            </a:r>
            <a:endParaRPr lang="en-US" sz="950" dirty="0"/>
          </a:p>
        </p:txBody>
      </p:sp>
      <p:sp>
        <p:nvSpPr>
          <p:cNvPr id="41" name="Text 39"/>
          <p:cNvSpPr txBox="1"/>
          <p:nvPr/>
        </p:nvSpPr>
        <p:spPr>
          <a:xfrm>
            <a:off x="3783076" y="4315968"/>
            <a:ext cx="85928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슈가모바일</a:t>
            </a:r>
            <a:endParaRPr lang="en-US" sz="950" dirty="0"/>
          </a:p>
        </p:txBody>
      </p:sp>
      <p:sp>
        <p:nvSpPr>
          <p:cNvPr id="42" name="Text 40"/>
          <p:cNvSpPr txBox="1"/>
          <p:nvPr/>
        </p:nvSpPr>
        <p:spPr>
          <a:xfrm>
            <a:off x="4715510" y="4315968"/>
            <a:ext cx="85928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인스모바일</a:t>
            </a:r>
            <a:endParaRPr lang="en-US" sz="950" dirty="0"/>
          </a:p>
        </p:txBody>
      </p:sp>
      <p:sp>
        <p:nvSpPr>
          <p:cNvPr id="43" name="Text 41"/>
          <p:cNvSpPr txBox="1"/>
          <p:nvPr/>
        </p:nvSpPr>
        <p:spPr>
          <a:xfrm>
            <a:off x="5647944" y="4315968"/>
            <a:ext cx="56972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조이M</a:t>
            </a:r>
            <a:endParaRPr lang="en-US" sz="950" dirty="0"/>
          </a:p>
        </p:txBody>
      </p:sp>
      <p:sp>
        <p:nvSpPr>
          <p:cNvPr id="44" name="Text 42"/>
          <p:cNvSpPr txBox="1"/>
          <p:nvPr/>
        </p:nvSpPr>
        <p:spPr>
          <a:xfrm>
            <a:off x="6290818" y="4315968"/>
            <a:ext cx="85928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시월모바일</a:t>
            </a:r>
            <a:endParaRPr lang="en-US" sz="950" dirty="0"/>
          </a:p>
        </p:txBody>
      </p:sp>
      <p:sp>
        <p:nvSpPr>
          <p:cNvPr id="45" name="Text 43"/>
          <p:cNvSpPr txBox="1"/>
          <p:nvPr/>
        </p:nvSpPr>
        <p:spPr>
          <a:xfrm>
            <a:off x="777240" y="468172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요금제 </a:t>
            </a:r>
            <a:pPr indent="0" marL="0">
              <a:buNone/>
            </a:pPr>
            <a:r>
              <a:rPr lang="en-US" sz="100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pPr indent="0" marL="0">
              <a:buNone/>
            </a:pPr>
            <a:r>
              <a:rPr lang="en-US" sz="10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 · 낮은 가격순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777240" y="4983480"/>
            <a:ext cx="1664208" cy="1115568"/>
          </a:xfrm>
          <a:prstGeom prst="roundRect">
            <a:avLst>
              <a:gd name="adj" fmla="val 9836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886968" y="5074920"/>
            <a:ext cx="687832" cy="219456"/>
          </a:xfrm>
          <a:prstGeom prst="roundRect">
            <a:avLst>
              <a:gd name="adj" fmla="val 50000"/>
            </a:avLst>
          </a:prstGeom>
          <a:solidFill>
            <a:srgbClr val="E9F8EE"/>
          </a:solidFill>
          <a:ln w="9525">
            <a:solidFill>
              <a:srgbClr val="E9F8E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E9E5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위너스텔</a:t>
            </a:r>
            <a:endParaRPr lang="en-US" sz="850" dirty="0"/>
          </a:p>
        </p:txBody>
      </p:sp>
      <p:sp>
        <p:nvSpPr>
          <p:cNvPr id="48" name="Text 46"/>
          <p:cNvSpPr txBox="1"/>
          <p:nvPr/>
        </p:nvSpPr>
        <p:spPr>
          <a:xfrm>
            <a:off x="886968" y="5358384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200MB</a:t>
            </a:r>
            <a:endParaRPr lang="en-US" sz="900" dirty="0"/>
          </a:p>
        </p:txBody>
      </p:sp>
      <p:sp>
        <p:nvSpPr>
          <p:cNvPr id="49" name="Text 47"/>
          <p:cNvSpPr txBox="1"/>
          <p:nvPr/>
        </p:nvSpPr>
        <p:spPr>
          <a:xfrm>
            <a:off x="886968" y="5559552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4,900원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886968" y="5852160"/>
            <a:ext cx="1508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LGU+ · LTE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2560320" y="4983480"/>
            <a:ext cx="1664208" cy="1115568"/>
          </a:xfrm>
          <a:prstGeom prst="roundRect">
            <a:avLst>
              <a:gd name="adj" fmla="val 9836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2670048" y="5074920"/>
            <a:ext cx="795782" cy="219456"/>
          </a:xfrm>
          <a:prstGeom prst="roundRect">
            <a:avLst>
              <a:gd name="adj" fmla="val 50000"/>
            </a:avLst>
          </a:prstGeom>
          <a:solidFill>
            <a:srgbClr val="FFF3D6"/>
          </a:solidFill>
          <a:ln w="9525">
            <a:solidFill>
              <a:srgbClr val="FFF3D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B379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인스모바일</a:t>
            </a:r>
            <a:endParaRPr lang="en-US" sz="850" dirty="0"/>
          </a:p>
        </p:txBody>
      </p:sp>
      <p:sp>
        <p:nvSpPr>
          <p:cNvPr id="53" name="Text 51"/>
          <p:cNvSpPr txBox="1"/>
          <p:nvPr/>
        </p:nvSpPr>
        <p:spPr>
          <a:xfrm>
            <a:off x="2670048" y="5358384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3GB</a:t>
            </a:r>
            <a:endParaRPr lang="en-US" sz="900" dirty="0"/>
          </a:p>
        </p:txBody>
      </p:sp>
      <p:sp>
        <p:nvSpPr>
          <p:cNvPr id="54" name="Text 52"/>
          <p:cNvSpPr txBox="1"/>
          <p:nvPr/>
        </p:nvSpPr>
        <p:spPr>
          <a:xfrm>
            <a:off x="2670048" y="5559552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8,900원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2670048" y="5852160"/>
            <a:ext cx="1508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LGU+ · LTE</a:t>
            </a: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>
            <a:off x="4343400" y="4983480"/>
            <a:ext cx="1664208" cy="1115568"/>
          </a:xfrm>
          <a:prstGeom prst="roundRect">
            <a:avLst>
              <a:gd name="adj" fmla="val 9836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4453128" y="5074920"/>
            <a:ext cx="795782" cy="219456"/>
          </a:xfrm>
          <a:prstGeom prst="roundRect">
            <a:avLst>
              <a:gd name="adj" fmla="val 50000"/>
            </a:avLst>
          </a:prstGeom>
          <a:solidFill>
            <a:srgbClr val="E6F0FF"/>
          </a:solidFill>
          <a:ln w="9525">
            <a:solidFill>
              <a:srgbClr val="E6F0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158C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토리모바일</a:t>
            </a:r>
            <a:endParaRPr lang="en-US" sz="850" dirty="0"/>
          </a:p>
        </p:txBody>
      </p:sp>
      <p:sp>
        <p:nvSpPr>
          <p:cNvPr id="58" name="Text 56"/>
          <p:cNvSpPr txBox="1"/>
          <p:nvPr/>
        </p:nvSpPr>
        <p:spPr>
          <a:xfrm>
            <a:off x="4453128" y="5358384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5GB</a:t>
            </a:r>
            <a:endParaRPr lang="en-US" sz="900" dirty="0"/>
          </a:p>
        </p:txBody>
      </p:sp>
      <p:sp>
        <p:nvSpPr>
          <p:cNvPr id="59" name="Text 57"/>
          <p:cNvSpPr txBox="1"/>
          <p:nvPr/>
        </p:nvSpPr>
        <p:spPr>
          <a:xfrm>
            <a:off x="4453128" y="5559552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9,900원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4453128" y="5852160"/>
            <a:ext cx="1508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KT · LTE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6126480" y="4983480"/>
            <a:ext cx="1664208" cy="1115568"/>
          </a:xfrm>
          <a:prstGeom prst="roundRect">
            <a:avLst>
              <a:gd name="adj" fmla="val 9836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6236208" y="5074920"/>
            <a:ext cx="536702" cy="219456"/>
          </a:xfrm>
          <a:prstGeom prst="roundRect">
            <a:avLst>
              <a:gd name="adj" fmla="val 50000"/>
            </a:avLst>
          </a:prstGeom>
          <a:solidFill>
            <a:srgbClr val="F1E9FF"/>
          </a:solidFill>
          <a:ln w="9525">
            <a:solidFill>
              <a:srgbClr val="F1E9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6C39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조이M</a:t>
            </a:r>
            <a:endParaRPr lang="en-US" sz="850" dirty="0"/>
          </a:p>
        </p:txBody>
      </p:sp>
      <p:sp>
        <p:nvSpPr>
          <p:cNvPr id="63" name="Text 61"/>
          <p:cNvSpPr txBox="1"/>
          <p:nvPr/>
        </p:nvSpPr>
        <p:spPr>
          <a:xfrm>
            <a:off x="6236208" y="5358384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6GB + 매일 1GB</a:t>
            </a:r>
            <a:endParaRPr lang="en-US" sz="900" dirty="0"/>
          </a:p>
        </p:txBody>
      </p:sp>
      <p:sp>
        <p:nvSpPr>
          <p:cNvPr id="64" name="Text 62"/>
          <p:cNvSpPr txBox="1"/>
          <p:nvPr/>
        </p:nvSpPr>
        <p:spPr>
          <a:xfrm>
            <a:off x="6236208" y="5559552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12,900원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6236208" y="5852160"/>
            <a:ext cx="1508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SKT · LTE</a:t>
            </a:r>
            <a:endParaRPr lang="en-US" sz="850" dirty="0"/>
          </a:p>
        </p:txBody>
      </p:sp>
      <p:sp>
        <p:nvSpPr>
          <p:cNvPr id="66" name="Text 64"/>
          <p:cNvSpPr txBox="1"/>
          <p:nvPr/>
        </p:nvSpPr>
        <p:spPr>
          <a:xfrm>
            <a:off x="8046720" y="4709160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계산기와 같은 요금제 데이터(12개) 사용</a:t>
            </a:r>
            <a:endParaRPr lang="en-US" sz="11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탭 클릭 시 브랜드 필터 + 개수 표시</a:t>
            </a:r>
            <a:endParaRPr lang="en-US" sz="11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 요금 낮은 가격순 정렬</a:t>
            </a:r>
            <a:endParaRPr lang="en-US" sz="11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 전체 클릭 → 제휴사 페이지(새 창)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5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 메인 페이지 · 선불요금제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선불 충전 — 입력은 im010, 결제는 제휴사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070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인스모바일 · 위너스텔 · 슈가모바일 3개사 제공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9052560" y="6473952"/>
            <a:ext cx="2587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im010 홈페이지 기획서   10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3931920" cy="44805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  <a:effectLst>
            <a:outerShdw sx="100000" sy="100000" kx="0" ky="0" algn="bl" rotWithShape="0" blurRad="127000" dist="38100" dir="5400000">
              <a:srgbClr val="1F2430">
                <a:alpha val="14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77240" y="1938528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선불요금결제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331720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통신사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777240" y="2569464"/>
            <a:ext cx="3474720" cy="3657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2569464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슈가모바일   ▾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2990088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전화번호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777240" y="3227832"/>
            <a:ext cx="3474720" cy="3657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14400" y="322783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010-1234-5678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3648456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충전 금액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77240" y="3886200"/>
            <a:ext cx="3474720" cy="3657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388620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직접 입력   ▾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777240" y="4325112"/>
            <a:ext cx="3474720" cy="3657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14400" y="4325112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20000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4828032"/>
            <a:ext cx="3474720" cy="384048"/>
          </a:xfrm>
          <a:prstGeom prst="roundRect">
            <a:avLst>
              <a:gd name="adj" fmla="val 50000"/>
            </a:avLst>
          </a:prstGeom>
          <a:solidFill>
            <a:srgbClr val="FA5A47"/>
          </a:solidFill>
          <a:ln w="9525">
            <a:solidFill>
              <a:srgbClr val="FA5A4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충전하기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77240" y="5349240"/>
            <a:ext cx="3474720" cy="731520"/>
          </a:xfrm>
          <a:prstGeom prst="roundRect">
            <a:avLst>
              <a:gd name="adj" fmla="val 10000"/>
            </a:avLst>
          </a:prstGeom>
          <a:solidFill>
            <a:srgbClr val="FFF1EE"/>
          </a:solidFill>
          <a:ln w="9525">
            <a:solidFill>
              <a:srgbClr val="FFF1EE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14400" y="5413248"/>
            <a:ext cx="3291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슈가모바일 010-1234-5678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20,000원 충전  </a:t>
            </a:r>
            <a:pPr indent="0" marL="0">
              <a:buNone/>
            </a:pPr>
            <a:r>
              <a:rPr lang="en-US" sz="95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 페이지로 이동 →</a:t>
            </a:r>
            <a:endParaRPr lang="en-US" sz="9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46320" y="1783080"/>
          <a:ext cx="67665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2834640"/>
                <a:gridCol w="283464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검증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오류 문구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통신사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3개사 중 필수 선택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통신사를 선택해 주세요.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전화번호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숫자 입력 시 하이픈 자동 삽입, 010 11자리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010으로 시작하는 11자리 번호를 입력해 주세요.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충전 금액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10,000 / 30,000 / 50,000 / 직접 입력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–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직접 입력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1,000 ~ 100,000원, 1,000원 단위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1,000 ~ 100,000원 사이, 1,000원 단위로…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충전하기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통과 시 요약 + 제휴사 결제 페이지 링크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–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3" name="Shape 20"/>
          <p:cNvSpPr/>
          <p:nvPr/>
        </p:nvSpPr>
        <p:spPr>
          <a:xfrm>
            <a:off x="4846320" y="4663440"/>
            <a:ext cx="2148840" cy="914400"/>
          </a:xfrm>
          <a:prstGeom prst="roundRect">
            <a:avLst>
              <a:gd name="adj" fmla="val 12000"/>
            </a:avLst>
          </a:prstGeom>
          <a:solidFill>
            <a:srgbClr val="F4F5F7"/>
          </a:solidFill>
          <a:ln w="9525">
            <a:solidFill>
              <a:srgbClr val="F4F5F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983480" y="4754880"/>
            <a:ext cx="795782" cy="219456"/>
          </a:xfrm>
          <a:prstGeom prst="roundRect">
            <a:avLst>
              <a:gd name="adj" fmla="val 50000"/>
            </a:avLst>
          </a:prstGeom>
          <a:solidFill>
            <a:srgbClr val="FFF3D6"/>
          </a:solidFill>
          <a:ln w="9525">
            <a:solidFill>
              <a:srgbClr val="FFF3D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B379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인스모바일</a:t>
            </a:r>
            <a:endParaRPr lang="en-US" sz="850" dirty="0"/>
          </a:p>
        </p:txBody>
      </p:sp>
      <p:sp>
        <p:nvSpPr>
          <p:cNvPr id="25" name="Text 22"/>
          <p:cNvSpPr txBox="1"/>
          <p:nvPr/>
        </p:nvSpPr>
        <p:spPr>
          <a:xfrm>
            <a:off x="4983480" y="5029200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선불 1GB · 30일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4983480" y="523951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6,600원 / 충전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7132320" y="4663440"/>
            <a:ext cx="2148840" cy="914400"/>
          </a:xfrm>
          <a:prstGeom prst="roundRect">
            <a:avLst>
              <a:gd name="adj" fmla="val 12000"/>
            </a:avLst>
          </a:prstGeom>
          <a:solidFill>
            <a:srgbClr val="F4F5F7"/>
          </a:solidFill>
          <a:ln w="9525">
            <a:solidFill>
              <a:srgbClr val="F4F5F7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269480" y="4754880"/>
            <a:ext cx="687832" cy="219456"/>
          </a:xfrm>
          <a:prstGeom prst="roundRect">
            <a:avLst>
              <a:gd name="adj" fmla="val 50000"/>
            </a:avLst>
          </a:prstGeom>
          <a:solidFill>
            <a:srgbClr val="E9F8EE"/>
          </a:solidFill>
          <a:ln w="9525">
            <a:solidFill>
              <a:srgbClr val="E9F8E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E9E5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위너스텔</a:t>
            </a:r>
            <a:endParaRPr lang="en-US" sz="850" dirty="0"/>
          </a:p>
        </p:txBody>
      </p:sp>
      <p:sp>
        <p:nvSpPr>
          <p:cNvPr id="29" name="Text 26"/>
          <p:cNvSpPr txBox="1"/>
          <p:nvPr/>
        </p:nvSpPr>
        <p:spPr>
          <a:xfrm>
            <a:off x="7269480" y="5029200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선불 3GB · 30일</a:t>
            </a:r>
            <a:endParaRPr lang="en-US" sz="950" dirty="0"/>
          </a:p>
        </p:txBody>
      </p:sp>
      <p:sp>
        <p:nvSpPr>
          <p:cNvPr id="30" name="Text 27"/>
          <p:cNvSpPr txBox="1"/>
          <p:nvPr/>
        </p:nvSpPr>
        <p:spPr>
          <a:xfrm>
            <a:off x="7269480" y="523951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11,000원 / 충전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9418320" y="4663440"/>
            <a:ext cx="2148840" cy="914400"/>
          </a:xfrm>
          <a:prstGeom prst="roundRect">
            <a:avLst>
              <a:gd name="adj" fmla="val 12000"/>
            </a:avLst>
          </a:prstGeom>
          <a:solidFill>
            <a:srgbClr val="F4F5F7"/>
          </a:solidFill>
          <a:ln w="9525">
            <a:solidFill>
              <a:srgbClr val="F4F5F7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9555480" y="4754880"/>
            <a:ext cx="795782" cy="219456"/>
          </a:xfrm>
          <a:prstGeom prst="roundRect">
            <a:avLst>
              <a:gd name="adj" fmla="val 50000"/>
            </a:avLst>
          </a:prstGeom>
          <a:solidFill>
            <a:srgbClr val="FFE4EC"/>
          </a:solidFill>
          <a:ln w="9525">
            <a:solidFill>
              <a:srgbClr val="FFE4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D6336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슈가모바일</a:t>
            </a:r>
            <a:endParaRPr lang="en-US" sz="850" dirty="0"/>
          </a:p>
        </p:txBody>
      </p:sp>
      <p:sp>
        <p:nvSpPr>
          <p:cNvPr id="33" name="Text 30"/>
          <p:cNvSpPr txBox="1"/>
          <p:nvPr/>
        </p:nvSpPr>
        <p:spPr>
          <a:xfrm>
            <a:off x="9555480" y="5029200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선불 무제한 · 7일</a:t>
            </a:r>
            <a:endParaRPr lang="en-US" sz="950" dirty="0"/>
          </a:p>
        </p:txBody>
      </p:sp>
      <p:sp>
        <p:nvSpPr>
          <p:cNvPr id="34" name="Text 31"/>
          <p:cNvSpPr txBox="1"/>
          <p:nvPr/>
        </p:nvSpPr>
        <p:spPr>
          <a:xfrm>
            <a:off x="9555480" y="523951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9,900원 / 충전</a:t>
            </a:r>
            <a:endParaRPr lang="en-US" sz="1200" dirty="0"/>
          </a:p>
        </p:txBody>
      </p:sp>
      <p:sp>
        <p:nvSpPr>
          <p:cNvPr id="35" name="Text 32"/>
          <p:cNvSpPr txBox="1"/>
          <p:nvPr/>
        </p:nvSpPr>
        <p:spPr>
          <a:xfrm>
            <a:off x="4846320" y="580644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전화번호는 링크 주소(URL)에 넣지 않음 · 오류 필드는 코랄 테두리 + aria-invalid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5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 메인 페이지 · 인터넷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인터넷 상품 비교와 상담 신청 연결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070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배너 → 상품 비교 섹션 → 상담 신청(S4) 순서로 이어집니다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9052560" y="6473952"/>
            <a:ext cx="2587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im010 홈페이지 기획서   11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755648"/>
            <a:ext cx="814832" cy="292608"/>
          </a:xfrm>
          <a:prstGeom prst="roundRect">
            <a:avLst>
              <a:gd name="adj" fmla="val 50000"/>
            </a:avLst>
          </a:prstGeom>
          <a:solidFill>
            <a:srgbClr val="1F2430"/>
          </a:solidFill>
          <a:ln w="9525">
            <a:solidFill>
              <a:srgbClr val="1F243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(6)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454912" y="1755648"/>
            <a:ext cx="1272032" cy="292608"/>
          </a:xfrm>
          <a:prstGeom prst="roundRect">
            <a:avLst>
              <a:gd name="adj" fmla="val 50000"/>
            </a:avLst>
          </a:prstGeom>
          <a:solidFill>
            <a:srgbClr val="F4F5F7"/>
          </a:solidFill>
          <a:ln w="9525">
            <a:solidFill>
              <a:srgbClr val="F4F5F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인터넷 단독 (3)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2818384" y="1755648"/>
            <a:ext cx="1653032" cy="292608"/>
          </a:xfrm>
          <a:prstGeom prst="roundRect">
            <a:avLst>
              <a:gd name="adj" fmla="val 50000"/>
            </a:avLst>
          </a:prstGeom>
          <a:solidFill>
            <a:srgbClr val="F4F5F7"/>
          </a:solidFill>
          <a:ln w="9525">
            <a:solidFill>
              <a:srgbClr val="F4F5F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인터넷 + TV 결합 (3)</a:t>
            </a:r>
            <a:endParaRPr lang="en-US" sz="1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240280"/>
          <a:ext cx="1106424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822960"/>
                <a:gridCol w="2834640"/>
                <a:gridCol w="1463040"/>
                <a:gridCol w="493776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ISP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월 요금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혜택 (3년 약정 기준)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SKT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2E8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단독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기가인터넷 500M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F24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22,000원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사은품 최대 25만 · 공유기 임대 무료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KT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00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단독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기가인터넷 1G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F24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27,500원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사은품 최대 28만 · TV 결합 추가 할인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LG U+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007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단독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인터넷 500M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F24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21,000원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사은품 최대 30만 · 알뜰폰 결합 할인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SKT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2E8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9432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500M + B tv 이코노미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F24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33,000원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사은품 최대 40만 · 셋톱박스 임대료 포함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KT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00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9432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500M + 지니TV 베이직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F24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35,200원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사은품 최대 43만 · OTT 1개월 무료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LG U+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007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9432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500M + U+tv 베이직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F24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34,100원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사은품 최대 45만 · 알뜰폰 결합 할인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548640" y="5257800"/>
            <a:ext cx="3566160" cy="1005840"/>
          </a:xfrm>
          <a:prstGeom prst="roundRect">
            <a:avLst>
              <a:gd name="adj" fmla="val 10909"/>
            </a:avLst>
          </a:prstGeom>
          <a:solidFill>
            <a:srgbClr val="FFF1EE"/>
          </a:solidFill>
          <a:ln w="9525">
            <a:solidFill>
              <a:srgbClr val="FFF1EE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49808" y="5422392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결합 상품 3종 추가 (v0.2)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749808" y="573328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탭 "인터넷 + TV 결합"이 실제로 걸러지도록 결합 상품을 추가했습니다.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297680" y="5257800"/>
            <a:ext cx="3566160" cy="1005840"/>
          </a:xfrm>
          <a:prstGeom prst="roundRect">
            <a:avLst>
              <a:gd name="adj" fmla="val 10909"/>
            </a:avLst>
          </a:prstGeom>
          <a:solidFill>
            <a:srgbClr val="FFF1EE"/>
          </a:solidFill>
          <a:ln w="9525">
            <a:solidFill>
              <a:srgbClr val="FFF1E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498848" y="5422392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탭은 그룹별로 독립 동작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4498848" y="573328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인터넷 탭과 제휴사 탭이 서로의 선택 상태를 바꾸지 않습니다.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8046720" y="5257800"/>
            <a:ext cx="3566160" cy="1005840"/>
          </a:xfrm>
          <a:prstGeom prst="roundRect">
            <a:avLst>
              <a:gd name="adj" fmla="val 10909"/>
            </a:avLst>
          </a:prstGeom>
          <a:solidFill>
            <a:srgbClr val="FFF1EE"/>
          </a:solidFill>
          <a:ln w="9525">
            <a:solidFill>
              <a:srgbClr val="FFF1E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47888" y="5422392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상담 신청 → S4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8247888" y="573328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지금은 "준비 중" 안내, S4 완성 후 상품이 선택된 상담 모달로 연결합니다.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5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 메인 페이지 · 요금제분석 · 신뢰 지표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데이터로 보여주는 합리성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070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GB당 평균 요금을 7개사 모두 표시 (무제한 제외, 예시 데이터)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9052560" y="6473952"/>
            <a:ext cx="2587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im010 홈페이지 기획서   12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6858000" cy="3794760"/>
          </a:xfrm>
          <a:prstGeom prst="roundRect">
            <a:avLst>
              <a:gd name="adj" fmla="val 2892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</p:spPr>
      </p:sp>
      <p:graphicFrame>
        <p:nvGraphicFramePr>
          <p:cNvPr id="7" name="Chart 0" descr=""/>
          <p:cNvGraphicFramePr/>
          <p:nvPr/>
        </p:nvGraphicFramePr>
        <p:xfrm>
          <a:off x="685800" y="1874520"/>
          <a:ext cx="6583680" cy="3611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 txBox="1"/>
          <p:nvPr/>
        </p:nvSpPr>
        <p:spPr>
          <a:xfrm>
            <a:off x="5349240" y="2487168"/>
            <a:ext cx="1607312" cy="256032"/>
          </a:xfrm>
          <a:prstGeom prst="roundRect">
            <a:avLst>
              <a:gd name="adj" fmla="val 50000"/>
            </a:avLst>
          </a:prstGeom>
          <a:solidFill>
            <a:srgbClr val="FA5A47"/>
          </a:solidFill>
          <a:ln w="9525">
            <a:solidFill>
              <a:srgbClr val="FA5A4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최저 · 위너스텔 980원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7726680" y="1783080"/>
            <a:ext cx="3886200" cy="1161288"/>
          </a:xfrm>
          <a:prstGeom prst="roundRect">
            <a:avLst>
              <a:gd name="adj" fmla="val 9449"/>
            </a:avLst>
          </a:prstGeom>
          <a:solidFill>
            <a:srgbClr val="FFF1EE"/>
          </a:solidFill>
          <a:ln w="9525">
            <a:solidFill>
              <a:srgbClr val="FFF1E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955280" y="196596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달 가장 많이 비교된 데이터 구간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7955280" y="2258568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11GB ~ 30GB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7726680" y="3081528"/>
            <a:ext cx="3886200" cy="1161288"/>
          </a:xfrm>
          <a:prstGeom prst="roundRect">
            <a:avLst>
              <a:gd name="adj" fmla="val 9449"/>
            </a:avLst>
          </a:prstGeom>
          <a:solidFill>
            <a:srgbClr val="FFF1EE"/>
          </a:solidFill>
          <a:ln w="9525">
            <a:solidFill>
              <a:srgbClr val="FFF1E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955280" y="3264408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통신 3사 평균 대비 절감액 (11GB 기준)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7955280" y="3557016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 27,400원</a:t>
            </a:r>
            <a:endParaRPr lang="en-US" sz="2000" dirty="0"/>
          </a:p>
        </p:txBody>
      </p:sp>
      <p:sp>
        <p:nvSpPr>
          <p:cNvPr id="15" name="Shape 12"/>
          <p:cNvSpPr/>
          <p:nvPr/>
        </p:nvSpPr>
        <p:spPr>
          <a:xfrm>
            <a:off x="7726680" y="4379976"/>
            <a:ext cx="3886200" cy="1161288"/>
          </a:xfrm>
          <a:prstGeom prst="roundRect">
            <a:avLst>
              <a:gd name="adj" fmla="val 9449"/>
            </a:avLst>
          </a:prstGeom>
          <a:solidFill>
            <a:srgbClr val="FFF1EE"/>
          </a:solidFill>
          <a:ln w="9525">
            <a:solidFill>
              <a:srgbClr val="FFF1E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955280" y="4562856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빠르게 성장 중인 요금제 구간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7955280" y="4855464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무제한형 요금제</a:t>
            </a:r>
            <a:endParaRPr lang="en-US" sz="2000" dirty="0"/>
          </a:p>
        </p:txBody>
      </p:sp>
      <p:sp>
        <p:nvSpPr>
          <p:cNvPr id="18" name="Text 15"/>
          <p:cNvSpPr txBox="1"/>
          <p:nvPr/>
        </p:nvSpPr>
        <p:spPr>
          <a:xfrm>
            <a:off x="548640" y="571500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94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128,940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612648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누적 개통 건수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3337560" y="571500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94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4.8</a:t>
            </a:r>
            <a:endParaRPr lang="en-US" sz="2200" dirty="0"/>
          </a:p>
        </p:txBody>
      </p:sp>
      <p:sp>
        <p:nvSpPr>
          <p:cNvPr id="21" name="Text 18"/>
          <p:cNvSpPr txBox="1"/>
          <p:nvPr/>
        </p:nvSpPr>
        <p:spPr>
          <a:xfrm>
            <a:off x="3337560" y="612648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 이용 만족도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6126480" y="571500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7개사</a:t>
            </a:r>
            <a:endParaRPr lang="en-US" sz="2200" dirty="0"/>
          </a:p>
        </p:txBody>
      </p:sp>
      <p:sp>
        <p:nvSpPr>
          <p:cNvPr id="23" name="Text 20"/>
          <p:cNvSpPr txBox="1"/>
          <p:nvPr/>
        </p:nvSpPr>
        <p:spPr>
          <a:xfrm>
            <a:off x="6126480" y="612648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제휴 통신사</a:t>
            </a:r>
            <a:endParaRPr lang="en-US" sz="1000" dirty="0"/>
          </a:p>
        </p:txBody>
      </p:sp>
      <p:sp>
        <p:nvSpPr>
          <p:cNvPr id="24" name="Text 21"/>
          <p:cNvSpPr txBox="1"/>
          <p:nvPr/>
        </p:nvSpPr>
        <p:spPr>
          <a:xfrm>
            <a:off x="8915400" y="571500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75%</a:t>
            </a:r>
            <a:endParaRPr lang="en-US" sz="2200" dirty="0"/>
          </a:p>
        </p:txBody>
      </p:sp>
      <p:sp>
        <p:nvSpPr>
          <p:cNvPr id="25" name="Text 22"/>
          <p:cNvSpPr txBox="1"/>
          <p:nvPr/>
        </p:nvSpPr>
        <p:spPr>
          <a:xfrm>
            <a:off x="8915400" y="612648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통신비 절감 효과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5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 메인 페이지 · 반응형 · 접근성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PC · 태블릿 · 모바일 대응과 접근성 기준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070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375px 폭에서도 가로 스크롤 없이 동작하는 것을 확인했습니다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9052560" y="6473952"/>
            <a:ext cx="2587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im010 홈페이지 기획서   13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74320" y="2103120"/>
            <a:ext cx="274320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9050">
            <a:solidFill>
              <a:srgbClr val="1F243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2212848"/>
            <a:ext cx="2560320" cy="128016"/>
          </a:xfrm>
          <a:prstGeom prst="roundRect">
            <a:avLst>
              <a:gd name="adj" fmla="val 21429"/>
            </a:avLst>
          </a:prstGeom>
          <a:solidFill>
            <a:srgbClr val="FA5A47"/>
          </a:solidFill>
          <a:ln w="9525">
            <a:solidFill>
              <a:srgbClr val="FA5A4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2432304"/>
            <a:ext cx="1408176" cy="541325"/>
          </a:xfrm>
          <a:prstGeom prst="roundRect">
            <a:avLst>
              <a:gd name="adj" fmla="val 6757"/>
            </a:avLst>
          </a:prstGeom>
          <a:solidFill>
            <a:srgbClr val="FFF1EE"/>
          </a:solidFill>
          <a:ln w="9525">
            <a:solidFill>
              <a:srgbClr val="FFF1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901952" y="2432304"/>
            <a:ext cx="1024128" cy="541325"/>
          </a:xfrm>
          <a:prstGeom prst="roundRect">
            <a:avLst>
              <a:gd name="adj" fmla="val 6757"/>
            </a:avLst>
          </a:prstGeom>
          <a:solidFill>
            <a:srgbClr val="F4F5F7"/>
          </a:solidFill>
          <a:ln w="9525">
            <a:solidFill>
              <a:srgbClr val="F4F5F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9319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PC  &gt; 920px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429768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2단 Hero + 플로팅 카드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제휴사 그리드 4열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드롭다운 메뉴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314700" y="1874520"/>
            <a:ext cx="1417320" cy="192024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9050">
            <a:solidFill>
              <a:srgbClr val="1F243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406140" y="1984248"/>
            <a:ext cx="1234440" cy="128016"/>
          </a:xfrm>
          <a:prstGeom prst="roundRect">
            <a:avLst>
              <a:gd name="adj" fmla="val 21429"/>
            </a:avLst>
          </a:prstGeom>
          <a:solidFill>
            <a:srgbClr val="FA5A47"/>
          </a:solidFill>
          <a:ln w="9525">
            <a:solidFill>
              <a:srgbClr val="FA5A4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406140" y="2203704"/>
            <a:ext cx="1234440" cy="614477"/>
          </a:xfrm>
          <a:prstGeom prst="roundRect">
            <a:avLst>
              <a:gd name="adj" fmla="val 5952"/>
            </a:avLst>
          </a:prstGeom>
          <a:solidFill>
            <a:srgbClr val="FFF1EE"/>
          </a:solidFill>
          <a:ln w="9525">
            <a:solidFill>
              <a:srgbClr val="FFF1E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926080" y="39319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태블릿  ≤ 920px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2971800" y="429768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1단 Hero, 플로팅 카드 숨김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햄버거 메뉴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그리드 2열, 탭 가로 스크롤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966460" y="2103120"/>
            <a:ext cx="868680" cy="169164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9050">
            <a:solidFill>
              <a:srgbClr val="1F243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057900" y="2212848"/>
            <a:ext cx="685800" cy="128016"/>
          </a:xfrm>
          <a:prstGeom prst="roundRect">
            <a:avLst>
              <a:gd name="adj" fmla="val 21429"/>
            </a:avLst>
          </a:prstGeom>
          <a:solidFill>
            <a:srgbClr val="FA5A47"/>
          </a:solidFill>
          <a:ln w="9525">
            <a:solidFill>
              <a:srgbClr val="FA5A4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057900" y="2432304"/>
            <a:ext cx="685800" cy="541325"/>
          </a:xfrm>
          <a:prstGeom prst="roundRect">
            <a:avLst>
              <a:gd name="adj" fmla="val 6757"/>
            </a:avLst>
          </a:prstGeom>
          <a:solidFill>
            <a:srgbClr val="FFF1EE"/>
          </a:solidFill>
          <a:ln w="9525">
            <a:solidFill>
              <a:srgbClr val="FFF1E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303520" y="39319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모바일  ≤ 600px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349240" y="429768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헤더 버튼 축약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섹션 헤더 세로 정렬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설명 줄바꿈 제거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863840" y="1783080"/>
            <a:ext cx="3749040" cy="4480560"/>
          </a:xfrm>
          <a:prstGeom prst="roundRect">
            <a:avLst>
              <a:gd name="adj" fmla="val 3902"/>
            </a:avLst>
          </a:prstGeom>
          <a:solidFill>
            <a:srgbClr val="FFF1EE"/>
          </a:solidFill>
          <a:ln w="9525">
            <a:solidFill>
              <a:srgbClr val="FFF1EE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092440" y="193852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접근성 체크리스트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8092440" y="2377440"/>
            <a:ext cx="292608" cy="292608"/>
          </a:xfrm>
          <a:prstGeom prst="ellipse">
            <a:avLst/>
          </a:prstGeom>
          <a:solidFill>
            <a:srgbClr val="FA5A47"/>
          </a:solidFill>
          <a:ln>
            <a:solidFill>
              <a:srgbClr val="FA5A4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8503920" y="2359152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슬라이더 label 연결 · aria-valuetext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8092440" y="2907792"/>
            <a:ext cx="292608" cy="292608"/>
          </a:xfrm>
          <a:prstGeom prst="ellipse">
            <a:avLst/>
          </a:prstGeom>
          <a:solidFill>
            <a:srgbClr val="FA5A47"/>
          </a:solidFill>
          <a:ln>
            <a:solidFill>
              <a:srgbClr val="FA5A4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8503920" y="2889504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망 토글 aria-pressed, 탭 aria-selected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8092440" y="3438144"/>
            <a:ext cx="292608" cy="292608"/>
          </a:xfrm>
          <a:prstGeom prst="ellipse">
            <a:avLst/>
          </a:prstGeom>
          <a:solidFill>
            <a:srgbClr val="FA5A47"/>
          </a:solidFill>
          <a:ln>
            <a:solidFill>
              <a:srgbClr val="FA5A4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8503920" y="3419856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 결과 · 개수 aria-live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8092440" y="3968496"/>
            <a:ext cx="292608" cy="292608"/>
          </a:xfrm>
          <a:prstGeom prst="ellipse">
            <a:avLst/>
          </a:prstGeom>
          <a:solidFill>
            <a:srgbClr val="FA5A47"/>
          </a:solidFill>
          <a:ln>
            <a:solidFill>
              <a:srgbClr val="FA5A4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8503920" y="3950208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폼 오류 aria-invalid + 오류 문구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8092440" y="4498848"/>
            <a:ext cx="292608" cy="292608"/>
          </a:xfrm>
          <a:prstGeom prst="ellipse">
            <a:avLst/>
          </a:prstGeom>
          <a:solidFill>
            <a:srgbClr val="FA5A47"/>
          </a:solidFill>
          <a:ln>
            <a:solidFill>
              <a:srgbClr val="FA5A4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8503920" y="4480560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드롭다운 키보드 포커스로 열림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8092440" y="5029200"/>
            <a:ext cx="292608" cy="292608"/>
          </a:xfrm>
          <a:prstGeom prst="ellipse">
            <a:avLst/>
          </a:prstGeom>
          <a:solidFill>
            <a:srgbClr val="FA5A47"/>
          </a:solidFill>
          <a:ln>
            <a:solidFill>
              <a:srgbClr val="FA5A4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8503920" y="5010912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:focus-visible 포커스 링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8092440" y="5559552"/>
            <a:ext cx="292608" cy="292608"/>
          </a:xfrm>
          <a:prstGeom prst="ellipse">
            <a:avLst/>
          </a:prstGeom>
          <a:solidFill>
            <a:srgbClr val="FA5A47"/>
          </a:solidFill>
          <a:ln>
            <a:solidFill>
              <a:srgbClr val="FA5A4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8503920" y="5541264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링크 rel="noopener noreferrer"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5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 메인 페이지 · 검토 이슈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목업 검토 이슈 13건 반영 현황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070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v0.2에서 11건 완료, 2건 부분 반영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9052560" y="6473952"/>
            <a:ext cx="2587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im010 홈페이지 기획서   14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73736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000" b="1" dirty="0">
                <a:solidFill>
                  <a:srgbClr val="FA5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pPr indent="0" marL="0">
              <a:buNone/>
            </a:pPr>
            <a:r>
              <a:rPr lang="en-US" sz="2800" b="1" dirty="0">
                <a:solidFill>
                  <a:srgbClr val="8A8F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13</a:t>
            </a:r>
            <a:endParaRPr lang="en-US" sz="8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9260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완료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3474720"/>
            <a:ext cx="3017520" cy="2743200"/>
          </a:xfrm>
          <a:prstGeom prst="roundRect">
            <a:avLst>
              <a:gd name="adj" fmla="val 4000"/>
            </a:avLst>
          </a:prstGeom>
          <a:solidFill>
            <a:srgbClr val="FFF1EE"/>
          </a:solidFill>
          <a:ln w="9525">
            <a:solidFill>
              <a:srgbClr val="FFF1E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3639312"/>
            <a:ext cx="2615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부분 반영 2건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3950208"/>
            <a:ext cx="2615184" cy="2176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#9 하위 페이지 — 이번 하위 페이지 기획서로 설계, 구현 전까지 "준비 중" 안내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#13 사업자 정보 — 영역은 만들었고 실제 값(대표자·등록번호·주소 등)이 필요</a:t>
            </a:r>
            <a:endParaRPr lang="en-US" sz="10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931920" y="1783080"/>
          <a:ext cx="768096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1234440"/>
                <a:gridCol w="5166360"/>
                <a:gridCol w="822960"/>
              </a:tblGrid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#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반영 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상태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데이터 정합성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최대 절감률을 계산기 데이터로 자동 산출 (75%)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E9E5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완료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8E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초기 렌더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기본 상태(11GB · SKT)와 처음 화면 값 일치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E9E5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완료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8E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로직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조건 최저가 요금제 조회 + 상세 링크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E9E5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완료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8E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로직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망별 3사 평균 대비 실제 절약률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E9E5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완료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8E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기능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제휴사 · 인터넷 탭 필터, 그룹별 독립 동작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E9E5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완료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8E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기능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통신사 선택 · 번호 검증 · 직접 입력 · 제휴사 결제 위임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E9E5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완료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8E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스타일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브랜드 칩 공통 클래스 분리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E9E5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완료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8E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IA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GNB "인터넷" 추가, Footer "서비스"로 이동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E9E5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완료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8E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IA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앵커 연결 + 미구현 페이지 "준비 중" 안내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B379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부분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D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콘텐츠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분석 차트 7개사 전체 표시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E9E5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완료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8E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콘텐츠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"실시간" 문구 제거, 섹션별 기준일 표기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E9E5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완료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8E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접근성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ARIA 속성 · 키보드 드롭다운 · 포커스 링 · rel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E9E5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완료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8E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13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법적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기준일 고지 · 사업자 정보 영역 (값은 임시)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B379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부분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D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F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8288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FA5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97180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하위 페이지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84048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6CB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9개 페이지 · 공통 규칙 · 개발 우선순위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680960" y="1188720"/>
            <a:ext cx="3931920" cy="384048"/>
          </a:xfrm>
          <a:prstGeom prst="roundRect">
            <a:avLst>
              <a:gd name="adj" fmla="val 50000"/>
            </a:avLst>
          </a:prstGeom>
          <a:solidFill>
            <a:srgbClr val="2C3345"/>
          </a:solidFill>
          <a:ln w="9525">
            <a:solidFill>
              <a:srgbClr val="2C334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909560" y="118872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S1  요금제 전체 비교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680960" y="1664208"/>
            <a:ext cx="3931920" cy="384048"/>
          </a:xfrm>
          <a:prstGeom prst="roundRect">
            <a:avLst>
              <a:gd name="adj" fmla="val 50000"/>
            </a:avLst>
          </a:prstGeom>
          <a:solidFill>
            <a:srgbClr val="2C3345"/>
          </a:solidFill>
          <a:ln w="9525">
            <a:solidFill>
              <a:srgbClr val="2C334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909560" y="1664208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S2  요금제 상세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680960" y="2139696"/>
            <a:ext cx="3931920" cy="384048"/>
          </a:xfrm>
          <a:prstGeom prst="roundRect">
            <a:avLst>
              <a:gd name="adj" fmla="val 50000"/>
            </a:avLst>
          </a:prstGeom>
          <a:solidFill>
            <a:srgbClr val="2C3345"/>
          </a:solidFill>
          <a:ln w="9525">
            <a:solidFill>
              <a:srgbClr val="2C334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909560" y="2139696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S3  이벤트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680960" y="2615184"/>
            <a:ext cx="3931920" cy="384048"/>
          </a:xfrm>
          <a:prstGeom prst="roundRect">
            <a:avLst>
              <a:gd name="adj" fmla="val 50000"/>
            </a:avLst>
          </a:prstGeom>
          <a:solidFill>
            <a:srgbClr val="2C3345"/>
          </a:solidFill>
          <a:ln w="9525">
            <a:solidFill>
              <a:srgbClr val="2C334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909560" y="2615184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S4  인터넷 상담 신청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680960" y="3090672"/>
            <a:ext cx="3931920" cy="384048"/>
          </a:xfrm>
          <a:prstGeom prst="roundRect">
            <a:avLst>
              <a:gd name="adj" fmla="val 50000"/>
            </a:avLst>
          </a:prstGeom>
          <a:solidFill>
            <a:srgbClr val="2C3345"/>
          </a:solidFill>
          <a:ln w="9525">
            <a:solidFill>
              <a:srgbClr val="2C334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909560" y="3090672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S5  로그인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680960" y="3566160"/>
            <a:ext cx="3931920" cy="384048"/>
          </a:xfrm>
          <a:prstGeom prst="roundRect">
            <a:avLst>
              <a:gd name="adj" fmla="val 50000"/>
            </a:avLst>
          </a:prstGeom>
          <a:solidFill>
            <a:srgbClr val="2C3345"/>
          </a:solidFill>
          <a:ln w="9525">
            <a:solidFill>
              <a:srgbClr val="2C334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909560" y="356616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S6  마이페이지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680960" y="4041648"/>
            <a:ext cx="3931920" cy="384048"/>
          </a:xfrm>
          <a:prstGeom prst="roundRect">
            <a:avLst>
              <a:gd name="adj" fmla="val 50000"/>
            </a:avLst>
          </a:prstGeom>
          <a:solidFill>
            <a:srgbClr val="2C3345"/>
          </a:solidFill>
          <a:ln w="9525">
            <a:solidFill>
              <a:srgbClr val="2C3345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909560" y="4041648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S7  고객지원 (FAQ · 1:1 문의)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680960" y="4517136"/>
            <a:ext cx="3931920" cy="384048"/>
          </a:xfrm>
          <a:prstGeom prst="roundRect">
            <a:avLst>
              <a:gd name="adj" fmla="val 50000"/>
            </a:avLst>
          </a:prstGeom>
          <a:solidFill>
            <a:srgbClr val="2C3345"/>
          </a:solidFill>
          <a:ln w="9525">
            <a:solidFill>
              <a:srgbClr val="2C3345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909560" y="4517136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S8  약관 · 개인정보처리방침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680960" y="4992624"/>
            <a:ext cx="3931920" cy="384048"/>
          </a:xfrm>
          <a:prstGeom prst="roundRect">
            <a:avLst>
              <a:gd name="adj" fmla="val 50000"/>
            </a:avLst>
          </a:prstGeom>
          <a:solidFill>
            <a:srgbClr val="2C3345"/>
          </a:solidFill>
          <a:ln w="9525">
            <a:solidFill>
              <a:srgbClr val="2C3345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909560" y="4992624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S9  오류 페이지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5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 하위 페이지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9개 하위 페이지와 개발 우선순위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070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전환(제휴사 가입 · 상담)과 법적 필수 페이지부터 만듭니다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9052560" y="6473952"/>
            <a:ext cx="2587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im010 홈페이지 기획서   16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083296" y="320040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 w="9525">
            <a:solidFill>
              <a:srgbClr val="F4F5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84464" y="3364992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페이지가 완성되면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284464" y="3675888"/>
            <a:ext cx="316382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메인의 "준비 중" 링크를 실제 페이지로 교체</a:t>
            </a:r>
            <a:endParaRPr lang="en-US" sz="11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착수 전 결정 사항(05장) 확정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173736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A5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1508760" y="190195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전환 + 법적 필수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48640" y="2423160"/>
            <a:ext cx="3566160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  <a:effectLst>
            <a:outerShdw sx="100000" sy="100000" kx="0" ky="0" algn="bl" rotWithShape="0" blurRad="127000" dist="38100" dir="5400000">
              <a:srgbClr val="1F2430">
                <a:alpha val="14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85800" y="2606040"/>
            <a:ext cx="457200" cy="274320"/>
          </a:xfrm>
          <a:prstGeom prst="roundRect">
            <a:avLst>
              <a:gd name="adj" fmla="val 50000"/>
            </a:avLst>
          </a:prstGeom>
          <a:solidFill>
            <a:srgbClr val="FA5A47"/>
          </a:solidFill>
          <a:ln w="9525">
            <a:solidFill>
              <a:srgbClr val="FA5A4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S1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1261872" y="24963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요금제 전체 비교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261872" y="2770632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/plans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48640" y="3172968"/>
            <a:ext cx="3566160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  <a:effectLst>
            <a:outerShdw sx="100000" sy="100000" kx="0" ky="0" algn="bl" rotWithShape="0" blurRad="127000" dist="38100" dir="5400000">
              <a:srgbClr val="1F2430">
                <a:alpha val="14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685800" y="3355848"/>
            <a:ext cx="457200" cy="274320"/>
          </a:xfrm>
          <a:prstGeom prst="roundRect">
            <a:avLst>
              <a:gd name="adj" fmla="val 50000"/>
            </a:avLst>
          </a:prstGeom>
          <a:solidFill>
            <a:srgbClr val="FA5A47"/>
          </a:solidFill>
          <a:ln w="9525">
            <a:solidFill>
              <a:srgbClr val="FA5A4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S2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1261872" y="32461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요금제 상세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261872" y="3520440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/plans/:planId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48640" y="3922776"/>
            <a:ext cx="3566160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  <a:effectLst>
            <a:outerShdw sx="100000" sy="100000" kx="0" ky="0" algn="bl" rotWithShape="0" blurRad="127000" dist="38100" dir="5400000">
              <a:srgbClr val="1F2430">
                <a:alpha val="14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685800" y="4105656"/>
            <a:ext cx="457200" cy="274320"/>
          </a:xfrm>
          <a:prstGeom prst="roundRect">
            <a:avLst>
              <a:gd name="adj" fmla="val 50000"/>
            </a:avLst>
          </a:prstGeom>
          <a:solidFill>
            <a:srgbClr val="FA5A47"/>
          </a:solidFill>
          <a:ln w="9525">
            <a:solidFill>
              <a:srgbClr val="FA5A4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S4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1261872" y="399592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인터넷 상담 신청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261872" y="4270248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/internet/consult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48640" y="4672584"/>
            <a:ext cx="3566160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  <a:effectLst>
            <a:outerShdw sx="100000" sy="100000" kx="0" ky="0" algn="bl" rotWithShape="0" blurRad="127000" dist="38100" dir="5400000">
              <a:srgbClr val="1F2430">
                <a:alpha val="14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685800" y="4855464"/>
            <a:ext cx="457200" cy="274320"/>
          </a:xfrm>
          <a:prstGeom prst="roundRect">
            <a:avLst>
              <a:gd name="adj" fmla="val 50000"/>
            </a:avLst>
          </a:prstGeom>
          <a:solidFill>
            <a:srgbClr val="FA5A47"/>
          </a:solidFill>
          <a:ln w="9525">
            <a:solidFill>
              <a:srgbClr val="FA5A4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S8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1261872" y="4745736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약관 · 개인정보처리방침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1261872" y="5020056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/terms · /privacy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48640" y="5422392"/>
            <a:ext cx="3566160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  <a:effectLst>
            <a:outerShdw sx="100000" sy="100000" kx="0" ky="0" algn="bl" rotWithShape="0" blurRad="127000" dist="38100" dir="5400000">
              <a:srgbClr val="1F2430">
                <a:alpha val="14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685800" y="5605272"/>
            <a:ext cx="457200" cy="274320"/>
          </a:xfrm>
          <a:prstGeom prst="roundRect">
            <a:avLst>
              <a:gd name="adj" fmla="val 50000"/>
            </a:avLst>
          </a:prstGeom>
          <a:solidFill>
            <a:srgbClr val="FA5A47"/>
          </a:solidFill>
          <a:ln w="9525">
            <a:solidFill>
              <a:srgbClr val="FA5A4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S9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1261872" y="549554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 페이지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1261872" y="5769864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404 · 500 · 점검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4315968" y="173736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2차</a:t>
            </a:r>
            <a:endParaRPr lang="en-US" sz="3000" dirty="0"/>
          </a:p>
        </p:txBody>
      </p:sp>
      <p:sp>
        <p:nvSpPr>
          <p:cNvPr id="32" name="Text 30"/>
          <p:cNvSpPr txBox="1"/>
          <p:nvPr/>
        </p:nvSpPr>
        <p:spPr>
          <a:xfrm>
            <a:off x="5276088" y="190195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재방문 · 고객 응대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4315968" y="2423160"/>
            <a:ext cx="3566160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  <a:effectLst>
            <a:outerShdw sx="100000" sy="100000" kx="0" ky="0" algn="bl" rotWithShape="0" blurRad="127000" dist="38100" dir="5400000">
              <a:srgbClr val="1F2430">
                <a:alpha val="14000"/>
              </a:srgbClr>
            </a:outerShdw>
          </a:effectLst>
        </p:spPr>
      </p:sp>
      <p:sp>
        <p:nvSpPr>
          <p:cNvPr id="34" name="Text 32"/>
          <p:cNvSpPr txBox="1"/>
          <p:nvPr/>
        </p:nvSpPr>
        <p:spPr>
          <a:xfrm>
            <a:off x="4453128" y="2606040"/>
            <a:ext cx="457200" cy="274320"/>
          </a:xfrm>
          <a:prstGeom prst="roundRect">
            <a:avLst>
              <a:gd name="adj" fmla="val 50000"/>
            </a:avLst>
          </a:prstGeom>
          <a:solidFill>
            <a:srgbClr val="1F2430"/>
          </a:solidFill>
          <a:ln w="9525">
            <a:solidFill>
              <a:srgbClr val="1F243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S5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5029200" y="24963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5029200" y="2770632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/login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15968" y="3172968"/>
            <a:ext cx="3566160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  <a:effectLst>
            <a:outerShdw sx="100000" sy="100000" kx="0" ky="0" algn="bl" rotWithShape="0" blurRad="127000" dist="38100" dir="5400000">
              <a:srgbClr val="1F2430">
                <a:alpha val="14000"/>
              </a:srgbClr>
            </a:outerShdw>
          </a:effectLst>
        </p:spPr>
      </p:sp>
      <p:sp>
        <p:nvSpPr>
          <p:cNvPr id="38" name="Text 36"/>
          <p:cNvSpPr txBox="1"/>
          <p:nvPr/>
        </p:nvSpPr>
        <p:spPr>
          <a:xfrm>
            <a:off x="4453128" y="3355848"/>
            <a:ext cx="457200" cy="274320"/>
          </a:xfrm>
          <a:prstGeom prst="roundRect">
            <a:avLst>
              <a:gd name="adj" fmla="val 50000"/>
            </a:avLst>
          </a:prstGeom>
          <a:solidFill>
            <a:srgbClr val="1F2430"/>
          </a:solidFill>
          <a:ln w="9525">
            <a:solidFill>
              <a:srgbClr val="1F243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S6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5029200" y="32461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마이페이지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5029200" y="3520440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/mypage</a:t>
            </a:r>
            <a:endParaRPr lang="en-US" sz="900" dirty="0"/>
          </a:p>
        </p:txBody>
      </p:sp>
      <p:sp>
        <p:nvSpPr>
          <p:cNvPr id="41" name="Text 39"/>
          <p:cNvSpPr txBox="1"/>
          <p:nvPr/>
        </p:nvSpPr>
        <p:spPr>
          <a:xfrm>
            <a:off x="7192518" y="3246120"/>
            <a:ext cx="579882" cy="219456"/>
          </a:xfrm>
          <a:prstGeom prst="roundRect">
            <a:avLst>
              <a:gd name="adj" fmla="val 50000"/>
            </a:avLst>
          </a:prstGeom>
          <a:solidFill>
            <a:srgbClr val="FFF1EE"/>
          </a:solidFill>
          <a:ln w="9525">
            <a:solidFill>
              <a:srgbClr val="FFF1E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4315968" y="3922776"/>
            <a:ext cx="3566160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  <a:effectLst>
            <a:outerShdw sx="100000" sy="100000" kx="0" ky="0" algn="bl" rotWithShape="0" blurRad="127000" dist="38100" dir="5400000">
              <a:srgbClr val="1F2430">
                <a:alpha val="14000"/>
              </a:srgbClr>
            </a:outerShdw>
          </a:effectLst>
        </p:spPr>
      </p:sp>
      <p:sp>
        <p:nvSpPr>
          <p:cNvPr id="43" name="Text 41"/>
          <p:cNvSpPr txBox="1"/>
          <p:nvPr/>
        </p:nvSpPr>
        <p:spPr>
          <a:xfrm>
            <a:off x="4453128" y="4105656"/>
            <a:ext cx="457200" cy="274320"/>
          </a:xfrm>
          <a:prstGeom prst="roundRect">
            <a:avLst>
              <a:gd name="adj" fmla="val 50000"/>
            </a:avLst>
          </a:prstGeom>
          <a:solidFill>
            <a:srgbClr val="1F2430"/>
          </a:solidFill>
          <a:ln w="9525">
            <a:solidFill>
              <a:srgbClr val="1F243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S7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5029200" y="399592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FAQ · 1:1 문의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5029200" y="4270248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/support/faq · /inquiry</a:t>
            </a:r>
            <a:endParaRPr lang="en-US" sz="900" dirty="0"/>
          </a:p>
        </p:txBody>
      </p:sp>
      <p:sp>
        <p:nvSpPr>
          <p:cNvPr id="46" name="Text 44"/>
          <p:cNvSpPr txBox="1"/>
          <p:nvPr/>
        </p:nvSpPr>
        <p:spPr>
          <a:xfrm>
            <a:off x="6803898" y="3995928"/>
            <a:ext cx="968502" cy="219456"/>
          </a:xfrm>
          <a:prstGeom prst="roundRect">
            <a:avLst>
              <a:gd name="adj" fmla="val 50000"/>
            </a:avLst>
          </a:prstGeom>
          <a:solidFill>
            <a:srgbClr val="FFF1EE"/>
          </a:solidFill>
          <a:ln w="9525">
            <a:solidFill>
              <a:srgbClr val="FFF1E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문의만 로그인</a:t>
            </a:r>
            <a:endParaRPr lang="en-US" sz="850" dirty="0"/>
          </a:p>
        </p:txBody>
      </p:sp>
      <p:sp>
        <p:nvSpPr>
          <p:cNvPr id="47" name="Text 45"/>
          <p:cNvSpPr txBox="1"/>
          <p:nvPr/>
        </p:nvSpPr>
        <p:spPr>
          <a:xfrm>
            <a:off x="8083296" y="173736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3차</a:t>
            </a:r>
            <a:endParaRPr lang="en-US" sz="3000" dirty="0"/>
          </a:p>
        </p:txBody>
      </p:sp>
      <p:sp>
        <p:nvSpPr>
          <p:cNvPr id="48" name="Text 46"/>
          <p:cNvSpPr txBox="1"/>
          <p:nvPr/>
        </p:nvSpPr>
        <p:spPr>
          <a:xfrm>
            <a:off x="9043416" y="190195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콘텐츠 운영 체계 확보 후</a:t>
            </a:r>
            <a:endParaRPr lang="en-US" sz="1150" dirty="0"/>
          </a:p>
        </p:txBody>
      </p:sp>
      <p:sp>
        <p:nvSpPr>
          <p:cNvPr id="49" name="Shape 47"/>
          <p:cNvSpPr/>
          <p:nvPr/>
        </p:nvSpPr>
        <p:spPr>
          <a:xfrm>
            <a:off x="8083296" y="2423160"/>
            <a:ext cx="3566160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  <a:effectLst>
            <a:outerShdw sx="100000" sy="100000" kx="0" ky="0" algn="bl" rotWithShape="0" blurRad="127000" dist="38100" dir="5400000">
              <a:srgbClr val="1F2430">
                <a:alpha val="14000"/>
              </a:srgbClr>
            </a:outerShdw>
          </a:effectLst>
        </p:spPr>
      </p:sp>
      <p:sp>
        <p:nvSpPr>
          <p:cNvPr id="50" name="Text 48"/>
          <p:cNvSpPr txBox="1"/>
          <p:nvPr/>
        </p:nvSpPr>
        <p:spPr>
          <a:xfrm>
            <a:off x="8220456" y="2606040"/>
            <a:ext cx="457200" cy="274320"/>
          </a:xfrm>
          <a:prstGeom prst="roundRect">
            <a:avLst>
              <a:gd name="adj" fmla="val 50000"/>
            </a:avLst>
          </a:prstGeom>
          <a:solidFill>
            <a:srgbClr val="8A8F9C"/>
          </a:solidFill>
          <a:ln w="9525">
            <a:solidFill>
              <a:srgbClr val="8A8F9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S3</a:t>
            </a:r>
            <a:endParaRPr lang="en-US" sz="1000" dirty="0"/>
          </a:p>
        </p:txBody>
      </p:sp>
      <p:sp>
        <p:nvSpPr>
          <p:cNvPr id="51" name="Text 49"/>
          <p:cNvSpPr txBox="1"/>
          <p:nvPr/>
        </p:nvSpPr>
        <p:spPr>
          <a:xfrm>
            <a:off x="8796528" y="24963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이벤트 목록 · 상세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8796528" y="2770632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/events · /events/:id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5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 하위 페이지 · 공통 규칙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하위 페이지에 적용하는 규칙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070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메인과 같은 GNB · Footer · 디자인 토큰을 쓰고, 화면 상태와 폼 규칙을 통일합니다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9052560" y="6473952"/>
            <a:ext cx="2587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im010 홈페이지 기획서   17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5440680" cy="2103120"/>
          </a:xfrm>
          <a:prstGeom prst="roundRect">
            <a:avLst>
              <a:gd name="adj" fmla="val 6957"/>
            </a:avLst>
          </a:prstGeom>
          <a:solidFill>
            <a:srgbClr val="F4F5F7"/>
          </a:solidFill>
          <a:ln w="9525">
            <a:solidFill>
              <a:srgbClr val="F4F5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984248"/>
            <a:ext cx="384048" cy="384048"/>
          </a:xfrm>
          <a:prstGeom prst="ellipse">
            <a:avLst/>
          </a:prstGeom>
          <a:solidFill>
            <a:srgbClr val="FA5A47"/>
          </a:solidFill>
          <a:ln>
            <a:solidFill>
              <a:srgbClr val="FA5A4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298448" y="2011680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페이지 머리 · 레이아웃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514600"/>
            <a:ext cx="4983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breadcrumb(12px) · 제목 30/800 · 설명 15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메인과 같은 GNB(sticky) · Footer, 본문 최대폭 1180px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모바일 제목 24px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172200" y="1783080"/>
            <a:ext cx="5440680" cy="2103120"/>
          </a:xfrm>
          <a:prstGeom prst="roundRect">
            <a:avLst>
              <a:gd name="adj" fmla="val 6957"/>
            </a:avLst>
          </a:prstGeom>
          <a:solidFill>
            <a:srgbClr val="F4F5F7"/>
          </a:solidFill>
          <a:ln w="9525">
            <a:solidFill>
              <a:srgbClr val="F4F5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0" y="1984248"/>
            <a:ext cx="384048" cy="384048"/>
          </a:xfrm>
          <a:prstGeom prst="ellipse">
            <a:avLst/>
          </a:prstGeom>
          <a:solidFill>
            <a:srgbClr val="FA5A47"/>
          </a:solidFill>
          <a:ln>
            <a:solidFill>
              <a:srgbClr val="FA5A4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922008" y="2011680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상태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446520" y="2514600"/>
            <a:ext cx="4983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로딩: 카드 모양 스켈레톤, 버튼 비활성 + 스피너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빈 화면: 안내 문구 + 다음 행동 버튼 (예: 필터 초기화)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오류: 코랄 경고 박스 + 다시 시도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 필요: /login?next= 로 이동 후 원래 위치로 복귀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4114800"/>
            <a:ext cx="5440680" cy="2103120"/>
          </a:xfrm>
          <a:prstGeom prst="roundRect">
            <a:avLst>
              <a:gd name="adj" fmla="val 6957"/>
            </a:avLst>
          </a:prstGeom>
          <a:solidFill>
            <a:srgbClr val="F4F5F7"/>
          </a:solidFill>
          <a:ln w="9525">
            <a:solidFill>
              <a:srgbClr val="F4F5F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77240" y="4315968"/>
            <a:ext cx="384048" cy="384048"/>
          </a:xfrm>
          <a:prstGeom prst="ellipse">
            <a:avLst/>
          </a:prstGeom>
          <a:solidFill>
            <a:srgbClr val="FA5A47"/>
          </a:solidFill>
          <a:ln>
            <a:solidFill>
              <a:srgbClr val="FA5A4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298448" y="4343400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폼 규칙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" y="4846320"/>
            <a:ext cx="4983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 시 코랄 테두리 + 필드 아래 문구 + aria-invalid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제출 시 첫 번째 오류 필드로 포커스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개인정보 폼은 필수 동의 체크 + "자세히" 펼침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전화번호 자동 하이픈 · 개인정보는 URL에 넣지 않음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172200" y="4114800"/>
            <a:ext cx="5440680" cy="2103120"/>
          </a:xfrm>
          <a:prstGeom prst="roundRect">
            <a:avLst>
              <a:gd name="adj" fmla="val 6957"/>
            </a:avLst>
          </a:prstGeom>
          <a:solidFill>
            <a:srgbClr val="F4F5F7"/>
          </a:solidFill>
          <a:ln w="9525">
            <a:solidFill>
              <a:srgbClr val="F4F5F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00800" y="4315968"/>
            <a:ext cx="384048" cy="384048"/>
          </a:xfrm>
          <a:prstGeom prst="ellipse">
            <a:avLst/>
          </a:prstGeom>
          <a:solidFill>
            <a:srgbClr val="FA5A47"/>
          </a:solidFill>
          <a:ln>
            <a:solidFill>
              <a:srgbClr val="FA5A4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922008" y="4343400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메인 "준비 중" 링크 연결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446520" y="48463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이벤트  →  </a:t>
            </a:r>
            <a:pPr indent="0" marL="0">
              <a:buNone/>
            </a:pPr>
            <a:r>
              <a:rPr lang="en-US" sz="105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S3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9006840" y="48463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마이페이지  →  </a:t>
            </a:r>
            <a:pPr indent="0" marL="0">
              <a:buNone/>
            </a:pPr>
            <a:r>
              <a:rPr lang="en-US" sz="105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S6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6446520" y="5175504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  →  </a:t>
            </a:r>
            <a:pPr indent="0" marL="0">
              <a:buNone/>
            </a:pPr>
            <a:r>
              <a:rPr lang="en-US" sz="105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S5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9006840" y="5175504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상담 신청  →  </a:t>
            </a:r>
            <a:pPr indent="0" marL="0">
              <a:buNone/>
            </a:pPr>
            <a:r>
              <a:rPr lang="en-US" sz="105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S4 모달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6446520" y="550468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FAQ · 1:1 문의  →  </a:t>
            </a:r>
            <a:pPr indent="0" marL="0">
              <a:buNone/>
            </a:pPr>
            <a:r>
              <a:rPr lang="en-US" sz="105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S7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9006840" y="550468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약관 · 방침  →  </a:t>
            </a:r>
            <a:pPr indent="0" marL="0">
              <a:buNone/>
            </a:pPr>
            <a:r>
              <a:rPr lang="en-US" sz="105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S8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6446520" y="583387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비교  →  </a:t>
            </a:r>
            <a:pPr indent="0" marL="0">
              <a:buNone/>
            </a:pPr>
            <a:r>
              <a:rPr lang="en-US" sz="105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S1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5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 하위 페이지 · S1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요금제 전체 비교   /plans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070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조건별 필터 · 정렬 · 최대 3개 비교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9052560" y="6473952"/>
            <a:ext cx="2587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im010 홈페이지 기획서   18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7406640" cy="4480560"/>
          </a:xfrm>
          <a:prstGeom prst="roundRect">
            <a:avLst>
              <a:gd name="adj" fmla="val 2041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13232" y="1938528"/>
            <a:ext cx="1965960" cy="3657600"/>
          </a:xfrm>
          <a:prstGeom prst="roundRect">
            <a:avLst>
              <a:gd name="adj" fmla="val 4651"/>
            </a:avLst>
          </a:prstGeom>
          <a:solidFill>
            <a:srgbClr val="F4F5F7"/>
          </a:solidFill>
          <a:ln w="9525">
            <a:solidFill>
              <a:srgbClr val="F4F5F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" y="2057400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필터</a:t>
            </a:r>
            <a:pPr indent="0" marL="0">
              <a:buNone/>
            </a:pPr>
            <a:r>
              <a:rPr lang="en-US" sz="900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         초기화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423160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통신망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2624328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☑ SKT  ☐ KT  ☐ LGU+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868680" y="293522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3136392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○ ~5GB  ● 5~15GB  ○ 무제한…</a:t>
            </a:r>
            <a:endParaRPr lang="en-US" sz="800" dirty="0"/>
          </a:p>
        </p:txBody>
      </p:sp>
      <p:sp>
        <p:nvSpPr>
          <p:cNvPr id="13" name="Text 11"/>
          <p:cNvSpPr txBox="1"/>
          <p:nvPr/>
        </p:nvSpPr>
        <p:spPr>
          <a:xfrm>
            <a:off x="868680" y="3447288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세대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868680" y="3648456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☐ LTE  ☑ 5G</a:t>
            </a:r>
            <a:endParaRPr lang="en-US" sz="800" dirty="0"/>
          </a:p>
        </p:txBody>
      </p:sp>
      <p:sp>
        <p:nvSpPr>
          <p:cNvPr id="15" name="Text 13"/>
          <p:cNvSpPr txBox="1"/>
          <p:nvPr/>
        </p:nvSpPr>
        <p:spPr>
          <a:xfrm>
            <a:off x="868680" y="3959352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 요금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868680" y="4160520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0원 ━━━━●━━ 30,000원+</a:t>
            </a:r>
            <a:endParaRPr lang="en-US" sz="800" dirty="0"/>
          </a:p>
        </p:txBody>
      </p:sp>
      <p:sp>
        <p:nvSpPr>
          <p:cNvPr id="17" name="Text 15"/>
          <p:cNvSpPr txBox="1"/>
          <p:nvPr/>
        </p:nvSpPr>
        <p:spPr>
          <a:xfrm>
            <a:off x="868680" y="4471416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브랜드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68680" y="4672584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☐ 마블링  ☐ 토리모바일 …</a:t>
            </a:r>
            <a:endParaRPr lang="en-US" sz="800" dirty="0"/>
          </a:p>
        </p:txBody>
      </p:sp>
      <p:sp>
        <p:nvSpPr>
          <p:cNvPr id="19" name="Text 17"/>
          <p:cNvSpPr txBox="1"/>
          <p:nvPr/>
        </p:nvSpPr>
        <p:spPr>
          <a:xfrm>
            <a:off x="868680" y="4983480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혜택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868680" y="5184648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☐ 유심비 무료  ☐ 첫달 무료</a:t>
            </a:r>
            <a:endParaRPr lang="en-US" sz="800" dirty="0"/>
          </a:p>
        </p:txBody>
      </p:sp>
      <p:sp>
        <p:nvSpPr>
          <p:cNvPr id="21" name="Text 19"/>
          <p:cNvSpPr txBox="1"/>
          <p:nvPr/>
        </p:nvSpPr>
        <p:spPr>
          <a:xfrm>
            <a:off x="2880360" y="199339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요금제 </a:t>
            </a:r>
            <a:pPr indent="0" marL="0">
              <a:buNone/>
            </a:pPr>
            <a:r>
              <a:rPr lang="en-US" sz="110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pPr indent="0" marL="0">
              <a:buNone/>
            </a:pPr>
            <a:r>
              <a:rPr lang="en-US" sz="11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5349240" y="1965960"/>
            <a:ext cx="103327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9E7E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낮은 가격순 ▾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6748272" y="1965960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1F2430"/>
          </a:solidFill>
          <a:ln w="9525">
            <a:solidFill>
              <a:srgbClr val="1F243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 | 표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2880360" y="2377440"/>
            <a:ext cx="598932" cy="237744"/>
          </a:xfrm>
          <a:prstGeom prst="roundRect">
            <a:avLst>
              <a:gd name="adj" fmla="val 50000"/>
            </a:avLst>
          </a:prstGeom>
          <a:solidFill>
            <a:srgbClr val="FFF1EE"/>
          </a:solidFill>
          <a:ln w="9525">
            <a:solidFill>
              <a:srgbClr val="FFF1E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SKT ✕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3566160" y="2377440"/>
            <a:ext cx="530352" cy="237744"/>
          </a:xfrm>
          <a:prstGeom prst="roundRect">
            <a:avLst>
              <a:gd name="adj" fmla="val 50000"/>
            </a:avLst>
          </a:prstGeom>
          <a:solidFill>
            <a:srgbClr val="FFF1EE"/>
          </a:solidFill>
          <a:ln w="9525">
            <a:solidFill>
              <a:srgbClr val="FFF1E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5G ✕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2880360" y="2788920"/>
            <a:ext cx="1554480" cy="182880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  <a:effectLst>
            <a:outerShdw sx="100000" sy="100000" kx="0" ky="0" algn="bl" rotWithShape="0" blurRad="127000" dist="38100" dir="5400000">
              <a:srgbClr val="1F2430">
                <a:alpha val="14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2990088" y="2898648"/>
            <a:ext cx="579882" cy="219456"/>
          </a:xfrm>
          <a:prstGeom prst="roundRect">
            <a:avLst>
              <a:gd name="adj" fmla="val 50000"/>
            </a:avLst>
          </a:prstGeom>
          <a:solidFill>
            <a:srgbClr val="FFE9E5"/>
          </a:solidFill>
          <a:ln w="9525">
            <a:solidFill>
              <a:srgbClr val="FFE9E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마블링</a:t>
            </a:r>
            <a:endParaRPr lang="en-US" sz="850" dirty="0"/>
          </a:p>
        </p:txBody>
      </p:sp>
      <p:sp>
        <p:nvSpPr>
          <p:cNvPr id="28" name="Text 26"/>
          <p:cNvSpPr txBox="1"/>
          <p:nvPr/>
        </p:nvSpPr>
        <p:spPr>
          <a:xfrm>
            <a:off x="4114800" y="2880360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A5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♡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2990088" y="32004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11GB + 매일 2GB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2990088" y="3438144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16,500원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2990088" y="3749040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SKT · 5G</a:t>
            </a:r>
            <a:endParaRPr lang="en-US" sz="850" dirty="0"/>
          </a:p>
        </p:txBody>
      </p:sp>
      <p:sp>
        <p:nvSpPr>
          <p:cNvPr id="32" name="Text 30"/>
          <p:cNvSpPr txBox="1"/>
          <p:nvPr/>
        </p:nvSpPr>
        <p:spPr>
          <a:xfrm>
            <a:off x="2990088" y="4114800"/>
            <a:ext cx="1335024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F243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비교 담기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544568" y="2788920"/>
            <a:ext cx="1554480" cy="182880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  <a:effectLst>
            <a:outerShdw sx="100000" sy="100000" kx="0" ky="0" algn="bl" rotWithShape="0" blurRad="127000" dist="38100" dir="5400000">
              <a:srgbClr val="1F2430">
                <a:alpha val="14000"/>
              </a:srgbClr>
            </a:outerShdw>
          </a:effectLst>
        </p:spPr>
      </p:sp>
      <p:sp>
        <p:nvSpPr>
          <p:cNvPr id="34" name="Text 32"/>
          <p:cNvSpPr txBox="1"/>
          <p:nvPr/>
        </p:nvSpPr>
        <p:spPr>
          <a:xfrm>
            <a:off x="4654296" y="2898648"/>
            <a:ext cx="795782" cy="219456"/>
          </a:xfrm>
          <a:prstGeom prst="roundRect">
            <a:avLst>
              <a:gd name="adj" fmla="val 50000"/>
            </a:avLst>
          </a:prstGeom>
          <a:solidFill>
            <a:srgbClr val="FDECC8"/>
          </a:solidFill>
          <a:ln w="9525">
            <a:solidFill>
              <a:srgbClr val="FDECC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B26A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시월모바일</a:t>
            </a:r>
            <a:endParaRPr lang="en-US" sz="850" dirty="0"/>
          </a:p>
        </p:txBody>
      </p:sp>
      <p:sp>
        <p:nvSpPr>
          <p:cNvPr id="35" name="Text 33"/>
          <p:cNvSpPr txBox="1"/>
          <p:nvPr/>
        </p:nvSpPr>
        <p:spPr>
          <a:xfrm>
            <a:off x="5779008" y="2880360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A5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♡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4654296" y="32004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50GB</a:t>
            </a:r>
            <a:endParaRPr lang="en-US" sz="900" dirty="0"/>
          </a:p>
        </p:txBody>
      </p:sp>
      <p:sp>
        <p:nvSpPr>
          <p:cNvPr id="37" name="Text 35"/>
          <p:cNvSpPr txBox="1"/>
          <p:nvPr/>
        </p:nvSpPr>
        <p:spPr>
          <a:xfrm>
            <a:off x="4654296" y="3438144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17,900원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4654296" y="3749040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SKT · 5G</a:t>
            </a:r>
            <a:endParaRPr lang="en-US" sz="850" dirty="0"/>
          </a:p>
        </p:txBody>
      </p:sp>
      <p:sp>
        <p:nvSpPr>
          <p:cNvPr id="39" name="Text 37"/>
          <p:cNvSpPr txBox="1"/>
          <p:nvPr/>
        </p:nvSpPr>
        <p:spPr>
          <a:xfrm>
            <a:off x="4654296" y="4114800"/>
            <a:ext cx="1335024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F243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비교 담기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208776" y="2788920"/>
            <a:ext cx="1554480" cy="182880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  <a:effectLst>
            <a:outerShdw sx="100000" sy="100000" kx="0" ky="0" algn="bl" rotWithShape="0" blurRad="127000" dist="38100" dir="5400000">
              <a:srgbClr val="1F2430">
                <a:alpha val="14000"/>
              </a:srgbClr>
            </a:outerShdw>
          </a:effectLst>
        </p:spPr>
      </p:sp>
      <p:sp>
        <p:nvSpPr>
          <p:cNvPr id="41" name="Text 39"/>
          <p:cNvSpPr txBox="1"/>
          <p:nvPr/>
        </p:nvSpPr>
        <p:spPr>
          <a:xfrm>
            <a:off x="6318504" y="2898648"/>
            <a:ext cx="579882" cy="219456"/>
          </a:xfrm>
          <a:prstGeom prst="roundRect">
            <a:avLst>
              <a:gd name="adj" fmla="val 50000"/>
            </a:avLst>
          </a:prstGeom>
          <a:solidFill>
            <a:srgbClr val="FFE9E5"/>
          </a:solidFill>
          <a:ln w="9525">
            <a:solidFill>
              <a:srgbClr val="FFE9E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마블링</a:t>
            </a:r>
            <a:endParaRPr lang="en-US" sz="850" dirty="0"/>
          </a:p>
        </p:txBody>
      </p:sp>
      <p:sp>
        <p:nvSpPr>
          <p:cNvPr id="42" name="Text 40"/>
          <p:cNvSpPr txBox="1"/>
          <p:nvPr/>
        </p:nvSpPr>
        <p:spPr>
          <a:xfrm>
            <a:off x="7443216" y="2880360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A5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♡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318504" y="32004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무제한</a:t>
            </a:r>
            <a:endParaRPr lang="en-US" sz="900" dirty="0"/>
          </a:p>
        </p:txBody>
      </p:sp>
      <p:sp>
        <p:nvSpPr>
          <p:cNvPr id="44" name="Text 42"/>
          <p:cNvSpPr txBox="1"/>
          <p:nvPr/>
        </p:nvSpPr>
        <p:spPr>
          <a:xfrm>
            <a:off x="6318504" y="3438144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26,400원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6318504" y="3749040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SKT · 5G</a:t>
            </a:r>
            <a:endParaRPr lang="en-US" sz="850" dirty="0"/>
          </a:p>
        </p:txBody>
      </p:sp>
      <p:sp>
        <p:nvSpPr>
          <p:cNvPr id="46" name="Text 44"/>
          <p:cNvSpPr txBox="1"/>
          <p:nvPr/>
        </p:nvSpPr>
        <p:spPr>
          <a:xfrm>
            <a:off x="6318504" y="4114800"/>
            <a:ext cx="1335024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F243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비교 담기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713232" y="5715000"/>
            <a:ext cx="7086600" cy="438912"/>
          </a:xfrm>
          <a:prstGeom prst="roundRect">
            <a:avLst>
              <a:gd name="adj" fmla="val 20833"/>
            </a:avLst>
          </a:prstGeom>
          <a:solidFill>
            <a:srgbClr val="1F2430"/>
          </a:solidFill>
          <a:ln w="9525">
            <a:solidFill>
              <a:srgbClr val="1F2430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896112" y="5715000"/>
            <a:ext cx="5120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비교함 2/3   [마블링 11GB+ ✕]   [시월모바일 50GB ✕]   [ + ]</a:t>
            </a:r>
            <a:endParaRPr lang="en-US" sz="1000" dirty="0"/>
          </a:p>
        </p:txBody>
      </p:sp>
      <p:sp>
        <p:nvSpPr>
          <p:cNvPr id="49" name="Text 47"/>
          <p:cNvSpPr txBox="1"/>
          <p:nvPr/>
        </p:nvSpPr>
        <p:spPr>
          <a:xfrm>
            <a:off x="6583680" y="5788152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FA5A47"/>
          </a:solidFill>
          <a:ln w="9525">
            <a:solidFill>
              <a:srgbClr val="FA5A4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비교하기</a:t>
            </a:r>
            <a:endParaRPr lang="en-US" sz="1000" dirty="0"/>
          </a:p>
        </p:txBody>
      </p:sp>
      <p:sp>
        <p:nvSpPr>
          <p:cNvPr id="50" name="Text 48"/>
          <p:cNvSpPr txBox="1"/>
          <p:nvPr/>
        </p:nvSpPr>
        <p:spPr>
          <a:xfrm>
            <a:off x="8275320" y="1783080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필터 6종</a:t>
            </a:r>
            <a:endParaRPr lang="en-US" sz="1250" dirty="0"/>
          </a:p>
        </p:txBody>
      </p:sp>
      <p:sp>
        <p:nvSpPr>
          <p:cNvPr id="51" name="Text 49"/>
          <p:cNvSpPr txBox="1"/>
          <p:nvPr/>
        </p:nvSpPr>
        <p:spPr>
          <a:xfrm>
            <a:off x="8275320" y="2084832"/>
            <a:ext cx="3337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통신망 · 데이터 · 세대 · 월 요금 · 브랜드 · 혜택. 필터 상태는 URL 쿼리에 저장(공유·뒤로가기 유지)</a:t>
            </a:r>
            <a:endParaRPr lang="en-US" sz="1050" dirty="0"/>
          </a:p>
        </p:txBody>
      </p:sp>
      <p:sp>
        <p:nvSpPr>
          <p:cNvPr id="52" name="Text 50"/>
          <p:cNvSpPr txBox="1"/>
          <p:nvPr/>
        </p:nvSpPr>
        <p:spPr>
          <a:xfrm>
            <a:off x="8275320" y="2898648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메인에서 이어받기</a:t>
            </a:r>
            <a:endParaRPr lang="en-US" sz="1250" dirty="0"/>
          </a:p>
        </p:txBody>
      </p:sp>
      <p:sp>
        <p:nvSpPr>
          <p:cNvPr id="53" name="Text 51"/>
          <p:cNvSpPr txBox="1"/>
          <p:nvPr/>
        </p:nvSpPr>
        <p:spPr>
          <a:xfrm>
            <a:off x="8275320" y="3200400"/>
            <a:ext cx="3337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계산기 → 망·데이터, 제휴사 탭 → 브랜드가 자동 적용</a:t>
            </a:r>
            <a:endParaRPr lang="en-US" sz="1050" dirty="0"/>
          </a:p>
        </p:txBody>
      </p:sp>
      <p:sp>
        <p:nvSpPr>
          <p:cNvPr id="54" name="Text 52"/>
          <p:cNvSpPr txBox="1"/>
          <p:nvPr/>
        </p:nvSpPr>
        <p:spPr>
          <a:xfrm>
            <a:off x="8275320" y="4014216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정렬 · 보기</a:t>
            </a:r>
            <a:endParaRPr lang="en-US" sz="1250" dirty="0"/>
          </a:p>
        </p:txBody>
      </p:sp>
      <p:sp>
        <p:nvSpPr>
          <p:cNvPr id="55" name="Text 53"/>
          <p:cNvSpPr txBox="1"/>
          <p:nvPr/>
        </p:nvSpPr>
        <p:spPr>
          <a:xfrm>
            <a:off x="8275320" y="4315968"/>
            <a:ext cx="3337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가격순 · 데이터순 · GB당 요금순 · 인기순, 카드/표 보기, 24개씩 더보기</a:t>
            </a:r>
            <a:endParaRPr lang="en-US" sz="1050" dirty="0"/>
          </a:p>
        </p:txBody>
      </p:sp>
      <p:sp>
        <p:nvSpPr>
          <p:cNvPr id="56" name="Text 54"/>
          <p:cNvSpPr txBox="1"/>
          <p:nvPr/>
        </p:nvSpPr>
        <p:spPr>
          <a:xfrm>
            <a:off x="8275320" y="5129784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비교함</a:t>
            </a:r>
            <a:endParaRPr lang="en-US" sz="1250" dirty="0"/>
          </a:p>
        </p:txBody>
      </p:sp>
      <p:sp>
        <p:nvSpPr>
          <p:cNvPr id="57" name="Text 55"/>
          <p:cNvSpPr txBox="1"/>
          <p:nvPr/>
        </p:nvSpPr>
        <p:spPr>
          <a:xfrm>
            <a:off x="8275320" y="5431536"/>
            <a:ext cx="3337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3개, 비로그인도 사용. 비교 모달에서 항목별 최저 요금 · 최대 데이터에 ★ 표시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5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 하위 페이지 · S2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요금제 상세   /plans/:planId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070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im010 자체 상세 페이지를 두고, 가입은 제휴사 페이지로 연결합니다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9052560" y="6473952"/>
            <a:ext cx="2587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im010 홈페이지 기획서   19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7406640" cy="4480560"/>
          </a:xfrm>
          <a:prstGeom prst="roundRect">
            <a:avLst>
              <a:gd name="adj" fmla="val 2041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965960"/>
            <a:ext cx="598932" cy="237744"/>
          </a:xfrm>
          <a:prstGeom prst="roundRect">
            <a:avLst>
              <a:gd name="adj" fmla="val 50000"/>
            </a:avLst>
          </a:prstGeom>
          <a:solidFill>
            <a:srgbClr val="FFE9E5"/>
          </a:solidFill>
          <a:ln w="9525">
            <a:solidFill>
              <a:srgbClr val="FFE9E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마블링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536192" y="1965960"/>
            <a:ext cx="817372" cy="237744"/>
          </a:xfrm>
          <a:prstGeom prst="roundRect">
            <a:avLst>
              <a:gd name="adj" fmla="val 50000"/>
            </a:avLst>
          </a:prstGeom>
          <a:solidFill>
            <a:srgbClr val="FFB020"/>
          </a:solidFill>
          <a:ln w="9525">
            <a:solidFill>
              <a:srgbClr val="FFB02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A2A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이달의 1위</a:t>
            </a:r>
            <a:endParaRPr lang="en-US" sz="8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28600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넉넉 11GB+ 요금제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267004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11GB + 매일 2GB · SKT망 · 5G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777240" y="3017520"/>
            <a:ext cx="1097280" cy="658368"/>
          </a:xfrm>
          <a:prstGeom prst="roundRect">
            <a:avLst>
              <a:gd name="adj" fmla="val 11111"/>
            </a:avLst>
          </a:prstGeom>
          <a:solidFill>
            <a:srgbClr val="F4F5F7"/>
          </a:solidFill>
          <a:ln w="9525">
            <a:solidFill>
              <a:srgbClr val="F4F5F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3072384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</a:t>
            </a:r>
            <a:endParaRPr lang="en-US" sz="85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329184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11GB+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1965960" y="3017520"/>
            <a:ext cx="1097280" cy="658368"/>
          </a:xfrm>
          <a:prstGeom prst="roundRect">
            <a:avLst>
              <a:gd name="adj" fmla="val 11111"/>
            </a:avLst>
          </a:prstGeom>
          <a:solidFill>
            <a:srgbClr val="F4F5F7"/>
          </a:solidFill>
          <a:ln w="9525">
            <a:solidFill>
              <a:srgbClr val="F4F5F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965960" y="3072384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통화</a:t>
            </a:r>
            <a:endParaRPr lang="en-US" sz="850" dirty="0"/>
          </a:p>
        </p:txBody>
      </p:sp>
      <p:sp>
        <p:nvSpPr>
          <p:cNvPr id="16" name="Text 14"/>
          <p:cNvSpPr txBox="1"/>
          <p:nvPr/>
        </p:nvSpPr>
        <p:spPr>
          <a:xfrm>
            <a:off x="1965960" y="329184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제공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154680" y="3017520"/>
            <a:ext cx="1097280" cy="658368"/>
          </a:xfrm>
          <a:prstGeom prst="roundRect">
            <a:avLst>
              <a:gd name="adj" fmla="val 11111"/>
            </a:avLst>
          </a:prstGeom>
          <a:solidFill>
            <a:srgbClr val="F4F5F7"/>
          </a:solidFill>
          <a:ln w="9525">
            <a:solidFill>
              <a:srgbClr val="F4F5F7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154680" y="3072384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문자</a:t>
            </a:r>
            <a:endParaRPr lang="en-US" sz="850" dirty="0"/>
          </a:p>
        </p:txBody>
      </p:sp>
      <p:sp>
        <p:nvSpPr>
          <p:cNvPr id="19" name="Text 17"/>
          <p:cNvSpPr txBox="1"/>
          <p:nvPr/>
        </p:nvSpPr>
        <p:spPr>
          <a:xfrm>
            <a:off x="3154680" y="329184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제공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343400" y="3017520"/>
            <a:ext cx="1097280" cy="658368"/>
          </a:xfrm>
          <a:prstGeom prst="roundRect">
            <a:avLst>
              <a:gd name="adj" fmla="val 11111"/>
            </a:avLst>
          </a:prstGeom>
          <a:solidFill>
            <a:srgbClr val="F4F5F7"/>
          </a:solidFill>
          <a:ln w="9525">
            <a:solidFill>
              <a:srgbClr val="F4F5F7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343400" y="3072384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소진 시</a:t>
            </a:r>
            <a:endParaRPr lang="en-US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4343400" y="329184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1Mbps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777240" y="382219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요금 상세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777240" y="4059936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기본료 16,500원 · 약정 없음 · 유심비 0원 · 개통 수수료 0원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777240" y="437083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혜택 · 유의사항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777240" y="4608576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신규·번호이동 가입 시 유심비 무료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매일 2GB 소진 후 1Mbps로 계속 사용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777240" y="512064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비슷한 요금제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777240" y="5394960"/>
            <a:ext cx="1481328" cy="640080"/>
          </a:xfrm>
          <a:prstGeom prst="roundRect">
            <a:avLst>
              <a:gd name="adj" fmla="val 11429"/>
            </a:avLst>
          </a:prstGeom>
          <a:solidFill>
            <a:srgbClr val="F4F5F7"/>
          </a:solidFill>
          <a:ln w="9525">
            <a:solidFill>
              <a:srgbClr val="F4F5F7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77440" y="5394960"/>
            <a:ext cx="1481328" cy="640080"/>
          </a:xfrm>
          <a:prstGeom prst="roundRect">
            <a:avLst>
              <a:gd name="adj" fmla="val 11429"/>
            </a:avLst>
          </a:prstGeom>
          <a:solidFill>
            <a:srgbClr val="F4F5F7"/>
          </a:solidFill>
          <a:ln w="9525">
            <a:solidFill>
              <a:srgbClr val="F4F5F7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977640" y="5394960"/>
            <a:ext cx="1481328" cy="640080"/>
          </a:xfrm>
          <a:prstGeom prst="roundRect">
            <a:avLst>
              <a:gd name="adj" fmla="val 11429"/>
            </a:avLst>
          </a:prstGeom>
          <a:solidFill>
            <a:srgbClr val="F4F5F7"/>
          </a:solidFill>
          <a:ln w="9525">
            <a:solidFill>
              <a:srgbClr val="F4F5F7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760720" y="1965960"/>
            <a:ext cx="2011680" cy="274320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  <a:effectLst>
            <a:outerShdw sx="100000" sy="100000" kx="0" ky="0" algn="bl" rotWithShape="0" blurRad="127000" dist="38100" dir="5400000">
              <a:srgbClr val="1F2430">
                <a:alpha val="14000"/>
              </a:srgbClr>
            </a:outerShdw>
          </a:effectLst>
        </p:spPr>
      </p:sp>
      <p:sp>
        <p:nvSpPr>
          <p:cNvPr id="32" name="Text 30"/>
          <p:cNvSpPr txBox="1"/>
          <p:nvPr/>
        </p:nvSpPr>
        <p:spPr>
          <a:xfrm>
            <a:off x="5897880" y="210312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 </a:t>
            </a:r>
            <a:pPr indent="0" marL="0">
              <a:buNone/>
            </a:pPr>
            <a:r>
              <a:rPr lang="en-US" sz="2000" b="1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16,500</a:t>
            </a:r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5897880" y="2542032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3사 평균 대비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 27,400원 절약 (62%)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5897880" y="3154680"/>
            <a:ext cx="1737360" cy="347472"/>
          </a:xfrm>
          <a:prstGeom prst="roundRect">
            <a:avLst>
              <a:gd name="adj" fmla="val 50000"/>
            </a:avLst>
          </a:prstGeom>
          <a:solidFill>
            <a:srgbClr val="FA5A47"/>
          </a:solidFill>
          <a:ln w="9525">
            <a:solidFill>
              <a:srgbClr val="FA5A4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가입하러 가기 ↗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5897880" y="3611880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F243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♡ 관심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6793992" y="3611880"/>
            <a:ext cx="841248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F243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비교 담기</a:t>
            </a:r>
            <a:endParaRPr lang="en-US" sz="900" dirty="0"/>
          </a:p>
        </p:txBody>
      </p:sp>
      <p:sp>
        <p:nvSpPr>
          <p:cNvPr id="37" name="Text 35"/>
          <p:cNvSpPr txBox="1"/>
          <p:nvPr/>
        </p:nvSpPr>
        <p:spPr>
          <a:xfrm>
            <a:off x="5897880" y="4041648"/>
            <a:ext cx="1783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마블링 사이트로 이동해요</a:t>
            </a:r>
            <a:endParaRPr lang="en-US" sz="850" dirty="0"/>
          </a:p>
        </p:txBody>
      </p:sp>
      <p:sp>
        <p:nvSpPr>
          <p:cNvPr id="38" name="Text 36"/>
          <p:cNvSpPr txBox="1"/>
          <p:nvPr/>
        </p:nvSpPr>
        <p:spPr>
          <a:xfrm>
            <a:off x="5760720" y="48006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← 우측 고정 (모바일: 하단 고정 바)</a:t>
            </a:r>
            <a:endParaRPr lang="en-US" sz="850" dirty="0"/>
          </a:p>
        </p:txBody>
      </p:sp>
      <p:sp>
        <p:nvSpPr>
          <p:cNvPr id="39" name="Text 37"/>
          <p:cNvSpPr txBox="1"/>
          <p:nvPr/>
        </p:nvSpPr>
        <p:spPr>
          <a:xfrm>
            <a:off x="8275320" y="1783080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할인 요금제 표기</a:t>
            </a:r>
            <a:endParaRPr lang="en-US" sz="1250" dirty="0"/>
          </a:p>
        </p:txBody>
      </p:sp>
      <p:sp>
        <p:nvSpPr>
          <p:cNvPr id="40" name="Text 38"/>
          <p:cNvSpPr txBox="1"/>
          <p:nvPr/>
        </p:nvSpPr>
        <p:spPr>
          <a:xfrm>
            <a:off x="8275320" y="2084832"/>
            <a:ext cx="3337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할인 후 요금을 반드시 함께 표기 — 예: 6개월간 12,900원 → 이후 18,700원</a:t>
            </a:r>
            <a:endParaRPr lang="en-US" sz="1050" dirty="0"/>
          </a:p>
        </p:txBody>
      </p:sp>
      <p:sp>
        <p:nvSpPr>
          <p:cNvPr id="41" name="Text 39"/>
          <p:cNvSpPr txBox="1"/>
          <p:nvPr/>
        </p:nvSpPr>
        <p:spPr>
          <a:xfrm>
            <a:off x="8275320" y="2898648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판매 종료</a:t>
            </a:r>
            <a:endParaRPr lang="en-US" sz="1250" dirty="0"/>
          </a:p>
        </p:txBody>
      </p:sp>
      <p:sp>
        <p:nvSpPr>
          <p:cNvPr id="42" name="Text 40"/>
          <p:cNvSpPr txBox="1"/>
          <p:nvPr/>
        </p:nvSpPr>
        <p:spPr>
          <a:xfrm>
            <a:off x="8275320" y="3200400"/>
            <a:ext cx="3337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회색 배너 "판매가 종료된 요금제예요", 가입 버튼 비활성, 비슷한 요금제 강조</a:t>
            </a:r>
            <a:endParaRPr lang="en-US" sz="1050" dirty="0"/>
          </a:p>
        </p:txBody>
      </p:sp>
      <p:sp>
        <p:nvSpPr>
          <p:cNvPr id="43" name="Text 41"/>
          <p:cNvSpPr txBox="1"/>
          <p:nvPr/>
        </p:nvSpPr>
        <p:spPr>
          <a:xfrm>
            <a:off x="8275320" y="4014216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비슷한 요금제</a:t>
            </a:r>
            <a:endParaRPr lang="en-US" sz="1250" dirty="0"/>
          </a:p>
        </p:txBody>
      </p:sp>
      <p:sp>
        <p:nvSpPr>
          <p:cNvPr id="44" name="Text 42"/>
          <p:cNvSpPr txBox="1"/>
          <p:nvPr/>
        </p:nvSpPr>
        <p:spPr>
          <a:xfrm>
            <a:off x="8275320" y="4315968"/>
            <a:ext cx="3337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망, 데이터 ±50% 구간, 가격순 최대 3개</a:t>
            </a:r>
            <a:endParaRPr lang="en-US" sz="1050" dirty="0"/>
          </a:p>
        </p:txBody>
      </p:sp>
      <p:sp>
        <p:nvSpPr>
          <p:cNvPr id="45" name="Text 43"/>
          <p:cNvSpPr txBox="1"/>
          <p:nvPr/>
        </p:nvSpPr>
        <p:spPr>
          <a:xfrm>
            <a:off x="8275320" y="5129784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 필요</a:t>
            </a:r>
            <a:endParaRPr lang="en-US" sz="1250" dirty="0"/>
          </a:p>
        </p:txBody>
      </p:sp>
      <p:sp>
        <p:nvSpPr>
          <p:cNvPr id="46" name="Text 44"/>
          <p:cNvSpPr txBox="1"/>
          <p:nvPr/>
        </p:nvSpPr>
        <p:spPr>
          <a:xfrm>
            <a:off x="8275320" y="5431536"/>
            <a:ext cx="3337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제휴사 유입 추적 파라미터(utm 등)와 제휴 수수료 정산 기준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5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 하위 페이지 · S3 · S9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이벤트와 오류 페이지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070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이벤트는 목록 · 상세 2단계, 오류 페이지는 다음 행동 버튼을 함께 제공합니다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9052560" y="6473952"/>
            <a:ext cx="2587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im010 홈페이지 기획서   20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755648"/>
            <a:ext cx="713232" cy="292608"/>
          </a:xfrm>
          <a:prstGeom prst="roundRect">
            <a:avLst>
              <a:gd name="adj" fmla="val 50000"/>
            </a:avLst>
          </a:prstGeom>
          <a:solidFill>
            <a:srgbClr val="1F2430"/>
          </a:solidFill>
          <a:ln w="9525">
            <a:solidFill>
              <a:srgbClr val="1F243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진행 중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353312" y="1755648"/>
            <a:ext cx="510032" cy="292608"/>
          </a:xfrm>
          <a:prstGeom prst="roundRect">
            <a:avLst>
              <a:gd name="adj" fmla="val 50000"/>
            </a:avLst>
          </a:prstGeom>
          <a:solidFill>
            <a:srgbClr val="F4F5F7"/>
          </a:solidFill>
          <a:ln w="9525">
            <a:solidFill>
              <a:srgbClr val="F4F5F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종료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6537960" y="1755648"/>
            <a:ext cx="107645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9E7E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브랜드 ▾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48640" y="2240280"/>
            <a:ext cx="2377440" cy="274320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  <a:effectLst>
            <a:outerShdw sx="100000" sy="100000" kx="0" ky="0" algn="bl" rotWithShape="0" blurRad="127000" dist="38100" dir="5400000">
              <a:srgbClr val="1F2430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48640" y="2240280"/>
            <a:ext cx="2377440" cy="1280160"/>
          </a:xfrm>
          <a:prstGeom prst="roundRect">
            <a:avLst>
              <a:gd name="adj" fmla="val 8571"/>
            </a:avLst>
          </a:prstGeom>
          <a:solidFill>
            <a:srgbClr val="FDECC8"/>
          </a:solidFill>
          <a:ln w="9525">
            <a:solidFill>
              <a:srgbClr val="FDECC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2240280"/>
            <a:ext cx="2377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썸네일 16:9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3657600"/>
            <a:ext cx="795782" cy="228600"/>
          </a:xfrm>
          <a:prstGeom prst="roundRect">
            <a:avLst>
              <a:gd name="adj" fmla="val 50000"/>
            </a:avLst>
          </a:prstGeom>
          <a:solidFill>
            <a:srgbClr val="FDECC8"/>
          </a:solidFill>
          <a:ln w="9525">
            <a:solidFill>
              <a:srgbClr val="FDECC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B26A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시월모바일</a:t>
            </a:r>
            <a:endParaRPr lang="en-US" sz="850" dirty="0"/>
          </a:p>
        </p:txBody>
      </p:sp>
      <p:sp>
        <p:nvSpPr>
          <p:cNvPr id="13" name="Text 11"/>
          <p:cNvSpPr txBox="1"/>
          <p:nvPr/>
        </p:nvSpPr>
        <p:spPr>
          <a:xfrm>
            <a:off x="1573022" y="3657600"/>
            <a:ext cx="515112" cy="228600"/>
          </a:xfrm>
          <a:prstGeom prst="roundRect">
            <a:avLst>
              <a:gd name="adj" fmla="val 50000"/>
            </a:avLst>
          </a:prstGeom>
          <a:solidFill>
            <a:srgbClr val="1F2430"/>
          </a:solidFill>
          <a:ln w="9525">
            <a:solidFill>
              <a:srgbClr val="1F243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D-12</a:t>
            </a:r>
            <a:endParaRPr lang="en-US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397764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첫달 요금 0원 이벤트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685800" y="4526280"/>
            <a:ext cx="2148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10.01 ~ 10.31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063240" y="2240280"/>
            <a:ext cx="2377440" cy="274320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  <a:effectLst>
            <a:outerShdw sx="100000" sy="100000" kx="0" ky="0" algn="bl" rotWithShape="0" blurRad="127000" dist="38100" dir="5400000">
              <a:srgbClr val="1F2430">
                <a:alpha val="14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063240" y="2240280"/>
            <a:ext cx="2377440" cy="1280160"/>
          </a:xfrm>
          <a:prstGeom prst="roundRect">
            <a:avLst>
              <a:gd name="adj" fmla="val 8571"/>
            </a:avLst>
          </a:prstGeom>
          <a:solidFill>
            <a:srgbClr val="FFE4DF"/>
          </a:solidFill>
          <a:ln w="9525">
            <a:solidFill>
              <a:srgbClr val="FFE4D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063240" y="2240280"/>
            <a:ext cx="2377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썸네일 16:9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3200400" y="3657600"/>
            <a:ext cx="579882" cy="228600"/>
          </a:xfrm>
          <a:prstGeom prst="roundRect">
            <a:avLst>
              <a:gd name="adj" fmla="val 50000"/>
            </a:avLst>
          </a:prstGeom>
          <a:solidFill>
            <a:srgbClr val="FA5A47"/>
          </a:solidFill>
          <a:ln w="9525">
            <a:solidFill>
              <a:srgbClr val="FA5A4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im010</a:t>
            </a:r>
            <a:endParaRPr lang="en-US" sz="850" dirty="0"/>
          </a:p>
        </p:txBody>
      </p:sp>
      <p:sp>
        <p:nvSpPr>
          <p:cNvPr id="20" name="Text 18"/>
          <p:cNvSpPr txBox="1"/>
          <p:nvPr/>
        </p:nvSpPr>
        <p:spPr>
          <a:xfrm>
            <a:off x="3871722" y="3657600"/>
            <a:ext cx="450342" cy="228600"/>
          </a:xfrm>
          <a:prstGeom prst="roundRect">
            <a:avLst>
              <a:gd name="adj" fmla="val 50000"/>
            </a:avLst>
          </a:prstGeom>
          <a:solidFill>
            <a:srgbClr val="1F2430"/>
          </a:solidFill>
          <a:ln w="9525">
            <a:solidFill>
              <a:srgbClr val="1F243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D-3</a:t>
            </a:r>
            <a:endParaRPr lang="en-US" sz="850" dirty="0"/>
          </a:p>
        </p:txBody>
      </p:sp>
      <p:sp>
        <p:nvSpPr>
          <p:cNvPr id="21" name="Text 19"/>
          <p:cNvSpPr txBox="1"/>
          <p:nvPr/>
        </p:nvSpPr>
        <p:spPr>
          <a:xfrm>
            <a:off x="3200400" y="397764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가입 인증하고 커피 받기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3200400" y="4526280"/>
            <a:ext cx="2148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09.20 ~ 10.04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577840" y="2240280"/>
            <a:ext cx="2377440" cy="274320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  <a:effectLst>
            <a:outerShdw sx="100000" sy="100000" kx="0" ky="0" algn="bl" rotWithShape="0" blurRad="127000" dist="38100" dir="5400000">
              <a:srgbClr val="1F2430">
                <a:alpha val="14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5577840" y="2240280"/>
            <a:ext cx="2377440" cy="1280160"/>
          </a:xfrm>
          <a:prstGeom prst="roundRect">
            <a:avLst>
              <a:gd name="adj" fmla="val 8571"/>
            </a:avLst>
          </a:prstGeom>
          <a:solidFill>
            <a:srgbClr val="E6F0FF"/>
          </a:solidFill>
          <a:ln w="9525">
            <a:solidFill>
              <a:srgbClr val="E6F0F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577840" y="2240280"/>
            <a:ext cx="2377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썸네일 16:9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5715000" y="3657600"/>
            <a:ext cx="795782" cy="228600"/>
          </a:xfrm>
          <a:prstGeom prst="roundRect">
            <a:avLst>
              <a:gd name="adj" fmla="val 50000"/>
            </a:avLst>
          </a:prstGeom>
          <a:solidFill>
            <a:srgbClr val="E6F0FF"/>
          </a:solidFill>
          <a:ln w="9525">
            <a:solidFill>
              <a:srgbClr val="E6F0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158C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토리모바일</a:t>
            </a:r>
            <a:endParaRPr lang="en-US" sz="850" dirty="0"/>
          </a:p>
        </p:txBody>
      </p:sp>
      <p:sp>
        <p:nvSpPr>
          <p:cNvPr id="27" name="Text 25"/>
          <p:cNvSpPr txBox="1"/>
          <p:nvPr/>
        </p:nvSpPr>
        <p:spPr>
          <a:xfrm>
            <a:off x="6602222" y="3657600"/>
            <a:ext cx="471932" cy="228600"/>
          </a:xfrm>
          <a:prstGeom prst="roundRect">
            <a:avLst>
              <a:gd name="adj" fmla="val 50000"/>
            </a:avLst>
          </a:prstGeom>
          <a:solidFill>
            <a:srgbClr val="F4F5F7"/>
          </a:solidFill>
          <a:ln w="9525">
            <a:solidFill>
              <a:srgbClr val="F4F5F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상시</a:t>
            </a:r>
            <a:endParaRPr lang="en-US" sz="850" dirty="0"/>
          </a:p>
        </p:txBody>
      </p:sp>
      <p:sp>
        <p:nvSpPr>
          <p:cNvPr id="28" name="Text 26"/>
          <p:cNvSpPr txBox="1"/>
          <p:nvPr/>
        </p:nvSpPr>
        <p:spPr>
          <a:xfrm>
            <a:off x="5715000" y="397764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번호이동 혜택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5715000" y="4526280"/>
            <a:ext cx="2148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상시 진행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548640" y="5166360"/>
            <a:ext cx="7406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정렬: 진행 중은 마감 임박순, 종료는 종료일 최신순 · 종료 카드는 흑백 + "종료"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상세: 참여 방법 · 유의사항 · 대상 요금제 카드 · 링크 복사 · 이미지 대체 텍스트 필수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 필요: im010 자체 참여형 이벤트(경품) 운영 여부 — 초기엔 제휴사 이벤트 모음만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275320" y="1783080"/>
            <a:ext cx="3337560" cy="2514600"/>
          </a:xfrm>
          <a:prstGeom prst="roundRect">
            <a:avLst>
              <a:gd name="adj" fmla="val 5818"/>
            </a:avLst>
          </a:prstGeom>
          <a:solidFill>
            <a:srgbClr val="F4F5F7"/>
          </a:solidFill>
          <a:ln w="9525">
            <a:solidFill>
              <a:srgbClr val="F4F5F7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275320" y="1920240"/>
            <a:ext cx="3337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A5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404</a:t>
            </a:r>
            <a:endParaRPr lang="en-US" sz="4800" dirty="0"/>
          </a:p>
        </p:txBody>
      </p:sp>
      <p:sp>
        <p:nvSpPr>
          <p:cNvPr id="33" name="Text 31"/>
          <p:cNvSpPr txBox="1"/>
          <p:nvPr/>
        </p:nvSpPr>
        <p:spPr>
          <a:xfrm>
            <a:off x="8275320" y="2743200"/>
            <a:ext cx="3337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찾으시는 페이지가 없어요</a:t>
            </a:r>
            <a:endParaRPr lang="en-US" sz="1250" dirty="0"/>
          </a:p>
        </p:txBody>
      </p:sp>
      <p:sp>
        <p:nvSpPr>
          <p:cNvPr id="34" name="Text 32"/>
          <p:cNvSpPr txBox="1"/>
          <p:nvPr/>
        </p:nvSpPr>
        <p:spPr>
          <a:xfrm>
            <a:off x="8275320" y="3044952"/>
            <a:ext cx="3337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주소가 바뀌었거나 삭제된 페이지일 수 있어요.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8641080" y="3474720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FA5A47"/>
          </a:solidFill>
          <a:ln w="9525">
            <a:solidFill>
              <a:srgbClr val="FA5A4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메인으로</a:t>
            </a:r>
            <a:endParaRPr lang="en-US" sz="950" dirty="0"/>
          </a:p>
        </p:txBody>
      </p:sp>
      <p:sp>
        <p:nvSpPr>
          <p:cNvPr id="36" name="Text 34"/>
          <p:cNvSpPr txBox="1"/>
          <p:nvPr/>
        </p:nvSpPr>
        <p:spPr>
          <a:xfrm>
            <a:off x="9921240" y="3474720"/>
            <a:ext cx="132588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F243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요금제 비교하기</a:t>
            </a:r>
            <a:endParaRPr lang="en-US" sz="95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75320" y="4526280"/>
          <a:ext cx="333756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600200"/>
                <a:gridCol w="118872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코드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문구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버튼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404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찾으시는 페이지가 없어요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메인 · 요금제 비교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500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잠시 문제가 생겼어요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새로고침 · 메인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점검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서비스 점검 중이에요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고객센터 안내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5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 하위 페이지 · S4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인터넷 상담 신청   /internet/consult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070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메인 카드에서는 모달(상품 자동 선택), 모바일 · 직접 접속은 전체 페이지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9052560" y="6473952"/>
            <a:ext cx="2587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im010 홈페이지 기획서   21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4206240" cy="448056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  <a:effectLst>
            <a:outerShdw sx="100000" sy="100000" kx="0" ky="0" algn="bl" rotWithShape="0" blurRad="127000" dist="38100" dir="5400000">
              <a:srgbClr val="1F2430">
                <a:alpha val="14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77240" y="192024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인터넷 상담 신청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343400" y="1920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212848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상담사가 영업일 기준 1일 안에 연락드려요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254203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상담 상품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777240" y="2743200"/>
            <a:ext cx="3749040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86968" y="2743200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KT 기가인터넷 1G · 27,500원/월        변경 ▾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309067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777240" y="3291840"/>
            <a:ext cx="3749040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86968" y="3291840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363931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연락처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777240" y="3840480"/>
            <a:ext cx="3749040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86968" y="3840480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010-0000-0000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418795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설치 지역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777240" y="4389120"/>
            <a:ext cx="3749040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86968" y="4389120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시/도 ▾            시/군/구 ▾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777240" y="473659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상담 희망 시간</a:t>
            </a:r>
            <a:endParaRPr lang="en-US" sz="850" dirty="0"/>
          </a:p>
        </p:txBody>
      </p:sp>
      <p:sp>
        <p:nvSpPr>
          <p:cNvPr id="23" name="Text 21"/>
          <p:cNvSpPr txBox="1"/>
          <p:nvPr/>
        </p:nvSpPr>
        <p:spPr>
          <a:xfrm>
            <a:off x="777240" y="4956048"/>
            <a:ext cx="579882" cy="237744"/>
          </a:xfrm>
          <a:prstGeom prst="roundRect">
            <a:avLst>
              <a:gd name="adj" fmla="val 50000"/>
            </a:avLst>
          </a:prstGeom>
          <a:solidFill>
            <a:srgbClr val="FFF1EE"/>
          </a:solidFill>
          <a:ln w="9525">
            <a:solidFill>
              <a:srgbClr val="FA5A4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언제나</a:t>
            </a:r>
            <a:endParaRPr lang="en-US" sz="850" dirty="0"/>
          </a:p>
        </p:txBody>
      </p:sp>
      <p:sp>
        <p:nvSpPr>
          <p:cNvPr id="24" name="Text 22"/>
          <p:cNvSpPr txBox="1"/>
          <p:nvPr/>
        </p:nvSpPr>
        <p:spPr>
          <a:xfrm>
            <a:off x="1430274" y="4956048"/>
            <a:ext cx="471932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9E7E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오전</a:t>
            </a:r>
            <a:endParaRPr lang="en-US" sz="850" dirty="0"/>
          </a:p>
        </p:txBody>
      </p:sp>
      <p:sp>
        <p:nvSpPr>
          <p:cNvPr id="25" name="Text 23"/>
          <p:cNvSpPr txBox="1"/>
          <p:nvPr/>
        </p:nvSpPr>
        <p:spPr>
          <a:xfrm>
            <a:off x="1975358" y="4956048"/>
            <a:ext cx="471932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9E7E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오후</a:t>
            </a:r>
            <a:endParaRPr lang="en-US" sz="850" dirty="0"/>
          </a:p>
        </p:txBody>
      </p:sp>
      <p:sp>
        <p:nvSpPr>
          <p:cNvPr id="26" name="Text 24"/>
          <p:cNvSpPr txBox="1"/>
          <p:nvPr/>
        </p:nvSpPr>
        <p:spPr>
          <a:xfrm>
            <a:off x="2520442" y="4956048"/>
            <a:ext cx="471932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9E7E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저녁</a:t>
            </a:r>
            <a:endParaRPr lang="en-US" sz="850" dirty="0"/>
          </a:p>
        </p:txBody>
      </p:sp>
      <p:sp>
        <p:nvSpPr>
          <p:cNvPr id="27" name="Text 25"/>
          <p:cNvSpPr txBox="1"/>
          <p:nvPr/>
        </p:nvSpPr>
        <p:spPr>
          <a:xfrm>
            <a:off x="777240" y="530352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☐ (필수) 개인정보 수집·이용   ☐ (필수) 제3자 제공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☐ (선택) 마케팅 정보 수신</a:t>
            </a:r>
            <a:endParaRPr lang="en-US" sz="850" dirty="0"/>
          </a:p>
        </p:txBody>
      </p:sp>
      <p:sp>
        <p:nvSpPr>
          <p:cNvPr id="28" name="Text 26"/>
          <p:cNvSpPr txBox="1"/>
          <p:nvPr/>
        </p:nvSpPr>
        <p:spPr>
          <a:xfrm>
            <a:off x="777240" y="5760720"/>
            <a:ext cx="3749040" cy="329184"/>
          </a:xfrm>
          <a:prstGeom prst="roundRect">
            <a:avLst>
              <a:gd name="adj" fmla="val 50000"/>
            </a:avLst>
          </a:prstGeom>
          <a:solidFill>
            <a:srgbClr val="FA5A47"/>
          </a:solidFill>
          <a:ln w="9525">
            <a:solidFill>
              <a:srgbClr val="FA5A4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상담 신청하기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5440680" y="1810512"/>
            <a:ext cx="457200" cy="457200"/>
          </a:xfrm>
          <a:prstGeom prst="ellipse">
            <a:avLst/>
          </a:prstGeom>
          <a:solidFill>
            <a:srgbClr val="FA5A47"/>
          </a:solidFill>
          <a:ln>
            <a:solidFill>
              <a:srgbClr val="FA5A4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943600" y="2039112"/>
            <a:ext cx="548640" cy="0"/>
          </a:xfrm>
          <a:prstGeom prst="line">
            <a:avLst/>
          </a:prstGeom>
          <a:noFill/>
          <a:ln w="19050">
            <a:solidFill>
              <a:srgbClr val="E9E7E3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166360" y="2359152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신청</a:t>
            </a:r>
            <a:endParaRPr lang="en-US" sz="950" dirty="0"/>
          </a:p>
        </p:txBody>
      </p:sp>
      <p:sp>
        <p:nvSpPr>
          <p:cNvPr id="32" name="Text 30"/>
          <p:cNvSpPr txBox="1"/>
          <p:nvPr/>
        </p:nvSpPr>
        <p:spPr>
          <a:xfrm>
            <a:off x="6519672" y="1810512"/>
            <a:ext cx="457200" cy="457200"/>
          </a:xfrm>
          <a:prstGeom prst="ellipse">
            <a:avLst/>
          </a:prstGeom>
          <a:solidFill>
            <a:srgbClr val="FA5A47"/>
          </a:solidFill>
          <a:ln>
            <a:solidFill>
              <a:srgbClr val="FA5A4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7022592" y="2039112"/>
            <a:ext cx="548640" cy="0"/>
          </a:xfrm>
          <a:prstGeom prst="line">
            <a:avLst/>
          </a:prstGeom>
          <a:noFill/>
          <a:ln w="19050">
            <a:solidFill>
              <a:srgbClr val="E9E7E3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245352" y="2359152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완료</a:t>
            </a:r>
            <a:endParaRPr lang="en-US" sz="950" dirty="0"/>
          </a:p>
        </p:txBody>
      </p:sp>
      <p:sp>
        <p:nvSpPr>
          <p:cNvPr id="35" name="Text 33"/>
          <p:cNvSpPr txBox="1"/>
          <p:nvPr/>
        </p:nvSpPr>
        <p:spPr>
          <a:xfrm>
            <a:off x="7598664" y="1810512"/>
            <a:ext cx="457200" cy="457200"/>
          </a:xfrm>
          <a:prstGeom prst="ellipse">
            <a:avLst/>
          </a:prstGeom>
          <a:solidFill>
            <a:srgbClr val="1F2430"/>
          </a:solidFill>
          <a:ln>
            <a:solidFill>
              <a:srgbClr val="1F243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8101584" y="2039112"/>
            <a:ext cx="548640" cy="0"/>
          </a:xfrm>
          <a:prstGeom prst="line">
            <a:avLst/>
          </a:prstGeom>
          <a:noFill/>
          <a:ln w="19050">
            <a:solidFill>
              <a:srgbClr val="E9E7E3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324344" y="2359152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상담사 배정</a:t>
            </a:r>
            <a:endParaRPr lang="en-US" sz="950" dirty="0"/>
          </a:p>
        </p:txBody>
      </p:sp>
      <p:sp>
        <p:nvSpPr>
          <p:cNvPr id="38" name="Text 36"/>
          <p:cNvSpPr txBox="1"/>
          <p:nvPr/>
        </p:nvSpPr>
        <p:spPr>
          <a:xfrm>
            <a:off x="8677656" y="1810512"/>
            <a:ext cx="457200" cy="457200"/>
          </a:xfrm>
          <a:prstGeom prst="ellipse">
            <a:avLst/>
          </a:prstGeom>
          <a:solidFill>
            <a:srgbClr val="1F2430"/>
          </a:solidFill>
          <a:ln>
            <a:solidFill>
              <a:srgbClr val="1F243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9180576" y="2039112"/>
            <a:ext cx="548640" cy="0"/>
          </a:xfrm>
          <a:prstGeom prst="line">
            <a:avLst/>
          </a:prstGeom>
          <a:noFill/>
          <a:ln w="19050">
            <a:solidFill>
              <a:srgbClr val="E9E7E3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8403336" y="2359152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전화 상담</a:t>
            </a:r>
            <a:endParaRPr lang="en-US" sz="950" dirty="0"/>
          </a:p>
        </p:txBody>
      </p:sp>
      <p:sp>
        <p:nvSpPr>
          <p:cNvPr id="41" name="Text 39"/>
          <p:cNvSpPr txBox="1"/>
          <p:nvPr/>
        </p:nvSpPr>
        <p:spPr>
          <a:xfrm>
            <a:off x="9756648" y="1810512"/>
            <a:ext cx="457200" cy="457200"/>
          </a:xfrm>
          <a:prstGeom prst="ellipse">
            <a:avLst/>
          </a:prstGeom>
          <a:solidFill>
            <a:srgbClr val="1F2430"/>
          </a:solidFill>
          <a:ln>
            <a:solidFill>
              <a:srgbClr val="1F243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10259568" y="2039112"/>
            <a:ext cx="548640" cy="0"/>
          </a:xfrm>
          <a:prstGeom prst="line">
            <a:avLst/>
          </a:prstGeom>
          <a:noFill/>
          <a:ln w="19050">
            <a:solidFill>
              <a:srgbClr val="E9E7E3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9482328" y="2359152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개통 · 설치</a:t>
            </a:r>
            <a:endParaRPr lang="en-US" sz="950" dirty="0"/>
          </a:p>
        </p:txBody>
      </p:sp>
      <p:sp>
        <p:nvSpPr>
          <p:cNvPr id="44" name="Text 42"/>
          <p:cNvSpPr txBox="1"/>
          <p:nvPr/>
        </p:nvSpPr>
        <p:spPr>
          <a:xfrm>
            <a:off x="10835640" y="1810512"/>
            <a:ext cx="457200" cy="457200"/>
          </a:xfrm>
          <a:prstGeom prst="ellipse">
            <a:avLst/>
          </a:prstGeom>
          <a:solidFill>
            <a:srgbClr val="1F2430"/>
          </a:solidFill>
          <a:ln>
            <a:solidFill>
              <a:srgbClr val="1F243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10561320" y="2359152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사은품 지급</a:t>
            </a:r>
            <a:endParaRPr lang="en-US" sz="950" dirty="0"/>
          </a:p>
        </p:txBody>
      </p:sp>
      <p:sp>
        <p:nvSpPr>
          <p:cNvPr id="46" name="Text 44"/>
          <p:cNvSpPr txBox="1"/>
          <p:nvPr/>
        </p:nvSpPr>
        <p:spPr>
          <a:xfrm>
            <a:off x="5166360" y="269748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1~2단계: im010 화면 · 접수 알림 문자 발송 · 로그인 시 마이페이지에 기록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5166360" y="3154680"/>
            <a:ext cx="3154680" cy="3108960"/>
          </a:xfrm>
          <a:prstGeom prst="roundRect">
            <a:avLst>
              <a:gd name="adj" fmla="val 3529"/>
            </a:avLst>
          </a:prstGeom>
          <a:solidFill>
            <a:srgbClr val="F4F5F7"/>
          </a:solidFill>
          <a:ln w="9525">
            <a:solidFill>
              <a:srgbClr val="F4F5F7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5367528" y="3319272"/>
            <a:ext cx="2752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· 처리 규칙</a:t>
            </a:r>
            <a:endParaRPr lang="en-US" sz="1200" dirty="0"/>
          </a:p>
        </p:txBody>
      </p:sp>
      <p:sp>
        <p:nvSpPr>
          <p:cNvPr id="49" name="Text 47"/>
          <p:cNvSpPr txBox="1"/>
          <p:nvPr/>
        </p:nvSpPr>
        <p:spPr>
          <a:xfrm>
            <a:off x="5367528" y="3630168"/>
            <a:ext cx="2752344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상담 상품 · 이름 · 연락처 · 설치 지역 · 희망 시간 필수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상세 주소는 받지 않음 (상담 시 확인)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연락처 · 상품 24시간 내 재신청 방지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완료 화면: 접수번호 · 예상 연락 시간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비로그인 신청 허용</a:t>
            </a:r>
            <a:endParaRPr lang="en-US" sz="1150" dirty="0"/>
          </a:p>
        </p:txBody>
      </p:sp>
      <p:sp>
        <p:nvSpPr>
          <p:cNvPr id="50" name="Shape 48"/>
          <p:cNvSpPr/>
          <p:nvPr/>
        </p:nvSpPr>
        <p:spPr>
          <a:xfrm>
            <a:off x="8458200" y="3154680"/>
            <a:ext cx="3154680" cy="3108960"/>
          </a:xfrm>
          <a:prstGeom prst="roundRect">
            <a:avLst>
              <a:gd name="adj" fmla="val 3529"/>
            </a:avLst>
          </a:prstGeom>
          <a:solidFill>
            <a:srgbClr val="FFF1EE"/>
          </a:solidFill>
          <a:ln w="9525">
            <a:solidFill>
              <a:srgbClr val="FFF1EE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8659368" y="3319272"/>
            <a:ext cx="2752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 필요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8659368" y="3630168"/>
            <a:ext cx="2752344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상담 주체: im010 직접 vs 대행사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제3자 제공 대상 (대행사 · 통신사) 명시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개인정보 보유 기간 (법무 검토)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사은품 지급 조건 · 시점 고지 문구</a:t>
            </a:r>
            <a:endParaRPr lang="en-US" sz="11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5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 하위 페이지 · S5 · S6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간편 로그인과 마이페이지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070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아이디 · 비밀번호 가입 없이 간편 로그인만 제공 — 비밀번호 관리 부담과 유출 위험을 줄입니다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9052560" y="6473952"/>
            <a:ext cx="2587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im010 홈페이지 기획서   22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3931920" cy="32918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  <a:effectLst>
            <a:outerShdw sx="100000" sy="100000" kx="0" ky="0" algn="bl" rotWithShape="0" blurRad="127000" dist="38100" dir="5400000">
              <a:srgbClr val="1F2430">
                <a:alpha val="14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548640" y="192024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</a:t>
            </a:r>
            <a:pPr algn="ctr" indent="0" marL="0">
              <a:buNone/>
            </a:pPr>
            <a:r>
              <a:rPr lang="en-US" sz="2200" b="1" dirty="0">
                <a:solidFill>
                  <a:srgbClr val="FA5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010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37744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로그인하고 관심 요금제와 신청 내역을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곳에서 확인하세요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971800"/>
            <a:ext cx="3291840" cy="384048"/>
          </a:xfrm>
          <a:prstGeom prst="roundRect">
            <a:avLst>
              <a:gd name="adj" fmla="val 19048"/>
            </a:avLst>
          </a:prstGeom>
          <a:solidFill>
            <a:srgbClr val="FEE500"/>
          </a:solidFill>
          <a:ln>
            <a:solidFill>
              <a:srgbClr val="FEE5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9191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카카오로 시작하기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3447288"/>
            <a:ext cx="3291840" cy="384048"/>
          </a:xfrm>
          <a:prstGeom prst="roundRect">
            <a:avLst>
              <a:gd name="adj" fmla="val 19048"/>
            </a:avLst>
          </a:prstGeom>
          <a:solidFill>
            <a:srgbClr val="03C75A"/>
          </a:solidFill>
          <a:ln>
            <a:solidFill>
              <a:srgbClr val="03C75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네이버로 시작하기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868680" y="3922776"/>
            <a:ext cx="3291840" cy="384048"/>
          </a:xfrm>
          <a:prstGeom prst="roundRect">
            <a:avLst>
              <a:gd name="adj" fmla="val 19048"/>
            </a:avLst>
          </a:prstGeom>
          <a:solidFill>
            <a:srgbClr val="000000"/>
          </a:solidFill>
          <a:ln>
            <a:solidFill>
              <a:srgbClr val="00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Apple로 시작하기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4805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처음이면 자동으로 가입돼요 · 이용약관 및 개인정보처리방침</a:t>
            </a:r>
            <a:endParaRPr lang="en-US" sz="85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257800"/>
            <a:ext cx="3931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최초 로그인: 제공 정보 수신 → 추가 동의(필수 약관 · 선택 마케팅) → 가입 완료</a:t>
            </a:r>
            <a:endParaRPr lang="en-US" sz="9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 필요: 관심 요금제 · 마이페이지 · 1:1 문의</a:t>
            </a:r>
            <a:endParaRPr lang="en-US" sz="9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 불필요: 비교 · 상세 · 선불 충전 요청 · 상담 신청 · FAQ</a:t>
            </a:r>
            <a:endParaRPr lang="en-US" sz="95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46320" y="1783080"/>
          <a:ext cx="676656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5166360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마이페이지 메뉴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관심 요금제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S1 · S2에서 ♡ 한 요금제 · 저장 이후 가격 변동(▼인하 / ▲인상) · 판매 종료 표시 · 골라서 비교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선불 충전 요청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로그인 상태에서 보낸 요청: 일시 · 통신사 · 번호(010-****-5678) · 금액 · 다시 충전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상담 신청 내역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접수번호 · 상품 · 상태(접수 → 상담 중 → 완료 / 취소) · 접수 상태일 때 신청 취소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1:1 문의 내역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제목 · 작성일 · 상태(답변 대기 / 답변 완료) · 질문과 답변 확인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계정 설정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연결된 간편 로그인 · 이메일 · 마케팅 수신 동의 변경 · 회원 탈퇴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Shape 12"/>
          <p:cNvSpPr/>
          <p:nvPr/>
        </p:nvSpPr>
        <p:spPr>
          <a:xfrm>
            <a:off x="4846320" y="5166360"/>
            <a:ext cx="3291840" cy="1097280"/>
          </a:xfrm>
          <a:prstGeom prst="roundRect">
            <a:avLst>
              <a:gd name="adj" fmla="val 10000"/>
            </a:avLst>
          </a:prstGeom>
          <a:solidFill>
            <a:srgbClr val="FFF1EE"/>
          </a:solidFill>
          <a:ln w="9525">
            <a:solidFill>
              <a:srgbClr val="FFF1E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047488" y="5330952"/>
            <a:ext cx="2889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"충전 내역"이 아닌 "충전 요청"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5047488" y="5641848"/>
            <a:ext cx="28895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결제는 제휴사에서 하므로 im010은 요청 기록만 보여주고 결과는 제휴사에서 확인하도록 안내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8321040" y="5166360"/>
            <a:ext cx="3291840" cy="1097280"/>
          </a:xfrm>
          <a:prstGeom prst="roundRect">
            <a:avLst>
              <a:gd name="adj" fmla="val 10000"/>
            </a:avLst>
          </a:prstGeom>
          <a:solidFill>
            <a:srgbClr val="F4F5F7"/>
          </a:solidFill>
          <a:ln w="9525">
            <a:solidFill>
              <a:srgbClr val="F4F5F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522208" y="5330952"/>
            <a:ext cx="2889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회원 탈퇴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8522208" y="5641848"/>
            <a:ext cx="28895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삭제 범위 안내 → 확인 체크 → 확인 모달 2단계. 진행 중 상담은 탈퇴 후에도 연락 가능 고지</a:t>
            </a:r>
            <a:endParaRPr lang="en-US" sz="9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5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 하위 페이지 · S7 · S8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고객지원과 약관 · 개인정보처리방침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070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FAQ로 먼저 해결하고, 못 찾으면 1:1 문의로 이어지게 합니다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9052560" y="6473952"/>
            <a:ext cx="2587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im010 홈페이지 기획서   23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548640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783080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🔍  궁금한 내용을 검색해보세요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304288"/>
            <a:ext cx="484632" cy="256032"/>
          </a:xfrm>
          <a:prstGeom prst="roundRect">
            <a:avLst>
              <a:gd name="adj" fmla="val 50000"/>
            </a:avLst>
          </a:prstGeom>
          <a:solidFill>
            <a:srgbClr val="1F2430"/>
          </a:solidFill>
          <a:ln w="9525">
            <a:solidFill>
              <a:srgbClr val="1F243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106424" y="2304288"/>
            <a:ext cx="896112" cy="256032"/>
          </a:xfrm>
          <a:prstGeom prst="roundRect">
            <a:avLst>
              <a:gd name="adj" fmla="val 50000"/>
            </a:avLst>
          </a:prstGeom>
          <a:solidFill>
            <a:srgbClr val="F4F5F7"/>
          </a:solidFill>
          <a:ln w="9525">
            <a:solidFill>
              <a:srgbClr val="F4F5F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요금제 비교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2075688" y="2304288"/>
            <a:ext cx="781812" cy="256032"/>
          </a:xfrm>
          <a:prstGeom prst="roundRect">
            <a:avLst>
              <a:gd name="adj" fmla="val 50000"/>
            </a:avLst>
          </a:prstGeom>
          <a:solidFill>
            <a:srgbClr val="F4F5F7"/>
          </a:solidFill>
          <a:ln w="9525">
            <a:solidFill>
              <a:srgbClr val="F4F5F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가입·개통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2930652" y="2304288"/>
            <a:ext cx="781812" cy="256032"/>
          </a:xfrm>
          <a:prstGeom prst="roundRect">
            <a:avLst>
              <a:gd name="adj" fmla="val 50000"/>
            </a:avLst>
          </a:prstGeom>
          <a:solidFill>
            <a:srgbClr val="F4F5F7"/>
          </a:solidFill>
          <a:ln w="9525">
            <a:solidFill>
              <a:srgbClr val="F4F5F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선불 충전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3785616" y="2304288"/>
            <a:ext cx="598932" cy="256032"/>
          </a:xfrm>
          <a:prstGeom prst="roundRect">
            <a:avLst>
              <a:gd name="adj" fmla="val 50000"/>
            </a:avLst>
          </a:prstGeom>
          <a:solidFill>
            <a:srgbClr val="F4F5F7"/>
          </a:solidFill>
          <a:ln w="9525">
            <a:solidFill>
              <a:srgbClr val="F4F5F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인터넷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4457700" y="2304288"/>
            <a:ext cx="484632" cy="256032"/>
          </a:xfrm>
          <a:prstGeom prst="roundRect">
            <a:avLst>
              <a:gd name="adj" fmla="val 50000"/>
            </a:avLst>
          </a:prstGeom>
          <a:solidFill>
            <a:srgbClr val="F4F5F7"/>
          </a:solidFill>
          <a:ln w="9525">
            <a:solidFill>
              <a:srgbClr val="F4F5F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회원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48640" y="2724912"/>
            <a:ext cx="548640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2761488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Q. im010에서 바로 가입할 수 있나요?                                          ▾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31520" y="3090672"/>
            <a:ext cx="5120640" cy="594360"/>
          </a:xfrm>
          <a:prstGeom prst="roundRect">
            <a:avLst>
              <a:gd name="adj" fmla="val 9231"/>
            </a:avLst>
          </a:prstGeom>
          <a:solidFill>
            <a:srgbClr val="F4F5F7"/>
          </a:solidFill>
          <a:ln w="9525">
            <a:solidFill>
              <a:srgbClr val="F4F5F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68680" y="3127248"/>
            <a:ext cx="4892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 im010은 비교 플랫폼이에요. 가입·개통은 각 제휴사 페이지에서 진행되며, 요금제 상세의 "가입하러 가기"로 바로 이동할 수 있어요.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48640" y="3840480"/>
            <a:ext cx="5486400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31520" y="384048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Q. 요금 정보는 얼마나 자주 업데이트되나요?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48640" y="4224528"/>
            <a:ext cx="5486400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31520" y="4224528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Q. 알뜰폰으로 바꾸면 번호가 바뀌나요?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548640" y="4608576"/>
            <a:ext cx="5486400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31520" y="4608576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Q. 인터넷 사은품은 언제 받나요?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548640" y="5074920"/>
            <a:ext cx="5486400" cy="1188720"/>
          </a:xfrm>
          <a:prstGeom prst="roundRect">
            <a:avLst>
              <a:gd name="adj" fmla="val 9231"/>
            </a:avLst>
          </a:prstGeom>
          <a:solidFill>
            <a:srgbClr val="FFF1EE"/>
          </a:solidFill>
          <a:ln w="9525">
            <a:solidFill>
              <a:srgbClr val="FFF1EE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49808" y="5239512"/>
            <a:ext cx="5084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1:1 문의  (로그인 필요)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749808" y="5550408"/>
            <a:ext cx="508406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유형 · 제목(2~50자) · 내용(10~2,000자) · 이미지 첨부 최대 3개. 민감 정보 입력 금지 안내, 답변 전까지만 수정·삭제 가능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6355080" y="178308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개인정보처리방침에 반영할 수집 항목</a:t>
            </a:r>
            <a:endParaRPr lang="en-US" sz="13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55080" y="2194560"/>
          <a:ext cx="525780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2514600"/>
                <a:gridCol w="150876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수집 항목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목적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회원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간편 로그인 식별값, 이름/닉네임, 이메일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회원 관리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인터넷 상담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이름, 연락처, 설치 지역, 희망 시간, 이용 중인 인터넷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상담 진행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선불 충전 요청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통신사, 전화번호, 금액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요청 연결 · 기록(로그인 시)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1:1 문의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문의 내용, 첨부 이미지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문의 응대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자동 수집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접속 기록, 쿠키, 이용 기록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서비스 개선 · 통계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9" name="Shape 26"/>
          <p:cNvSpPr/>
          <p:nvPr/>
        </p:nvSpPr>
        <p:spPr>
          <a:xfrm>
            <a:off x="6355080" y="5349240"/>
            <a:ext cx="5257800" cy="914400"/>
          </a:xfrm>
          <a:prstGeom prst="roundRect">
            <a:avLst>
              <a:gd name="adj" fmla="val 12000"/>
            </a:avLst>
          </a:prstGeom>
          <a:solidFill>
            <a:srgbClr val="F4F5F7"/>
          </a:solidFill>
          <a:ln w="9525">
            <a:solidFill>
              <a:srgbClr val="F4F5F7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556248" y="5513832"/>
            <a:ext cx="4855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약관 · 방침 페이지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6556248" y="5824728"/>
            <a:ext cx="48554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시행일 · 이전 버전 보기 · 목차 앵커. 본문은 법무 검토 필요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5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 데이터 · 운영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소스 · 트래킹 · 관리자 기능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070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메인 목업의 요금제 데이터(PLANS)를 실서비스에서는 관리자 · 제휴사 데이터로 바꿉니다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9052560" y="6473952"/>
            <a:ext cx="2587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im010 홈페이지 기획서   24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3566160" cy="4480560"/>
          </a:xfrm>
          <a:prstGeom prst="roundRect">
            <a:avLst>
              <a:gd name="adj" fmla="val 4103"/>
            </a:avLst>
          </a:prstGeom>
          <a:solidFill>
            <a:srgbClr val="F4F5F7"/>
          </a:solidFill>
          <a:ln w="9525">
            <a:solidFill>
              <a:srgbClr val="F4F5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965960"/>
            <a:ext cx="384048" cy="384048"/>
          </a:xfrm>
          <a:prstGeom prst="ellipse">
            <a:avLst/>
          </a:prstGeom>
          <a:solidFill>
            <a:srgbClr val="FA5A47"/>
          </a:solidFill>
          <a:ln>
            <a:solidFill>
              <a:srgbClr val="FA5A4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1993392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소스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06040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요금제 마스터 · 상세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843784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제휴사 API / CMS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3172968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3사 평균 요금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3410712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관리자 입력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3739896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이달의 요금제 순위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3977640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 집계 + 수동 지정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4306824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인터넷 · 이벤트 · FAQ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4544568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CMS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822960" y="4873752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 통계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5111496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 1회 배치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5440680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상담 · 문의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822960" y="5678424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상담 DB + 알림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297680" y="1783080"/>
            <a:ext cx="3566160" cy="4480560"/>
          </a:xfrm>
          <a:prstGeom prst="roundRect">
            <a:avLst>
              <a:gd name="adj" fmla="val 4103"/>
            </a:avLst>
          </a:prstGeom>
          <a:solidFill>
            <a:srgbClr val="F4F5F7"/>
          </a:solidFill>
          <a:ln w="9525">
            <a:solidFill>
              <a:srgbClr val="F4F5F7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526280" y="1965960"/>
            <a:ext cx="384048" cy="384048"/>
          </a:xfrm>
          <a:prstGeom prst="ellipse">
            <a:avLst/>
          </a:prstGeom>
          <a:solidFill>
            <a:srgbClr val="FA5A47"/>
          </a:solidFill>
          <a:ln>
            <a:solidFill>
              <a:srgbClr val="FA5A4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5029200" y="1993392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트래킹 이벤트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8046720" y="1783080"/>
            <a:ext cx="3566160" cy="4480560"/>
          </a:xfrm>
          <a:prstGeom prst="roundRect">
            <a:avLst>
              <a:gd name="adj" fmla="val 4103"/>
            </a:avLst>
          </a:prstGeom>
          <a:solidFill>
            <a:srgbClr val="F4F5F7"/>
          </a:solidFill>
          <a:ln w="9525">
            <a:solidFill>
              <a:srgbClr val="F4F5F7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275320" y="1965960"/>
            <a:ext cx="384048" cy="384048"/>
          </a:xfrm>
          <a:prstGeom prst="ellipse">
            <a:avLst/>
          </a:prstGeom>
          <a:solidFill>
            <a:srgbClr val="FA5A47"/>
          </a:solidFill>
          <a:ln>
            <a:solidFill>
              <a:srgbClr val="FA5A4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8778240" y="1993392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관리자 (백오피스)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8321040" y="2606040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요금제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8321040" y="2843784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 · 판매 종료 · 3사 평균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8321040" y="3172968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메인 노출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8321040" y="3410712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이달의 요금제 순위 · 배지</a:t>
            </a:r>
            <a:endParaRPr lang="en-US" sz="950" dirty="0"/>
          </a:p>
        </p:txBody>
      </p:sp>
      <p:sp>
        <p:nvSpPr>
          <p:cNvPr id="31" name="Text 29"/>
          <p:cNvSpPr txBox="1"/>
          <p:nvPr/>
        </p:nvSpPr>
        <p:spPr>
          <a:xfrm>
            <a:off x="8321040" y="3739896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이벤트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8321040" y="3977640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에디터 · 썸네일 · 기간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8321040" y="4306824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상담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8321040" y="4544568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목록 · 상태 변경 · 배정</a:t>
            </a:r>
            <a:endParaRPr lang="en-US" sz="950" dirty="0"/>
          </a:p>
        </p:txBody>
      </p:sp>
      <p:sp>
        <p:nvSpPr>
          <p:cNvPr id="35" name="Text 33"/>
          <p:cNvSpPr txBox="1"/>
          <p:nvPr/>
        </p:nvSpPr>
        <p:spPr>
          <a:xfrm>
            <a:off x="8321040" y="4873752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고객지원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8321040" y="5111496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FAQ · 1:1 답변</a:t>
            </a:r>
            <a:endParaRPr lang="en-US" sz="950" dirty="0"/>
          </a:p>
        </p:txBody>
      </p:sp>
      <p:sp>
        <p:nvSpPr>
          <p:cNvPr id="37" name="Text 35"/>
          <p:cNvSpPr txBox="1"/>
          <p:nvPr/>
        </p:nvSpPr>
        <p:spPr>
          <a:xfrm>
            <a:off x="8321040" y="5440680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약관 · 회원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8321040" y="5678424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버전 관리 · 마스킹 조회</a:t>
            </a:r>
            <a:endParaRPr lang="en-US" sz="950" dirty="0"/>
          </a:p>
        </p:txBody>
      </p:sp>
      <p:sp>
        <p:nvSpPr>
          <p:cNvPr id="39" name="Text 37"/>
          <p:cNvSpPr txBox="1"/>
          <p:nvPr/>
        </p:nvSpPr>
        <p:spPr>
          <a:xfrm>
            <a:off x="4553712" y="2560320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calc_change</a:t>
            </a:r>
            <a:endParaRPr lang="en-US" sz="950" dirty="0"/>
          </a:p>
        </p:txBody>
      </p:sp>
      <p:sp>
        <p:nvSpPr>
          <p:cNvPr id="40" name="Text 38"/>
          <p:cNvSpPr txBox="1"/>
          <p:nvPr/>
        </p:nvSpPr>
        <p:spPr>
          <a:xfrm>
            <a:off x="4553712" y="2807208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calc_result_click</a:t>
            </a:r>
            <a:endParaRPr lang="en-US" sz="950" dirty="0"/>
          </a:p>
        </p:txBody>
      </p:sp>
      <p:sp>
        <p:nvSpPr>
          <p:cNvPr id="41" name="Text 39"/>
          <p:cNvSpPr txBox="1"/>
          <p:nvPr/>
        </p:nvSpPr>
        <p:spPr>
          <a:xfrm>
            <a:off x="4553712" y="3054096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plan_click</a:t>
            </a:r>
            <a:endParaRPr lang="en-US" sz="950" dirty="0"/>
          </a:p>
        </p:txBody>
      </p:sp>
      <p:sp>
        <p:nvSpPr>
          <p:cNvPr id="42" name="Text 40"/>
          <p:cNvSpPr txBox="1"/>
          <p:nvPr/>
        </p:nvSpPr>
        <p:spPr>
          <a:xfrm>
            <a:off x="4553712" y="3300984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plan_detail_view</a:t>
            </a:r>
            <a:endParaRPr lang="en-US" sz="950" dirty="0"/>
          </a:p>
        </p:txBody>
      </p:sp>
      <p:sp>
        <p:nvSpPr>
          <p:cNvPr id="43" name="Text 41"/>
          <p:cNvSpPr txBox="1"/>
          <p:nvPr/>
        </p:nvSpPr>
        <p:spPr>
          <a:xfrm>
            <a:off x="4553712" y="3547872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plan_signup_click</a:t>
            </a:r>
            <a:endParaRPr lang="en-US" sz="950" dirty="0"/>
          </a:p>
        </p:txBody>
      </p:sp>
      <p:sp>
        <p:nvSpPr>
          <p:cNvPr id="44" name="Text 42"/>
          <p:cNvSpPr txBox="1"/>
          <p:nvPr/>
        </p:nvSpPr>
        <p:spPr>
          <a:xfrm>
            <a:off x="4553712" y="3794760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plans_filter_change</a:t>
            </a:r>
            <a:endParaRPr lang="en-US" sz="950" dirty="0"/>
          </a:p>
        </p:txBody>
      </p:sp>
      <p:sp>
        <p:nvSpPr>
          <p:cNvPr id="45" name="Text 43"/>
          <p:cNvSpPr txBox="1"/>
          <p:nvPr/>
        </p:nvSpPr>
        <p:spPr>
          <a:xfrm>
            <a:off x="4553712" y="4041648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compare_add</a:t>
            </a:r>
            <a:endParaRPr lang="en-US" sz="950" dirty="0"/>
          </a:p>
        </p:txBody>
      </p:sp>
      <p:sp>
        <p:nvSpPr>
          <p:cNvPr id="46" name="Text 44"/>
          <p:cNvSpPr txBox="1"/>
          <p:nvPr/>
        </p:nvSpPr>
        <p:spPr>
          <a:xfrm>
            <a:off x="4553712" y="4288536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favorite_toggle</a:t>
            </a:r>
            <a:endParaRPr lang="en-US" sz="950" dirty="0"/>
          </a:p>
        </p:txBody>
      </p:sp>
      <p:sp>
        <p:nvSpPr>
          <p:cNvPr id="47" name="Text 45"/>
          <p:cNvSpPr txBox="1"/>
          <p:nvPr/>
        </p:nvSpPr>
        <p:spPr>
          <a:xfrm>
            <a:off x="4553712" y="4535424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prepaid_submit</a:t>
            </a:r>
            <a:endParaRPr lang="en-US" sz="950" dirty="0"/>
          </a:p>
        </p:txBody>
      </p:sp>
      <p:sp>
        <p:nvSpPr>
          <p:cNvPr id="48" name="Text 46"/>
          <p:cNvSpPr txBox="1"/>
          <p:nvPr/>
        </p:nvSpPr>
        <p:spPr>
          <a:xfrm>
            <a:off x="4553712" y="4782312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consult_submit</a:t>
            </a:r>
            <a:endParaRPr lang="en-US" sz="950" dirty="0"/>
          </a:p>
        </p:txBody>
      </p:sp>
      <p:sp>
        <p:nvSpPr>
          <p:cNvPr id="49" name="Text 47"/>
          <p:cNvSpPr txBox="1"/>
          <p:nvPr/>
        </p:nvSpPr>
        <p:spPr>
          <a:xfrm>
            <a:off x="4553712" y="5029200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login_success</a:t>
            </a:r>
            <a:endParaRPr lang="en-US" sz="950" dirty="0"/>
          </a:p>
        </p:txBody>
      </p:sp>
      <p:sp>
        <p:nvSpPr>
          <p:cNvPr id="50" name="Text 48"/>
          <p:cNvSpPr txBox="1"/>
          <p:nvPr/>
        </p:nvSpPr>
        <p:spPr>
          <a:xfrm>
            <a:off x="4553712" y="5276088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faq_search</a:t>
            </a:r>
            <a:endParaRPr lang="en-US" sz="950" dirty="0"/>
          </a:p>
        </p:txBody>
      </p:sp>
      <p:sp>
        <p:nvSpPr>
          <p:cNvPr id="51" name="Text 49"/>
          <p:cNvSpPr txBox="1"/>
          <p:nvPr/>
        </p:nvSpPr>
        <p:spPr>
          <a:xfrm>
            <a:off x="4553712" y="5522976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inquiry_submit</a:t>
            </a:r>
            <a:endParaRPr lang="en-US" sz="950" dirty="0"/>
          </a:p>
        </p:txBody>
      </p:sp>
      <p:sp>
        <p:nvSpPr>
          <p:cNvPr id="52" name="Text 50"/>
          <p:cNvSpPr txBox="1"/>
          <p:nvPr/>
        </p:nvSpPr>
        <p:spPr>
          <a:xfrm>
            <a:off x="4553712" y="58064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 · 연락처 · 전화번호는 파라미터에 넣지 않음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5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 결정 사항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확정이 필요한 14건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070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메인 4건 + 하위 페이지 10건 — 굵게 표시한 항목이 1차 개발 전 우선 결정 대상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9052560" y="6473952"/>
            <a:ext cx="2587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im010 홈페이지 기획서   25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7373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메인</a:t>
            </a:r>
            <a:endParaRPr lang="en-US" sz="12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57400"/>
          <a:ext cx="3931920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352044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#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D9432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실제 사업자 정보 확정 (대표자 · 등록번호 · 통신판매업 · 주소 · 고객센터)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D9432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요금제 · 3사 평균 요금 실데이터와 갱신 주기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선불 결제 제휴사 연동 방식 협의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하위 페이지 기획 → 하위 페이지 기획서 v0.1로 초안 완료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754880" y="17373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하위 페이지</a:t>
            </a:r>
            <a:endParaRPr lang="en-US" sz="1200" dirty="0"/>
          </a:p>
        </p:txBody>
      </p:sp>
      <p:graphicFrame>
        <p:nvGraphicFramePr>
          <p:cNvPr id="5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54880" y="2057400"/>
          <a:ext cx="6858000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777240"/>
                <a:gridCol w="2926080"/>
                <a:gridCol w="2743200"/>
              </a:tblGrid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#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페이지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제안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S2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D9432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자체 상세 vs 아웃링크만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자체 상세 + 가입은 아웃링크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S2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제휴사 유입 추적 · 정산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추적 파라미터 협의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S1·S2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통화 · 문자 · 속도 · 할인 데이터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연동 범위 협의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S3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자체 참여형 이벤트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초기엔 제휴사 이벤트만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S4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D9432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상담 주체 · 제3자 제공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결정 후 동의 문구 확정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S4·S8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D9432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개인정보 보유 기간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법무 검토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S5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간편 로그인 종류 · 세션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카카오 · 네이버 우선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S6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비로그인 충전 요청 기록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기록하지 않음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S7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고객센터 운영 시간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Footer 정보와 함께 확정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공통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메인 #partners 유지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요약 유지, 전체는 S1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F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8229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A5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14300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단계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514600"/>
            <a:ext cx="3291840" cy="2331720"/>
          </a:xfrm>
          <a:prstGeom prst="roundRect">
            <a:avLst>
              <a:gd name="adj" fmla="val 7059"/>
            </a:avLst>
          </a:prstGeom>
          <a:solidFill>
            <a:srgbClr val="2C3345"/>
          </a:solidFill>
          <a:ln w="9525">
            <a:solidFill>
              <a:srgbClr val="2C334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2743200"/>
            <a:ext cx="548640" cy="548640"/>
          </a:xfrm>
          <a:prstGeom prst="ellipse">
            <a:avLst/>
          </a:prstGeom>
          <a:solidFill>
            <a:srgbClr val="FA5A47"/>
          </a:solidFill>
          <a:ln>
            <a:solidFill>
              <a:srgbClr val="FA5A4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34747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 사항 확정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3931920"/>
            <a:ext cx="2788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6CB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상세 페이지 운영 방식, 상담 주체, 개인정보 보유 기간, 사업자 정보, 실데이터 갱신 주기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4023360" y="342900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A5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389120" y="2514600"/>
            <a:ext cx="3291840" cy="2331720"/>
          </a:xfrm>
          <a:prstGeom prst="roundRect">
            <a:avLst>
              <a:gd name="adj" fmla="val 7059"/>
            </a:avLst>
          </a:prstGeom>
          <a:solidFill>
            <a:srgbClr val="2C3345"/>
          </a:solidFill>
          <a:ln w="9525">
            <a:solidFill>
              <a:srgbClr val="2C334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63440" y="2743200"/>
            <a:ext cx="548640" cy="548640"/>
          </a:xfrm>
          <a:prstGeom prst="ellipse">
            <a:avLst/>
          </a:prstGeom>
          <a:solidFill>
            <a:srgbClr val="FA5A47"/>
          </a:solidFill>
          <a:ln>
            <a:solidFill>
              <a:srgbClr val="FA5A4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4663440" y="34747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개발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663440" y="3931920"/>
            <a:ext cx="2788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6CB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S1 전체 비교 · S2 상세 · S4 상담 신청 · S8 약관 · S9 오류 + 메인 실데이터 연동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7680960" y="342900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A5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3200" dirty="0"/>
          </a:p>
        </p:txBody>
      </p:sp>
      <p:sp>
        <p:nvSpPr>
          <p:cNvPr id="14" name="Shape 12"/>
          <p:cNvSpPr/>
          <p:nvPr/>
        </p:nvSpPr>
        <p:spPr>
          <a:xfrm>
            <a:off x="8046720" y="2514600"/>
            <a:ext cx="3291840" cy="2331720"/>
          </a:xfrm>
          <a:prstGeom prst="roundRect">
            <a:avLst>
              <a:gd name="adj" fmla="val 7059"/>
            </a:avLst>
          </a:prstGeom>
          <a:solidFill>
            <a:srgbClr val="2C3345"/>
          </a:solidFill>
          <a:ln w="9525">
            <a:solidFill>
              <a:srgbClr val="2C334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743200"/>
            <a:ext cx="548640" cy="548640"/>
          </a:xfrm>
          <a:prstGeom prst="ellipse">
            <a:avLst/>
          </a:prstGeom>
          <a:solidFill>
            <a:srgbClr val="FA5A47"/>
          </a:solidFill>
          <a:ln>
            <a:solidFill>
              <a:srgbClr val="FA5A4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34747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3차 개발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8321040" y="3931920"/>
            <a:ext cx="2788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6CB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2차: 로그인 · 마이페이지 · 고객지원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C6CB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3차: 이벤트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731520" y="58978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</a:t>
            </a:r>
            <a:pPr indent="0" marL="0">
              <a:buNone/>
            </a:pPr>
            <a:r>
              <a:rPr lang="en-US" sz="1800" b="1" dirty="0">
                <a:solidFill>
                  <a:srgbClr val="FA5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010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7315200" y="59436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F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github.com/chlee-oss/im010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(주)아임공일공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im010 홈페이지 기획서</dc:title>
  <dc:subject>PptxGenJS Presentation</dc:subject>
  <dc:creator>chlee</dc:creator>
  <cp:lastModifiedBy>chlee</cp:lastModifiedBy>
  <cp:revision>1</cp:revision>
  <dcterms:created xsi:type="dcterms:W3CDTF">2026-10-01T04:57:55Z</dcterms:created>
  <dcterms:modified xsi:type="dcterms:W3CDTF">2026-10-01T04:57:55Z</dcterms:modified>
</cp:coreProperties>
</file>