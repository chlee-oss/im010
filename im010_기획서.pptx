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430"/>
                </a:solidFill>
                <a:latin typeface="Malgun Gothic"/>
              </a:defRPr>
            </a:pPr>
            <a:r>
              <a:rPr sz="1200" b="0" i="0" u="none" strike="noStrike">
                <a:solidFill>
                  <a:srgbClr val="1F2430"/>
                </a:solidFill>
                <a:latin typeface="Malgun Gothic"/>
              </a:rPr>
              <a:t>GB당 평균 요금 (원, 낮을수록 효율적)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GB당 평균 요금</c:v>
                </c:pt>
              </c:strCache>
            </c:strRef>
          </c:tx>
          <c:spPr>
            <a:solidFill>
              <a:srgbClr val="1F2430"/>
            </a:solidFill>
            <a:effectLst/>
          </c:spPr>
          <c:invertIfNegative val="0"/>
          <c:dLbls>
            <c:numFmt formatCode="#,##0&quot;원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인스모바일</c:v>
                  </c:pt>
                  <c:pt idx="1">
                    <c:v>마블링</c:v>
                  </c:pt>
                  <c:pt idx="2">
                    <c:v>슈가모바일</c:v>
                  </c:pt>
                  <c:pt idx="3">
                    <c:v>토리모바일</c:v>
                  </c:pt>
                  <c:pt idx="4">
                    <c:v>시월모바일</c:v>
                  </c:pt>
                  <c:pt idx="5">
                    <c:v>조이M</c:v>
                  </c:pt>
                  <c:pt idx="6">
                    <c:v>위너스텔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1450</c:v>
                </c:pt>
                <c:pt idx="1">
                  <c:v>1320</c:v>
                </c:pt>
                <c:pt idx="2">
                  <c:v>1260</c:v>
                </c:pt>
                <c:pt idx="3">
                  <c:v>1180</c:v>
                </c:pt>
                <c:pt idx="4">
                  <c:v>1120</c:v>
                </c:pt>
                <c:pt idx="5">
                  <c:v>1050</c:v>
                </c:pt>
                <c:pt idx="6">
                  <c:v>980</c:v>
                </c:pt>
              </c:numCache>
            </c:numRef>
          </c:val>
        </c:ser>
        <c:dLbls>
          <c:numFmt formatCode="#,##0&quot;원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F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B5262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7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962912" cy="329184"/>
          </a:xfrm>
          <a:prstGeom prst="roundRect">
            <a:avLst>
              <a:gd name="adj" fmla="val 50000"/>
            </a:avLst>
          </a:prstGeom>
          <a:solidFill>
            <a:srgbClr val="FA5A47"/>
          </a:solidFill>
          <a:ln w="9525">
            <a:solidFill>
              <a:srgbClr val="FA5A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알뜰폰 요금비교 플랫폼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9202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</a:t>
            </a:r>
            <a:pPr indent="0" marL="0">
              <a:buNone/>
            </a:pPr>
            <a:r>
              <a:rPr lang="en-US" sz="7200" b="1" dirty="0">
                <a:solidFill>
                  <a:srgbClr val="FA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010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0632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홈페이지 기획서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931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CB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v0.4  ·  하위 페이지 v0.3  ·  백오피스 v0.5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760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2026.10.06   |   (주)아임공일공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 rot="180000">
            <a:off x="8503920" y="822960"/>
            <a:ext cx="2834640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 rot="180000">
            <a:off x="8503920" y="822960"/>
            <a:ext cx="2834640" cy="1600200"/>
          </a:xfrm>
          <a:prstGeom prst="rect">
            <a:avLst/>
          </a:prstGeom>
          <a:noFill/>
          <a:ln/>
        </p:spPr>
        <p:txBody>
          <a:bodyPr wrap="square" lIns="152400" tIns="203200" rIns="203200" bIns="1524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마블링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넉넉 11GB+ 요금제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16,500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원 / 월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SKT 망 · 5G · 소진 시 1Mbps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 rot="-240000">
            <a:off x="7040880" y="2606040"/>
            <a:ext cx="2834640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 rot="-240000">
            <a:off x="7040880" y="2606040"/>
            <a:ext cx="2834640" cy="1600200"/>
          </a:xfrm>
          <a:prstGeom prst="rect">
            <a:avLst/>
          </a:prstGeom>
          <a:noFill/>
          <a:ln/>
        </p:spPr>
        <p:txBody>
          <a:bodyPr wrap="square" lIns="152400" tIns="203200" rIns="203200" bIns="1524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B379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인스모바일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가벼운 3GB 요금제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8,900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원 / 월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LGU+ 망 · LTE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rot="120000">
            <a:off x="8778240" y="4206240"/>
            <a:ext cx="2834640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 rot="120000">
            <a:off x="8778240" y="4206240"/>
            <a:ext cx="2834640" cy="1600200"/>
          </a:xfrm>
          <a:prstGeom prst="rect">
            <a:avLst/>
          </a:prstGeom>
          <a:noFill/>
          <a:ln/>
        </p:spPr>
        <p:txBody>
          <a:bodyPr wrap="square" lIns="152400" tIns="203200" rIns="203200" bIns="1524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6C39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조이M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무제한 요금제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24,900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원 / 월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KT 망 · 5G 완전 무제한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A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344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4023360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FFF1EE"/>
          </a:solidFill>
          <a:ln w="9525">
            <a:solidFill>
              <a:srgbClr val="FFF1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4187952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문서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4498848"/>
            <a:ext cx="288950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im010_홈페이지_기획서.md (v0.4)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im010_하위페이지_기획서.md (v0.3)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im010_백오피스_기획서.md (v0.5)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im010_홈페이지_목업_2.html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685800"/>
            <a:ext cx="658368" cy="658368"/>
          </a:xfrm>
          <a:prstGeom prst="ellipse">
            <a:avLst/>
          </a:prstGeom>
          <a:solidFill>
            <a:srgbClr val="FFF1EE"/>
          </a:solidFill>
          <a:ln>
            <a:solidFill>
              <a:srgbClr val="FFF1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4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70408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개요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108813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 · 타깃 · 핵심 지표, 7개 제휴 브랜드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600200"/>
            <a:ext cx="658368" cy="658368"/>
          </a:xfrm>
          <a:prstGeom prst="ellipse">
            <a:avLst/>
          </a:prstGeom>
          <a:solidFill>
            <a:srgbClr val="FFF1EE"/>
          </a:solidFill>
          <a:ln>
            <a:solidFill>
              <a:srgbClr val="FFF1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4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161848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페이지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200253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구성, 디자인 시스템, 섹션별 설계, 검토 이슈 반영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514600"/>
            <a:ext cx="658368" cy="658368"/>
          </a:xfrm>
          <a:prstGeom prst="ellipse">
            <a:avLst/>
          </a:prstGeom>
          <a:solidFill>
            <a:srgbClr val="FFF1EE"/>
          </a:solidFill>
          <a:ln>
            <a:solidFill>
              <a:srgbClr val="FFF1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4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253288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 페이지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291693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페이지 화면 설계, 공통 규칙, 개발 우선순위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3429000"/>
            <a:ext cx="658368" cy="658368"/>
          </a:xfrm>
          <a:prstGeom prst="ellipse">
            <a:avLst/>
          </a:prstGeom>
          <a:solidFill>
            <a:srgbClr val="FFF1EE"/>
          </a:solidFill>
          <a:ln>
            <a:solidFill>
              <a:srgbClr val="FFF1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4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852160" y="344728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백오피스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852160" y="383133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메뉴 구조, 수집 → 점검 → 승인 → 게시 예약, 접수관리 · 환경설정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4343400"/>
            <a:ext cx="658368" cy="658368"/>
          </a:xfrm>
          <a:prstGeom prst="ellipse">
            <a:avLst/>
          </a:prstGeom>
          <a:solidFill>
            <a:srgbClr val="FFF1EE"/>
          </a:solidFill>
          <a:ln>
            <a:solidFill>
              <a:srgbClr val="FFF1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4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852160" y="436168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· 운영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852160" y="474573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소스, 트래킹 이벤트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5257800"/>
            <a:ext cx="658368" cy="658368"/>
          </a:xfrm>
          <a:prstGeom prst="ellipse">
            <a:avLst/>
          </a:prstGeom>
          <a:solidFill>
            <a:srgbClr val="FFF1EE"/>
          </a:solidFill>
          <a:ln>
            <a:solidFill>
              <a:srgbClr val="FFF1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4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852160" y="527608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사항 · 다음 단계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5852160" y="566013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확정이 필요한 17건과 진행 순서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5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서비스 개요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7개 알뜰폰 브랜드를 한 곳에서 비교하고 가입까지 연결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im010은 비교 플랫폼 — 가입·개통은 각 제휴사에서 진행됩니다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052560" y="6473952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im010 홈페이지 기획서   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029200" cy="1280160"/>
          </a:xfrm>
          <a:prstGeom prst="roundRect">
            <a:avLst>
              <a:gd name="adj" fmla="val 8571"/>
            </a:avLst>
          </a:prstGeom>
          <a:solidFill>
            <a:srgbClr val="FFF1EE"/>
          </a:solidFill>
          <a:ln w="9525">
            <a:solidFill>
              <a:srgbClr val="FFF1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860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7개 제휴 알뜰폰 요금제를 한 곳에서 비교하고 제휴사 개통 페이지로, 인터넷은 제휴업체 신청 페이지로 연결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5029200" cy="1280160"/>
          </a:xfrm>
          <a:prstGeom prst="roundRect">
            <a:avLst>
              <a:gd name="adj" fmla="val 8571"/>
            </a:avLst>
          </a:prstGeom>
          <a:solidFill>
            <a:srgbClr val="FFF1EE"/>
          </a:solidFill>
          <a:ln w="9525">
            <a:solidFill>
              <a:srgbClr val="FFF1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7490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통신비 절감에 관심 있는 통신 3사 이용자, 단기·선불 수요자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709160"/>
            <a:ext cx="5029200" cy="1280160"/>
          </a:xfrm>
          <a:prstGeom prst="roundRect">
            <a:avLst>
              <a:gd name="adj" fmla="val 8571"/>
            </a:avLst>
          </a:prstGeom>
          <a:solidFill>
            <a:srgbClr val="FFF1EE"/>
          </a:solidFill>
          <a:ln w="9525">
            <a:solidFill>
              <a:srgbClr val="FFF1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892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지표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2120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개통하기 클릭 수(알뜰폰 개통신청) · 인터넷 신청 이동 수 · 선불 충전 전환율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제휴 브랜드 7개사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0" y="2240280"/>
            <a:ext cx="1307592" cy="1783080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  <a:effectLst>
            <a:outerShdw sx="100000" sy="100000" kx="0" ky="0" algn="bl" rotWithShape="0" blurRad="127000" dist="38100" dir="5400000">
              <a:srgbClr val="1F2430">
                <a:alpha val="14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080760" y="2423160"/>
            <a:ext cx="637032" cy="274320"/>
          </a:xfrm>
          <a:prstGeom prst="roundRect">
            <a:avLst>
              <a:gd name="adj" fmla="val 50000"/>
            </a:avLst>
          </a:prstGeom>
          <a:solidFill>
            <a:srgbClr val="FFE9E5"/>
          </a:solidFill>
          <a:ln w="9525">
            <a:solidFill>
              <a:srgbClr val="FFE9E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마블링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080760" y="286207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marvelring.com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3200400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후불 요금제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15784" y="2240280"/>
            <a:ext cx="1307592" cy="1783080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  <a:effectLst>
            <a:outerShdw sx="100000" sy="100000" kx="0" ky="0" algn="bl" rotWithShape="0" blurRad="127000" dist="38100" dir="5400000">
              <a:srgbClr val="1F2430">
                <a:alpha val="14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552944" y="2423160"/>
            <a:ext cx="891032" cy="274320"/>
          </a:xfrm>
          <a:prstGeom prst="roundRect">
            <a:avLst>
              <a:gd name="adj" fmla="val 50000"/>
            </a:avLst>
          </a:prstGeom>
          <a:solidFill>
            <a:srgbClr val="E6F0FF"/>
          </a:solidFill>
          <a:ln w="9525">
            <a:solidFill>
              <a:srgbClr val="E6F0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58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토리모바일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552944" y="286207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ntontel.com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552944" y="3200400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후불 요금제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887968" y="2240280"/>
            <a:ext cx="1307592" cy="1783080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  <a:effectLst>
            <a:outerShdw sx="100000" sy="100000" kx="0" ky="0" algn="bl" rotWithShape="0" blurRad="127000" dist="38100" dir="5400000">
              <a:srgbClr val="1F2430">
                <a:alpha val="14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025128" y="2423160"/>
            <a:ext cx="764032" cy="274320"/>
          </a:xfrm>
          <a:prstGeom prst="roundRect">
            <a:avLst>
              <a:gd name="adj" fmla="val 50000"/>
            </a:avLst>
          </a:prstGeom>
          <a:solidFill>
            <a:srgbClr val="E9F8EE"/>
          </a:solidFill>
          <a:ln w="9525">
            <a:solidFill>
              <a:srgbClr val="E9F8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9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위너스텔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9025128" y="286207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idowell.co.kr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9025128" y="3200400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후불 요금제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025128" y="3538728"/>
            <a:ext cx="781812" cy="237744"/>
          </a:xfrm>
          <a:prstGeom prst="roundRect">
            <a:avLst>
              <a:gd name="adj" fmla="val 50000"/>
            </a:avLst>
          </a:prstGeom>
          <a:solidFill>
            <a:srgbClr val="1F2430"/>
          </a:solidFill>
          <a:ln w="9525">
            <a:solidFill>
              <a:srgbClr val="1F24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선불 제공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0360152" y="2240280"/>
            <a:ext cx="1307592" cy="1783080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  <a:effectLst>
            <a:outerShdw sx="100000" sy="100000" kx="0" ky="0" algn="bl" rotWithShape="0" blurRad="127000" dist="38100" dir="5400000">
              <a:srgbClr val="1F2430">
                <a:alpha val="14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10497312" y="2423160"/>
            <a:ext cx="891032" cy="274320"/>
          </a:xfrm>
          <a:prstGeom prst="roundRect">
            <a:avLst>
              <a:gd name="adj" fmla="val 50000"/>
            </a:avLst>
          </a:prstGeom>
          <a:solidFill>
            <a:srgbClr val="FFE4EC"/>
          </a:solidFill>
          <a:ln w="9525">
            <a:solidFill>
              <a:srgbClr val="FFE4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슈가모바일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497312" y="286207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sugarmobile.co.kr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497312" y="3200400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후불 요금제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0497312" y="3538728"/>
            <a:ext cx="781812" cy="237744"/>
          </a:xfrm>
          <a:prstGeom prst="roundRect">
            <a:avLst>
              <a:gd name="adj" fmla="val 50000"/>
            </a:avLst>
          </a:prstGeom>
          <a:solidFill>
            <a:srgbClr val="1F2430"/>
          </a:solidFill>
          <a:ln w="9525">
            <a:solidFill>
              <a:srgbClr val="1F24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선불 제공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943600" y="4206240"/>
            <a:ext cx="1307592" cy="1783080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  <a:effectLst>
            <a:outerShdw sx="100000" sy="100000" kx="0" ky="0" algn="bl" rotWithShape="0" blurRad="127000" dist="38100" dir="5400000">
              <a:srgbClr val="1F2430">
                <a:alpha val="14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6080760" y="4389120"/>
            <a:ext cx="891032" cy="274320"/>
          </a:xfrm>
          <a:prstGeom prst="roundRect">
            <a:avLst>
              <a:gd name="adj" fmla="val 50000"/>
            </a:avLst>
          </a:prstGeom>
          <a:solidFill>
            <a:srgbClr val="FFF3D6"/>
          </a:solidFill>
          <a:ln w="9525">
            <a:solidFill>
              <a:srgbClr val="FFF3D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79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인스모바일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080760" y="482803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insmobile.co.kr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6080760" y="5166360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후불 요금제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080760" y="5504688"/>
            <a:ext cx="781812" cy="237744"/>
          </a:xfrm>
          <a:prstGeom prst="roundRect">
            <a:avLst>
              <a:gd name="adj" fmla="val 50000"/>
            </a:avLst>
          </a:prstGeom>
          <a:solidFill>
            <a:srgbClr val="1F2430"/>
          </a:solidFill>
          <a:ln w="9525">
            <a:solidFill>
              <a:srgbClr val="1F24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선불 제공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415784" y="4206240"/>
            <a:ext cx="1307592" cy="1783080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  <a:effectLst>
            <a:outerShdw sx="100000" sy="100000" kx="0" ky="0" algn="bl" rotWithShape="0" blurRad="127000" dist="38100" dir="5400000">
              <a:srgbClr val="1F2430">
                <a:alpha val="14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7552944" y="4389120"/>
            <a:ext cx="586232" cy="274320"/>
          </a:xfrm>
          <a:prstGeom prst="roundRect">
            <a:avLst>
              <a:gd name="adj" fmla="val 50000"/>
            </a:avLst>
          </a:prstGeom>
          <a:solidFill>
            <a:srgbClr val="F1E9FF"/>
          </a:solidFill>
          <a:ln w="9525">
            <a:solidFill>
              <a:srgbClr val="F1E9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39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조이M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7552944" y="482803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joytel.co.kr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7552944" y="5166360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후불 요금제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887968" y="4206240"/>
            <a:ext cx="1307592" cy="1783080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  <a:effectLst>
            <a:outerShdw sx="100000" sy="100000" kx="0" ky="0" algn="bl" rotWithShape="0" blurRad="127000" dist="38100" dir="5400000">
              <a:srgbClr val="1F2430">
                <a:alpha val="14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9025128" y="4389120"/>
            <a:ext cx="891032" cy="274320"/>
          </a:xfrm>
          <a:prstGeom prst="roundRect">
            <a:avLst>
              <a:gd name="adj" fmla="val 50000"/>
            </a:avLst>
          </a:prstGeom>
          <a:solidFill>
            <a:srgbClr val="FDECC8"/>
          </a:solidFill>
          <a:ln w="9525">
            <a:solidFill>
              <a:srgbClr val="FDEC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26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시월모바일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9025128" y="482803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siwolmobile.com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9025128" y="5166360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후불 요금제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0360152" y="4206240"/>
            <a:ext cx="1307592" cy="1783080"/>
          </a:xfrm>
          <a:prstGeom prst="roundRect">
            <a:avLst>
              <a:gd name="adj" fmla="val 8392"/>
            </a:avLst>
          </a:prstGeom>
          <a:solidFill>
            <a:srgbClr val="1F2430"/>
          </a:solidFill>
          <a:ln w="9525">
            <a:solidFill>
              <a:srgbClr val="1F243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497312" y="438912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A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000" dirty="0"/>
          </a:p>
        </p:txBody>
      </p:sp>
      <p:sp>
        <p:nvSpPr>
          <p:cNvPr id="49" name="Text 47"/>
          <p:cNvSpPr txBox="1"/>
          <p:nvPr/>
        </p:nvSpPr>
        <p:spPr>
          <a:xfrm>
            <a:off x="10497312" y="5166360"/>
            <a:ext cx="1078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제휴사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그중 선불 3개사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FA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9718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페이지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40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6CB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구성 · 디자인 시스템 · 섹션별 설계 · 검토 이슈 반영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80960" y="1188720"/>
            <a:ext cx="3931920" cy="384048"/>
          </a:xfrm>
          <a:prstGeom prst="roundRect">
            <a:avLst>
              <a:gd name="adj" fmla="val 50000"/>
            </a:avLst>
          </a:prstGeom>
          <a:solidFill>
            <a:srgbClr val="2C3345"/>
          </a:solidFill>
          <a:ln w="9525">
            <a:solidFill>
              <a:srgbClr val="2C33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909560" y="11887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 (Sticky Header)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680960" y="1664208"/>
            <a:ext cx="3931920" cy="384048"/>
          </a:xfrm>
          <a:prstGeom prst="roundRect">
            <a:avLst>
              <a:gd name="adj" fmla="val 50000"/>
            </a:avLst>
          </a:prstGeom>
          <a:solidFill>
            <a:srgbClr val="2C3345"/>
          </a:solidFill>
          <a:ln w="9525">
            <a:solidFill>
              <a:srgbClr val="2C33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09560" y="16642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Hero + 요금 계산기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80960" y="2139696"/>
            <a:ext cx="3931920" cy="384048"/>
          </a:xfrm>
          <a:prstGeom prst="roundRect">
            <a:avLst>
              <a:gd name="adj" fmla="val 50000"/>
            </a:avLst>
          </a:prstGeom>
          <a:solidFill>
            <a:srgbClr val="2C3345"/>
          </a:solidFill>
          <a:ln w="9525">
            <a:solidFill>
              <a:srgbClr val="2C33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09560" y="213969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이달의 요금제비교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80960" y="2615184"/>
            <a:ext cx="3931920" cy="384048"/>
          </a:xfrm>
          <a:prstGeom prst="roundRect">
            <a:avLst>
              <a:gd name="adj" fmla="val 50000"/>
            </a:avLst>
          </a:prstGeom>
          <a:solidFill>
            <a:srgbClr val="2C3345"/>
          </a:solidFill>
          <a:ln w="9525">
            <a:solidFill>
              <a:srgbClr val="2C33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09560" y="261518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제휴사별 요금제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80960" y="3090672"/>
            <a:ext cx="3931920" cy="384048"/>
          </a:xfrm>
          <a:prstGeom prst="roundRect">
            <a:avLst>
              <a:gd name="adj" fmla="val 50000"/>
            </a:avLst>
          </a:prstGeom>
          <a:solidFill>
            <a:srgbClr val="2C3345"/>
          </a:solidFill>
          <a:ln w="9525">
            <a:solidFill>
              <a:srgbClr val="2C334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09560" y="309067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선불요금제 + 충전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80960" y="3566160"/>
            <a:ext cx="3931920" cy="384048"/>
          </a:xfrm>
          <a:prstGeom prst="roundRect">
            <a:avLst>
              <a:gd name="adj" fmla="val 50000"/>
            </a:avLst>
          </a:prstGeom>
          <a:solidFill>
            <a:srgbClr val="2C3345"/>
          </a:solidFill>
          <a:ln w="9525">
            <a:solidFill>
              <a:srgbClr val="2C33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09560" y="35661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 배너 · 상품 비교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80960" y="4041648"/>
            <a:ext cx="3931920" cy="384048"/>
          </a:xfrm>
          <a:prstGeom prst="roundRect">
            <a:avLst>
              <a:gd name="adj" fmla="val 50000"/>
            </a:avLst>
          </a:prstGeom>
          <a:solidFill>
            <a:srgbClr val="2C3345"/>
          </a:solidFill>
          <a:ln w="9525">
            <a:solidFill>
              <a:srgbClr val="2C334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909560" y="40416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요금제분석 · 신뢰 지표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80960" y="4517136"/>
            <a:ext cx="3931920" cy="384048"/>
          </a:xfrm>
          <a:prstGeom prst="roundRect">
            <a:avLst>
              <a:gd name="adj" fmla="val 50000"/>
            </a:avLst>
          </a:prstGeom>
          <a:solidFill>
            <a:srgbClr val="2C3345"/>
          </a:solidFill>
          <a:ln w="9525">
            <a:solidFill>
              <a:srgbClr val="2C334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09560" y="451713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Footer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5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메인 페이지 · 화면 구성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페이지, 10개 섹션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상단 메뉴는 섹션으로 스크롤 이동, 제휴사 페이지는 새 창으로 엽니다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052560" y="6473952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im010 홈페이지 기획서   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 순서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33832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057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GNB (Sticky)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3383280" cy="365760"/>
          </a:xfrm>
          <a:prstGeom prst="roundRect">
            <a:avLst>
              <a:gd name="adj" fmla="val 15000"/>
            </a:avLst>
          </a:prstGeom>
          <a:solidFill>
            <a:srgbClr val="FFFBF8"/>
          </a:solidFill>
          <a:ln w="9525">
            <a:solidFill>
              <a:srgbClr val="E9E7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4871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Hero + 요금 계산기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248716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#calc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916936"/>
            <a:ext cx="33832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91693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이달의 요금제비교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514600" y="291693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#month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3346704"/>
            <a:ext cx="3383280" cy="365760"/>
          </a:xfrm>
          <a:prstGeom prst="roundRect">
            <a:avLst>
              <a:gd name="adj" fmla="val 15000"/>
            </a:avLst>
          </a:prstGeom>
          <a:solidFill>
            <a:srgbClr val="FFF1EE"/>
          </a:solidFill>
          <a:ln w="9525">
            <a:solidFill>
              <a:srgbClr val="FFE4D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3467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 제휴사별 요금제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514600" y="334670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#partners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776472"/>
            <a:ext cx="33832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37764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 선불요금제 + 충전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2514600" y="377647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#prepaid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4206240"/>
            <a:ext cx="3383280" cy="365760"/>
          </a:xfrm>
          <a:prstGeom prst="roundRect">
            <a:avLst>
              <a:gd name="adj" fmla="val 15000"/>
            </a:avLst>
          </a:prstGeom>
          <a:solidFill>
            <a:srgbClr val="1F2430"/>
          </a:solidFill>
          <a:ln w="9525">
            <a:solidFill>
              <a:srgbClr val="1F243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4206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 인터넷 배너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2514600" y="42062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6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#internet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4636008"/>
            <a:ext cx="33832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46360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 인터넷 상품 비교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2514600" y="463600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#internet-compare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5065776"/>
            <a:ext cx="3383280" cy="365760"/>
          </a:xfrm>
          <a:prstGeom prst="roundRect">
            <a:avLst>
              <a:gd name="adj" fmla="val 15000"/>
            </a:avLst>
          </a:prstGeom>
          <a:solidFill>
            <a:srgbClr val="FFF1EE"/>
          </a:solidFill>
          <a:ln w="9525">
            <a:solidFill>
              <a:srgbClr val="FFE4D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506577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 요금제분석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2514600" y="506577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#analysis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5495544"/>
            <a:ext cx="33832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" y="54955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 신뢰 지표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5925312"/>
            <a:ext cx="3383280" cy="365760"/>
          </a:xfrm>
          <a:prstGeom prst="roundRect">
            <a:avLst>
              <a:gd name="adj" fmla="val 15000"/>
            </a:avLst>
          </a:prstGeom>
          <a:solidFill>
            <a:srgbClr val="1F2430"/>
          </a:solidFill>
          <a:ln w="9525">
            <a:solidFill>
              <a:srgbClr val="1F243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59253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 Footer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343400" y="1737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상단 메뉴 (GNB)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2057400"/>
          <a:ext cx="72694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337560"/>
                <a:gridCol w="2011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이달의 요금제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#month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요금제 ▾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#partners · 7개사 요금제 페이지(새 창)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하위: 전체 비교 → S1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선불요금제 ▾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#prepaid · 3개사 선불결제(새 창)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인터넷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#internet-compare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4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v0.2 추가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S3 이벤트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"준비 중" 안내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요금제분석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#analysis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마이페이지 · 로그인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S6 · S5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"준비 중" 안내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요금제 비교하기 (CTA)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#calc  Hero 계산기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6" name="Shape 33"/>
          <p:cNvSpPr/>
          <p:nvPr/>
        </p:nvSpPr>
        <p:spPr>
          <a:xfrm>
            <a:off x="4343400" y="5532120"/>
            <a:ext cx="7269480" cy="731520"/>
          </a:xfrm>
          <a:prstGeom prst="roundRect">
            <a:avLst>
              <a:gd name="adj" fmla="val 15000"/>
            </a:avLst>
          </a:prstGeom>
          <a:solidFill>
            <a:srgbClr val="FFF1EE"/>
          </a:solidFill>
          <a:ln w="9525">
            <a:solidFill>
              <a:srgbClr val="FFF1EE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544568" y="5696712"/>
            <a:ext cx="686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4544568" y="6007608"/>
            <a:ext cx="6867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≤920px 햄버거 메뉴(☰/✕)로 전환 · ≤600px 마이페이지·로그인은 메뉴 패널 하단으로 이동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5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메인 페이지 · 디자인 시스템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코랄 + 네이비, 숫자는 Space Grotesk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하위 페이지도 같은 토큰과 컴포넌트를 사용합니다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052560" y="6473952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im010 홈페이지 기획서   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987552" cy="777240"/>
          </a:xfrm>
          <a:prstGeom prst="roundRect">
            <a:avLst>
              <a:gd name="adj" fmla="val 14118"/>
            </a:avLst>
          </a:prstGeom>
          <a:solidFill>
            <a:srgbClr val="FA5A47"/>
          </a:solidFill>
          <a:ln w="9525">
            <a:solidFill>
              <a:srgbClr val="E9E7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63347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coral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5292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#FA5A47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59636" y="1783080"/>
            <a:ext cx="987552" cy="777240"/>
          </a:xfrm>
          <a:prstGeom prst="roundRect">
            <a:avLst>
              <a:gd name="adj" fmla="val 14118"/>
            </a:avLst>
          </a:prstGeom>
          <a:solidFill>
            <a:srgbClr val="D9432F"/>
          </a:solidFill>
          <a:ln w="9525">
            <a:solidFill>
              <a:srgbClr val="E9E7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59636" y="263347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coral-dark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659636" y="285292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#D9432F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70632" y="1783080"/>
            <a:ext cx="987552" cy="777240"/>
          </a:xfrm>
          <a:prstGeom prst="roundRect">
            <a:avLst>
              <a:gd name="adj" fmla="val 14118"/>
            </a:avLst>
          </a:prstGeom>
          <a:solidFill>
            <a:srgbClr val="FFF1EE"/>
          </a:solidFill>
          <a:ln w="9525">
            <a:solidFill>
              <a:srgbClr val="E9E7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70632" y="263347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coral-tint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2770632" y="285292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#FFF1EE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81628" y="1783080"/>
            <a:ext cx="987552" cy="777240"/>
          </a:xfrm>
          <a:prstGeom prst="roundRect">
            <a:avLst>
              <a:gd name="adj" fmla="val 14118"/>
            </a:avLst>
          </a:prstGeom>
          <a:solidFill>
            <a:srgbClr val="FFE4DF"/>
          </a:solidFill>
          <a:ln w="9525">
            <a:solidFill>
              <a:srgbClr val="E9E7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81628" y="263347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coral-tint-2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881628" y="285292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#FFE4DF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992624" y="1783080"/>
            <a:ext cx="987552" cy="777240"/>
          </a:xfrm>
          <a:prstGeom prst="roundRect">
            <a:avLst>
              <a:gd name="adj" fmla="val 14118"/>
            </a:avLst>
          </a:prstGeom>
          <a:solidFill>
            <a:srgbClr val="1F2430"/>
          </a:solidFill>
          <a:ln w="9525">
            <a:solidFill>
              <a:srgbClr val="E9E7E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92624" y="263347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navy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992624" y="285292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#1F2430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03620" y="1783080"/>
            <a:ext cx="987552" cy="777240"/>
          </a:xfrm>
          <a:prstGeom prst="roundRect">
            <a:avLst>
              <a:gd name="adj" fmla="val 14118"/>
            </a:avLst>
          </a:prstGeom>
          <a:solidFill>
            <a:srgbClr val="4B5262"/>
          </a:solidFill>
          <a:ln w="9525">
            <a:solidFill>
              <a:srgbClr val="E9E7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03620" y="263347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gray-700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103620" y="285292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#4B5262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214616" y="1783080"/>
            <a:ext cx="987552" cy="777240"/>
          </a:xfrm>
          <a:prstGeom prst="roundRect">
            <a:avLst>
              <a:gd name="adj" fmla="val 14118"/>
            </a:avLst>
          </a:prstGeom>
          <a:solidFill>
            <a:srgbClr val="8A8F9C"/>
          </a:solidFill>
          <a:ln w="9525">
            <a:solidFill>
              <a:srgbClr val="E9E7E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14616" y="263347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gray-500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7214616" y="285292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#8A8F9C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325612" y="1783080"/>
            <a:ext cx="987552" cy="777240"/>
          </a:xfrm>
          <a:prstGeom prst="roundRect">
            <a:avLst>
              <a:gd name="adj" fmla="val 14118"/>
            </a:avLst>
          </a:prstGeom>
          <a:solidFill>
            <a:srgbClr val="E9E7E3"/>
          </a:solidFill>
          <a:ln w="9525">
            <a:solidFill>
              <a:srgbClr val="E9E7E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25612" y="263347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gray-200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8325612" y="285292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#E9E7E3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436608" y="1783080"/>
            <a:ext cx="987552" cy="777240"/>
          </a:xfrm>
          <a:prstGeom prst="roundRect">
            <a:avLst>
              <a:gd name="adj" fmla="val 14118"/>
            </a:avLst>
          </a:prstGeom>
          <a:solidFill>
            <a:srgbClr val="FFFBF8"/>
          </a:solidFill>
          <a:ln w="9525">
            <a:solidFill>
              <a:srgbClr val="E9E7E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436608" y="263347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cream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9436608" y="285292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#FFFBF8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0547604" y="1783080"/>
            <a:ext cx="987552" cy="777240"/>
          </a:xfrm>
          <a:prstGeom prst="roundRect">
            <a:avLst>
              <a:gd name="adj" fmla="val 14118"/>
            </a:avLst>
          </a:prstGeom>
          <a:solidFill>
            <a:srgbClr val="FFB020"/>
          </a:solidFill>
          <a:ln w="9525">
            <a:solidFill>
              <a:srgbClr val="E9E7E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547604" y="263347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gold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10547604" y="285292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#FFB020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" y="3337560"/>
            <a:ext cx="5486400" cy="2926080"/>
          </a:xfrm>
          <a:prstGeom prst="roundRect">
            <a:avLst>
              <a:gd name="adj" fmla="val 3750"/>
            </a:avLst>
          </a:prstGeom>
          <a:solidFill>
            <a:srgbClr val="F4F5F7"/>
          </a:solidFill>
          <a:ln w="9525">
            <a:solidFill>
              <a:srgbClr val="F4F5F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77240" y="34930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타이포그래피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777240" y="38404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</a:t>
            </a:r>
            <a:pPr indent="0" marL="0">
              <a:buNone/>
            </a:pPr>
            <a:r>
              <a:rPr lang="en-US" sz="2200" b="1" dirty="0">
                <a:solidFill>
                  <a:srgbClr val="FA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010</a:t>
            </a:r>
            <a:endParaRPr lang="en-US" sz="2200" dirty="0"/>
          </a:p>
        </p:txBody>
      </p:sp>
      <p:sp>
        <p:nvSpPr>
          <p:cNvPr id="39" name="Text 37"/>
          <p:cNvSpPr txBox="1"/>
          <p:nvPr/>
        </p:nvSpPr>
        <p:spPr>
          <a:xfrm>
            <a:off x="3611880" y="3840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로고 · 22 / 800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777240" y="4297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매달 통신비, 얼마나</a:t>
            </a:r>
            <a:endParaRPr lang="en-US" sz="2200" dirty="0"/>
          </a:p>
        </p:txBody>
      </p:sp>
      <p:sp>
        <p:nvSpPr>
          <p:cNvPr id="41" name="Text 39"/>
          <p:cNvSpPr txBox="1"/>
          <p:nvPr/>
        </p:nvSpPr>
        <p:spPr>
          <a:xfrm>
            <a:off x="3611880" y="42976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Hero 타이틀 · 40 / 800 (모바일 30)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77240" y="47548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이달의 요금제비교</a:t>
            </a:r>
            <a:endParaRPr lang="en-US" sz="1700" dirty="0"/>
          </a:p>
        </p:txBody>
      </p:sp>
      <p:sp>
        <p:nvSpPr>
          <p:cNvPr id="43" name="Text 41"/>
          <p:cNvSpPr txBox="1"/>
          <p:nvPr/>
        </p:nvSpPr>
        <p:spPr>
          <a:xfrm>
            <a:off x="3611880" y="4754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 타이틀 · 26 / 800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777240" y="5212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16,500원</a:t>
            </a:r>
            <a:endParaRPr lang="en-US" sz="2000" dirty="0"/>
          </a:p>
        </p:txBody>
      </p:sp>
      <p:sp>
        <p:nvSpPr>
          <p:cNvPr id="45" name="Text 43"/>
          <p:cNvSpPr txBox="1"/>
          <p:nvPr/>
        </p:nvSpPr>
        <p:spPr>
          <a:xfrm>
            <a:off x="3611880" y="5212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가격·지표 · Space Grotesk 700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777240" y="56692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7월, 가장 많이 비교된 요금제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3611880" y="5669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서브·캡션 · 14 / gray-500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263640" y="3337560"/>
            <a:ext cx="5349240" cy="2926080"/>
          </a:xfrm>
          <a:prstGeom prst="roundRect">
            <a:avLst>
              <a:gd name="adj" fmla="val 3750"/>
            </a:avLst>
          </a:prstGeom>
          <a:solidFill>
            <a:srgbClr val="F4F5F7"/>
          </a:solidFill>
          <a:ln w="9525">
            <a:solidFill>
              <a:srgbClr val="F4F5F7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492240" y="34930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컴포넌트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6492240" y="38862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7863840" y="3886200"/>
            <a:ext cx="1221232" cy="310896"/>
          </a:xfrm>
          <a:prstGeom prst="roundRect">
            <a:avLst>
              <a:gd name="adj" fmla="val 50000"/>
            </a:avLst>
          </a:prstGeom>
          <a:solidFill>
            <a:srgbClr val="FA5A47"/>
          </a:solidFill>
          <a:ln w="9525">
            <a:solidFill>
              <a:srgbClr val="FA5A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요금제 비교하기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9372600" y="3886200"/>
            <a:ext cx="14244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24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요금제 자세히 보기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6492240" y="43434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칩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7863840" y="4361688"/>
            <a:ext cx="637032" cy="274320"/>
          </a:xfrm>
          <a:prstGeom prst="roundRect">
            <a:avLst>
              <a:gd name="adj" fmla="val 50000"/>
            </a:avLst>
          </a:prstGeom>
          <a:solidFill>
            <a:srgbClr val="FFE9E5"/>
          </a:solidFill>
          <a:ln w="9525">
            <a:solidFill>
              <a:srgbClr val="FFE9E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마블링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8574024" y="4361688"/>
            <a:ext cx="891032" cy="274320"/>
          </a:xfrm>
          <a:prstGeom prst="roundRect">
            <a:avLst>
              <a:gd name="adj" fmla="val 50000"/>
            </a:avLst>
          </a:prstGeom>
          <a:solidFill>
            <a:srgbClr val="E6F0FF"/>
          </a:solidFill>
          <a:ln w="9525">
            <a:solidFill>
              <a:srgbClr val="E6F0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58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토리모바일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9538208" y="4361688"/>
            <a:ext cx="764032" cy="274320"/>
          </a:xfrm>
          <a:prstGeom prst="roundRect">
            <a:avLst>
              <a:gd name="adj" fmla="val 50000"/>
            </a:avLst>
          </a:prstGeom>
          <a:solidFill>
            <a:srgbClr val="E9F8EE"/>
          </a:solidFill>
          <a:ln w="9525">
            <a:solidFill>
              <a:srgbClr val="E9F8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9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위너스텔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10375392" y="4361688"/>
            <a:ext cx="891032" cy="274320"/>
          </a:xfrm>
          <a:prstGeom prst="roundRect">
            <a:avLst>
              <a:gd name="adj" fmla="val 50000"/>
            </a:avLst>
          </a:prstGeom>
          <a:solidFill>
            <a:srgbClr val="FFE4EC"/>
          </a:solidFill>
          <a:ln w="9525">
            <a:solidFill>
              <a:srgbClr val="FFE4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슈가모바일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6492240" y="48006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배지 · 태그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7863840" y="4818888"/>
            <a:ext cx="883412" cy="274320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 w="9525">
            <a:solidFill>
              <a:srgbClr val="FFB02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2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이달의 1위</a:t>
            </a:r>
            <a:endParaRPr lang="en-US" sz="950" dirty="0"/>
          </a:p>
        </p:txBody>
      </p:sp>
      <p:sp>
        <p:nvSpPr>
          <p:cNvPr id="60" name="Text 58"/>
          <p:cNvSpPr txBox="1"/>
          <p:nvPr/>
        </p:nvSpPr>
        <p:spPr>
          <a:xfrm>
            <a:off x="8823960" y="4818888"/>
            <a:ext cx="640080" cy="274320"/>
          </a:xfrm>
          <a:prstGeom prst="roundRect">
            <a:avLst>
              <a:gd name="adj" fmla="val 20000"/>
            </a:avLst>
          </a:prstGeom>
          <a:solidFill>
            <a:srgbClr val="E9E7E3"/>
          </a:solidFill>
          <a:ln>
            <a:solidFill>
              <a:srgbClr val="E9E7E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SKT망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6492240" y="52578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탭 (활성/기본)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7863840" y="5276088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1F2430"/>
          </a:solidFill>
          <a:ln w="9525">
            <a:solidFill>
              <a:srgbClr val="1F24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8668512" y="527608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9E7E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마블링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6492240" y="57150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7863840" y="5669280"/>
            <a:ext cx="1371600" cy="41148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  <a:effectLst>
            <a:outerShdw sx="100000" sy="100000" kx="0" ky="0" algn="bl" rotWithShape="0" blurRad="127000" dist="38100" dir="5400000">
              <a:srgbClr val="1F2430">
                <a:alpha val="14000"/>
              </a:srgbClr>
            </a:outerShdw>
          </a:effectLst>
        </p:spPr>
      </p:sp>
      <p:sp>
        <p:nvSpPr>
          <p:cNvPr id="66" name="Text 64"/>
          <p:cNvSpPr txBox="1"/>
          <p:nvPr/>
        </p:nvSpPr>
        <p:spPr>
          <a:xfrm>
            <a:off x="9326880" y="5669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radius 14–16 · hover 시 상승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5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메인 페이지 · Hero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 계산기 — 조건에 맞는 최저가 요금제를 바로 찾기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사용량과 통신망을 고르면 게시 중인 후불 요금제에서 최저가를 조회합니다 (선불 제외)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052560" y="6473952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im010 홈페이지 기획서   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212080" cy="4434840"/>
          </a:xfrm>
          <a:prstGeom prst="roundRect">
            <a:avLst>
              <a:gd name="adj" fmla="val 3711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  <a:effectLst>
            <a:outerShdw sx="100000" sy="100000" kx="0" ky="0" algn="bl" rotWithShape="0" blurRad="127000" dist="38100" dir="5400000">
              <a:srgbClr val="1F2430">
                <a:alpha val="14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데이터 사용량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19842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11GB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487168"/>
            <a:ext cx="4663440" cy="73152"/>
          </a:xfrm>
          <a:prstGeom prst="roundRect">
            <a:avLst>
              <a:gd name="adj" fmla="val 50000"/>
            </a:avLst>
          </a:prstGeom>
          <a:solidFill>
            <a:srgbClr val="E9E7E3"/>
          </a:solidFill>
          <a:ln w="9525">
            <a:solidFill>
              <a:srgbClr val="E9E7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87168"/>
            <a:ext cx="3291840" cy="73152"/>
          </a:xfrm>
          <a:prstGeom prst="roundRect">
            <a:avLst>
              <a:gd name="adj" fmla="val 50000"/>
            </a:avLst>
          </a:prstGeom>
          <a:solidFill>
            <a:srgbClr val="FA5A47"/>
          </a:solidFill>
          <a:ln w="9525">
            <a:solidFill>
              <a:srgbClr val="FA5A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86784" y="2386584"/>
            <a:ext cx="274320" cy="274320"/>
          </a:xfrm>
          <a:prstGeom prst="ellipse">
            <a:avLst/>
          </a:prstGeom>
          <a:solidFill>
            <a:srgbClr val="FA5A47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26974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1GB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3026664" y="26974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7GB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6974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무제한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063240"/>
            <a:ext cx="1463040" cy="411480"/>
          </a:xfrm>
          <a:prstGeom prst="roundRect">
            <a:avLst>
              <a:gd name="adj" fmla="val 22222"/>
            </a:avLst>
          </a:prstGeom>
          <a:solidFill>
            <a:srgbClr val="FFF1EE"/>
          </a:solidFill>
          <a:ln w="15875">
            <a:solidFill>
              <a:srgbClr val="FA5A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SKT망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423160" y="3063240"/>
            <a:ext cx="1463040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5875">
            <a:solidFill>
              <a:srgbClr val="E9E7E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KT망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023360" y="3063240"/>
            <a:ext cx="1463040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5875">
            <a:solidFill>
              <a:srgbClr val="E9E7E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LGU+망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3657600"/>
            <a:ext cx="4663440" cy="1417320"/>
          </a:xfrm>
          <a:prstGeom prst="roundRect">
            <a:avLst>
              <a:gd name="adj" fmla="val 9032"/>
            </a:avLst>
          </a:prstGeom>
          <a:solidFill>
            <a:srgbClr val="1F2430"/>
          </a:solidFill>
          <a:ln w="9525">
            <a:solidFill>
              <a:srgbClr val="1F243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" y="3822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ADE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im010 최저가 요금제 · SKT망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160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ADE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</a:t>
            </a:r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16,500</a:t>
            </a:r>
            <a:pPr indent="0" marL="0">
              <a:buNone/>
            </a:pPr>
            <a:r>
              <a:rPr lang="en-US" sz="1300" dirty="0">
                <a:solidFill>
                  <a:srgbClr val="DADE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29000" y="3794760"/>
            <a:ext cx="1874520" cy="1143000"/>
          </a:xfrm>
          <a:prstGeom prst="roundRect">
            <a:avLst>
              <a:gd name="adj" fmla="val 8000"/>
            </a:avLst>
          </a:prstGeom>
          <a:solidFill>
            <a:srgbClr val="2C3345"/>
          </a:solidFill>
          <a:ln w="9525">
            <a:solidFill>
              <a:srgbClr val="4A526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66160" y="3904488"/>
            <a:ext cx="598932" cy="237744"/>
          </a:xfrm>
          <a:prstGeom prst="roundRect">
            <a:avLst>
              <a:gd name="adj" fmla="val 50000"/>
            </a:avLst>
          </a:prstGeom>
          <a:solidFill>
            <a:srgbClr val="FFE9E5"/>
          </a:solidFill>
          <a:ln w="9525">
            <a:solidFill>
              <a:srgbClr val="FFE9E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마블링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3566160" y="42062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11GB +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2GB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3566160" y="463600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B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요금제 보기 →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2303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 3사 평균(월 43,900원) 대비 월 27,400원 · 62% 절약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5778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2026.10.01 기준 제휴사 공시 요금. 3사 평균은 동일 데이터 구간 요금제 평균(예시)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1783080"/>
            <a:ext cx="502920" cy="502920"/>
          </a:xfrm>
          <a:prstGeom prst="ellipse">
            <a:avLst/>
          </a:prstGeom>
          <a:solidFill>
            <a:srgbClr val="FA5A47"/>
          </a:solidFill>
          <a:ln>
            <a:solidFill>
              <a:srgbClr val="FA5A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0" y="17647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0" y="208483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8단계(1·2·3·5·7·11·30GB·무제한)와 통신망(SKT·KT·LGU+) 선택. 기본값은 11GB · SKT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172200" y="2770632"/>
            <a:ext cx="502920" cy="502920"/>
          </a:xfrm>
          <a:prstGeom prst="ellipse">
            <a:avLst/>
          </a:prstGeom>
          <a:solidFill>
            <a:srgbClr val="FA5A47"/>
          </a:solidFill>
          <a:ln>
            <a:solidFill>
              <a:srgbClr val="FA5A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0" y="27523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0" y="307238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게시 중인 후불 요금제에서 "선택한 망 + 기본 제공량 ≥ 선택 데이터"를 만족하는 최저가 요금제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172200" y="3758184"/>
            <a:ext cx="502920" cy="502920"/>
          </a:xfrm>
          <a:prstGeom prst="ellipse">
            <a:avLst/>
          </a:prstGeom>
          <a:solidFill>
            <a:srgbClr val="FA5A47"/>
          </a:solidFill>
          <a:ln>
            <a:solidFill>
              <a:srgbClr val="FA5A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0" y="373989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0" y="405993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· 요금제명 · 월 요금, "요금제 보기 →" → S2 상세 → 개통하기 → 제휴사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6172200" y="4745736"/>
            <a:ext cx="502920" cy="502920"/>
          </a:xfrm>
          <a:prstGeom prst="ellipse">
            <a:avLst/>
          </a:prstGeom>
          <a:solidFill>
            <a:srgbClr val="FA5A47"/>
          </a:solidFill>
          <a:ln>
            <a:solidFill>
              <a:srgbClr val="FA5A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858000" y="47274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절약 계산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858000" y="504748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절약액 = 3사 평균 − 결과 요금, 절약률 = 1 − 결과 ÷ 3사 평균 → 망마다 달라짐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172200" y="5760720"/>
            <a:ext cx="5440680" cy="502920"/>
          </a:xfrm>
          <a:prstGeom prst="roundRect">
            <a:avLst>
              <a:gd name="adj" fmla="val 21818"/>
            </a:avLst>
          </a:prstGeom>
          <a:solidFill>
            <a:srgbClr val="F4F5F7"/>
          </a:solidFill>
          <a:ln w="9525">
            <a:solidFill>
              <a:srgbClr val="F4F5F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373368" y="57607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화면 값 = 기본 상태 → 페이지를 열 때 숫자가 바뀌지 않음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5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메인 페이지 · Hero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· 통신망별 계산 결과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요금제 예시 데이터 기준 (2026.10.01) · 괄호는 3사 평균 대비 절약률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052560" y="6473952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im010 홈페이지 기획서   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795528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051560"/>
                <a:gridCol w="2011680"/>
                <a:gridCol w="2011680"/>
                <a:gridCol w="20116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3사 평균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SKT망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KT망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LGU+망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1GB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33,000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조이M 12,900 (61%)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토리모바일 9,900 (70%)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인스모바일 8,900 (73%)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2GB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33,000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조이M 12,900 (61%)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토리모바일 9,900 (70%)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인스모바일 8,900 (73%)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3GB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36,000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조이M 12,900 (64%)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토리모바일 9,900 (73%)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4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인스모바일 8,900 (75%)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5GB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39,000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조이M 12,900 (67%)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4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토리모바일 9,900 (75%)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인스모바일 13,200 (66%)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7GB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42,000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마블링 16,500 (61%)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슈가모바일 15,400 (63%)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인스모바일 13,200 (69%)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11GB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43,900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마블링 16,500 (62%)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슈가모바일 15,400 (65%)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인스모바일 13,200 (70%)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30GB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55,000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시월모바일 17,900 (67%)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슈가모바일 15,400 (72%)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위너스텔 23,000 (58%)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무제한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69,000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마블링 26,400 (62%)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조이M 24,900 (64%)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위너스텔 23,000 (67%)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869680" y="1783080"/>
            <a:ext cx="2743200" cy="2240280"/>
          </a:xfrm>
          <a:prstGeom prst="roundRect">
            <a:avLst>
              <a:gd name="adj" fmla="val 4898"/>
            </a:avLst>
          </a:prstGeom>
          <a:solidFill>
            <a:srgbClr val="1F2430"/>
          </a:solidFill>
          <a:ln w="9525">
            <a:solidFill>
              <a:srgbClr val="1F243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098280" y="1965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6CB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절감률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098280" y="22402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A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5400" dirty="0"/>
          </a:p>
        </p:txBody>
      </p:sp>
      <p:sp>
        <p:nvSpPr>
          <p:cNvPr id="10" name="Text 7"/>
          <p:cNvSpPr txBox="1"/>
          <p:nvPr/>
        </p:nvSpPr>
        <p:spPr>
          <a:xfrm>
            <a:off x="9098280" y="32004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KT망 5GB · LGU+망 3GB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지표 "최대 N%"에 자동 반영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869680" y="4206240"/>
            <a:ext cx="2743200" cy="1325880"/>
          </a:xfrm>
          <a:prstGeom prst="roundRect">
            <a:avLst>
              <a:gd name="adj" fmla="val 8276"/>
            </a:avLst>
          </a:prstGeom>
          <a:solidFill>
            <a:srgbClr val="FFF1EE"/>
          </a:solidFill>
          <a:ln w="9525">
            <a:solidFill>
              <a:srgbClr val="FFF1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098280" y="43708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27,400원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9098280" y="487375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상태(11GB · SKT망) 절약액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43,900 − 16,500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1722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계산기 결과를 위해 예시 요금제 3종 추가: 토리모바일 5GB · 인스모바일 15GB · 마블링 무제한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5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메인 페이지 · 요금제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이달의 요금제와 제휴사별 요금제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이달의 요금제는 제휴사 URL 수집 기반, 전체 후불 요금제는 브랜드 탭으로 필터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052560" y="6473952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im010 홈페이지 기획서   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373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이달의 요금제비교  #month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1755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제휴사 "이달의 요금제" URL 매일 수집 · 순서 · 배지는 운영자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21031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  <a:effectLst>
            <a:outerShdw sx="100000" sy="100000" kx="0" ky="0" algn="bl" rotWithShape="0" blurRad="127000" dist="38100" dir="5400000">
              <a:srgbClr val="1F2430">
                <a:alpha val="14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85800" y="2286000"/>
            <a:ext cx="598932" cy="237744"/>
          </a:xfrm>
          <a:prstGeom prst="roundRect">
            <a:avLst>
              <a:gd name="adj" fmla="val 50000"/>
            </a:avLst>
          </a:prstGeom>
          <a:solidFill>
            <a:srgbClr val="FFE9E5"/>
          </a:solidFill>
          <a:ln w="9525">
            <a:solidFill>
              <a:srgbClr val="FFE9E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마블링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724660" y="2286000"/>
            <a:ext cx="817372" cy="237744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 w="9525">
            <a:solidFill>
              <a:srgbClr val="FFB02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A2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이달의 1위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33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11GB + 매일 2GB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8986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16,500</a:t>
            </a:r>
            <a:pPr indent="0" marL="0">
              <a:buNone/>
            </a:pPr>
            <a:r>
              <a:rPr lang="en-US" sz="95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원/월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2735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요금제 자세히 보기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88920" y="2148840"/>
            <a:ext cx="21031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  <a:effectLst>
            <a:outerShdw sx="100000" sy="100000" kx="0" ky="0" algn="bl" rotWithShape="0" blurRad="127000" dist="38100" dir="5400000">
              <a:srgbClr val="1F2430">
                <a:alpha val="14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2926080" y="2286000"/>
            <a:ext cx="827532" cy="237744"/>
          </a:xfrm>
          <a:prstGeom prst="roundRect">
            <a:avLst>
              <a:gd name="adj" fmla="val 50000"/>
            </a:avLst>
          </a:prstGeom>
          <a:solidFill>
            <a:srgbClr val="E6F0FF"/>
          </a:solidFill>
          <a:ln w="9525">
            <a:solidFill>
              <a:srgbClr val="E6F0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58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토리모바일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2926080" y="2633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100GB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926080" y="28986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19,800</a:t>
            </a:r>
            <a:pPr indent="0" marL="0">
              <a:buNone/>
            </a:pPr>
            <a:r>
              <a:rPr lang="en-US" sz="95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원/월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926080" y="32735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요금제 자세히 보기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0" y="2148840"/>
            <a:ext cx="21031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  <a:effectLst>
            <a:outerShdw sx="100000" sy="100000" kx="0" ky="0" algn="bl" rotWithShape="0" blurRad="127000" dist="38100" dir="5400000">
              <a:srgbClr val="1F2430">
                <a:alpha val="14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166360" y="2286000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E9F8EE"/>
          </a:solidFill>
          <a:ln w="9525">
            <a:solidFill>
              <a:srgbClr val="E9F8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9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위너스텔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269990" y="2286000"/>
            <a:ext cx="752602" cy="237744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 w="9525">
            <a:solidFill>
              <a:srgbClr val="FFB02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A2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출시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5166360" y="2633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무제한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166360" y="28986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23,000</a:t>
            </a:r>
            <a:pPr indent="0" marL="0">
              <a:buNone/>
            </a:pPr>
            <a:r>
              <a:rPr lang="en-US" sz="95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원/월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166360" y="32735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요금제 자세히 보기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269480" y="2148840"/>
            <a:ext cx="21031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  <a:effectLst>
            <a:outerShdw sx="100000" sy="100000" kx="0" ky="0" algn="bl" rotWithShape="0" blurRad="127000" dist="38100" dir="5400000">
              <a:srgbClr val="1F2430">
                <a:alpha val="14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7406640" y="2286000"/>
            <a:ext cx="827532" cy="237744"/>
          </a:xfrm>
          <a:prstGeom prst="roundRect">
            <a:avLst>
              <a:gd name="adj" fmla="val 50000"/>
            </a:avLst>
          </a:prstGeom>
          <a:solidFill>
            <a:srgbClr val="FFE4EC"/>
          </a:solidFill>
          <a:ln w="9525">
            <a:solidFill>
              <a:srgbClr val="FFE4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슈가모바일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7406640" y="2633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30GB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406640" y="28986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15,400</a:t>
            </a:r>
            <a:pPr indent="0" marL="0">
              <a:buNone/>
            </a:pPr>
            <a:r>
              <a:rPr lang="en-US" sz="95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원/월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406640" y="32735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요금제 자세히 보기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509760" y="2148840"/>
            <a:ext cx="21031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  <a:effectLst>
            <a:outerShdw sx="100000" sy="100000" kx="0" ky="0" algn="bl" rotWithShape="0" blurRad="127000" dist="38100" dir="5400000">
              <a:srgbClr val="1F2430">
                <a:alpha val="14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9646920" y="2286000"/>
            <a:ext cx="827532" cy="237744"/>
          </a:xfrm>
          <a:prstGeom prst="roundRect">
            <a:avLst>
              <a:gd name="adj" fmla="val 50000"/>
            </a:avLst>
          </a:prstGeom>
          <a:solidFill>
            <a:srgbClr val="FFF3D6"/>
          </a:solidFill>
          <a:ln w="9525">
            <a:solidFill>
              <a:srgbClr val="FFF3D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79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인스모바일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9646920" y="2633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3GB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9646920" y="28986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8,900</a:t>
            </a:r>
            <a:pPr indent="0" marL="0">
              <a:buNone/>
            </a:pPr>
            <a:r>
              <a:rPr lang="en-US" sz="95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원/월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9646920" y="32735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요금제 자세히 보기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" y="3794760"/>
            <a:ext cx="11064240" cy="2468880"/>
          </a:xfrm>
          <a:prstGeom prst="roundRect">
            <a:avLst>
              <a:gd name="adj" fmla="val 5926"/>
            </a:avLst>
          </a:prstGeom>
          <a:solidFill>
            <a:srgbClr val="FFF1EE"/>
          </a:solidFill>
          <a:ln w="9525">
            <a:solidFill>
              <a:srgbClr val="FFF1E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7240" y="3931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제휴사별 요금제  #partners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777240" y="4315968"/>
            <a:ext cx="497332" cy="274320"/>
          </a:xfrm>
          <a:prstGeom prst="roundRect">
            <a:avLst>
              <a:gd name="adj" fmla="val 50000"/>
            </a:avLst>
          </a:prstGeom>
          <a:solidFill>
            <a:srgbClr val="1F2430"/>
          </a:solidFill>
          <a:ln w="9525">
            <a:solidFill>
              <a:srgbClr val="1F24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1347724" y="4315968"/>
            <a:ext cx="61798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마블링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2038858" y="4315968"/>
            <a:ext cx="85928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토리모바일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2971292" y="4315968"/>
            <a:ext cx="73863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위너스텔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3783076" y="4315968"/>
            <a:ext cx="85928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슈가모바일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4715510" y="4315968"/>
            <a:ext cx="85928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인스모바일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5647944" y="4315968"/>
            <a:ext cx="56972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조이M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6290818" y="4315968"/>
            <a:ext cx="85928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시월모바일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77724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요금제 </a:t>
            </a:r>
            <a:pPr indent="0" marL="0">
              <a:buNone/>
            </a:pPr>
            <a:r>
              <a:rPr lang="en-US" sz="100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pPr indent="0" marL="0">
              <a:buNone/>
            </a:pPr>
            <a:r>
              <a:rPr lang="en-US" sz="10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 · 낮은 가격순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77240" y="4983480"/>
            <a:ext cx="1664208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86968" y="5074920"/>
            <a:ext cx="687832" cy="219456"/>
          </a:xfrm>
          <a:prstGeom prst="roundRect">
            <a:avLst>
              <a:gd name="adj" fmla="val 50000"/>
            </a:avLst>
          </a:prstGeom>
          <a:solidFill>
            <a:srgbClr val="E9F8EE"/>
          </a:solidFill>
          <a:ln w="9525">
            <a:solidFill>
              <a:srgbClr val="E9F8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9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위너스텔</a:t>
            </a:r>
            <a:endParaRPr 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886968" y="535838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200MB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886968" y="555955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4,900원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886968" y="58521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LGU+ · LTE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560320" y="4983480"/>
            <a:ext cx="1664208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2670048" y="5074920"/>
            <a:ext cx="795782" cy="219456"/>
          </a:xfrm>
          <a:prstGeom prst="roundRect">
            <a:avLst>
              <a:gd name="adj" fmla="val 50000"/>
            </a:avLst>
          </a:prstGeom>
          <a:solidFill>
            <a:srgbClr val="FFF3D6"/>
          </a:solidFill>
          <a:ln w="9525">
            <a:solidFill>
              <a:srgbClr val="FFF3D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379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인스모바일</a:t>
            </a:r>
            <a:endParaRPr lang="en-US" sz="850" dirty="0"/>
          </a:p>
        </p:txBody>
      </p:sp>
      <p:sp>
        <p:nvSpPr>
          <p:cNvPr id="53" name="Text 51"/>
          <p:cNvSpPr txBox="1"/>
          <p:nvPr/>
        </p:nvSpPr>
        <p:spPr>
          <a:xfrm>
            <a:off x="2670048" y="535838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3GB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2670048" y="555955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8,900원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2670048" y="58521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LGU+ · LTE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343400" y="4983480"/>
            <a:ext cx="1664208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453128" y="5074920"/>
            <a:ext cx="795782" cy="219456"/>
          </a:xfrm>
          <a:prstGeom prst="roundRect">
            <a:avLst>
              <a:gd name="adj" fmla="val 50000"/>
            </a:avLst>
          </a:prstGeom>
          <a:solidFill>
            <a:srgbClr val="E6F0FF"/>
          </a:solidFill>
          <a:ln w="9525">
            <a:solidFill>
              <a:srgbClr val="E6F0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58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토리모바일</a:t>
            </a:r>
            <a:endParaRPr lang="en-US" sz="850" dirty="0"/>
          </a:p>
        </p:txBody>
      </p:sp>
      <p:sp>
        <p:nvSpPr>
          <p:cNvPr id="58" name="Text 56"/>
          <p:cNvSpPr txBox="1"/>
          <p:nvPr/>
        </p:nvSpPr>
        <p:spPr>
          <a:xfrm>
            <a:off x="4453128" y="535838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5GB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4453128" y="555955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9,900원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4453128" y="58521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KT · LTE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126480" y="4983480"/>
            <a:ext cx="1664208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236208" y="5074920"/>
            <a:ext cx="536702" cy="219456"/>
          </a:xfrm>
          <a:prstGeom prst="roundRect">
            <a:avLst>
              <a:gd name="adj" fmla="val 50000"/>
            </a:avLst>
          </a:prstGeom>
          <a:solidFill>
            <a:srgbClr val="F1E9FF"/>
          </a:solidFill>
          <a:ln w="9525">
            <a:solidFill>
              <a:srgbClr val="F1E9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C39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조이M</a:t>
            </a:r>
            <a:endParaRPr lang="en-US" sz="850" dirty="0"/>
          </a:p>
        </p:txBody>
      </p:sp>
      <p:sp>
        <p:nvSpPr>
          <p:cNvPr id="63" name="Text 61"/>
          <p:cNvSpPr txBox="1"/>
          <p:nvPr/>
        </p:nvSpPr>
        <p:spPr>
          <a:xfrm>
            <a:off x="6236208" y="535838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6GB + 매일 1GB</a:t>
            </a:r>
            <a:endParaRPr lang="en-US" sz="900" dirty="0"/>
          </a:p>
        </p:txBody>
      </p:sp>
      <p:sp>
        <p:nvSpPr>
          <p:cNvPr id="64" name="Text 62"/>
          <p:cNvSpPr txBox="1"/>
          <p:nvPr/>
        </p:nvSpPr>
        <p:spPr>
          <a:xfrm>
            <a:off x="6236208" y="555955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12,900원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6236208" y="58521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SKT · LTE</a:t>
            </a:r>
            <a:endParaRPr lang="en-US" sz="850" dirty="0"/>
          </a:p>
        </p:txBody>
      </p:sp>
      <p:sp>
        <p:nvSpPr>
          <p:cNvPr id="66" name="Text 64"/>
          <p:cNvSpPr txBox="1"/>
          <p:nvPr/>
        </p:nvSpPr>
        <p:spPr>
          <a:xfrm>
            <a:off x="8046720" y="470916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게시 중인 후불 요금제만 (선불 제외)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탭 클릭 시 브랜드 필터 + 개수 표시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요금 낮은 가격순 정렬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클릭 → S2 상세 → 개통하기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5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메인 페이지 · 선불요금제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선불 충전 — 입력은 im010, 결제는 제휴사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인스모바일 · 위너스텔 · 슈가모바일 3개사 제공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052560" y="6473952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im010 홈페이지 기획서  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931920" cy="44805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  <a:effectLst>
            <a:outerShdw sx="100000" sy="100000" kx="0" ky="0" algn="bl" rotWithShape="0" blurRad="127000" dist="38100" dir="5400000">
              <a:srgbClr val="1F2430">
                <a:alpha val="14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19385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선불요금결제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3317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통신사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77240" y="2569464"/>
            <a:ext cx="347472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256946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슈가모바일   ▾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9900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전화번호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77240" y="3227832"/>
            <a:ext cx="347472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22783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010-1234-5678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6484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충전 금액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77240" y="3886200"/>
            <a:ext cx="347472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38862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입력   ▾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7240" y="4325112"/>
            <a:ext cx="347472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43251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20000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828032"/>
            <a:ext cx="3474720" cy="384048"/>
          </a:xfrm>
          <a:prstGeom prst="roundRect">
            <a:avLst>
              <a:gd name="adj" fmla="val 50000"/>
            </a:avLst>
          </a:prstGeom>
          <a:solidFill>
            <a:srgbClr val="FA5A47"/>
          </a:solidFill>
          <a:ln w="9525">
            <a:solidFill>
              <a:srgbClr val="FA5A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충전하기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" y="5349240"/>
            <a:ext cx="3474720" cy="731520"/>
          </a:xfrm>
          <a:prstGeom prst="roundRect">
            <a:avLst>
              <a:gd name="adj" fmla="val 10000"/>
            </a:avLst>
          </a:prstGeom>
          <a:solidFill>
            <a:srgbClr val="FFF1EE"/>
          </a:solidFill>
          <a:ln w="9525">
            <a:solidFill>
              <a:srgbClr val="FFF1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5413248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슈가모바일 010-1234-5678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20,000원 충전  </a:t>
            </a:r>
            <a:pPr indent="0" marL="0">
              <a:buNone/>
            </a:pPr>
            <a:r>
              <a:rPr lang="en-US" sz="95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페이지로 이동 →</a:t>
            </a:r>
            <a:endParaRPr lang="en-US" sz="9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783080"/>
          <a:ext cx="67665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834640"/>
                <a:gridCol w="28346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문구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통신사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3개사 중 필수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통신사를 선택해 주세요.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전화번호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 입력 시 하이픈 자동 삽입, 010 11자리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010으로 시작하는 11자리 번호를 입력해 주세요.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충전 금액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10,000 / 30,000 / 50,000 / 직접 입력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–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입력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1,000 ~ 100,000원, 1,000원 단위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1,000 ~ 100,000원 사이, 1,000원 단위로…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충전하기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 시 요약 + 제휴사 결제 페이지 링크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–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4846320" y="4663440"/>
            <a:ext cx="2148840" cy="91440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9525">
            <a:solidFill>
              <a:srgbClr val="F4F5F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983480" y="4754880"/>
            <a:ext cx="795782" cy="219456"/>
          </a:xfrm>
          <a:prstGeom prst="roundRect">
            <a:avLst>
              <a:gd name="adj" fmla="val 50000"/>
            </a:avLst>
          </a:prstGeom>
          <a:solidFill>
            <a:srgbClr val="FFF3D6"/>
          </a:solidFill>
          <a:ln w="9525">
            <a:solidFill>
              <a:srgbClr val="FFF3D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379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인스모바일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4983480" y="50292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선불 1GB · 30일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4983480" y="52395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6,600원 / 충전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132320" y="4663440"/>
            <a:ext cx="2148840" cy="91440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9525">
            <a:solidFill>
              <a:srgbClr val="F4F5F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269480" y="4754880"/>
            <a:ext cx="687832" cy="219456"/>
          </a:xfrm>
          <a:prstGeom prst="roundRect">
            <a:avLst>
              <a:gd name="adj" fmla="val 50000"/>
            </a:avLst>
          </a:prstGeom>
          <a:solidFill>
            <a:srgbClr val="E9F8EE"/>
          </a:solidFill>
          <a:ln w="9525">
            <a:solidFill>
              <a:srgbClr val="E9F8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9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위너스텔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7269480" y="50292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선불 3GB · 30일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7269480" y="52395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11,000원 / 충전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9418320" y="4663440"/>
            <a:ext cx="2148840" cy="91440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9525">
            <a:solidFill>
              <a:srgbClr val="F4F5F7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555480" y="4754880"/>
            <a:ext cx="795782" cy="219456"/>
          </a:xfrm>
          <a:prstGeom prst="roundRect">
            <a:avLst>
              <a:gd name="adj" fmla="val 50000"/>
            </a:avLst>
          </a:prstGeom>
          <a:solidFill>
            <a:srgbClr val="FFE4EC"/>
          </a:solidFill>
          <a:ln w="9525">
            <a:solidFill>
              <a:srgbClr val="FFE4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슈가모바일</a:t>
            </a:r>
            <a:endParaRPr lang="en-US" sz="850" dirty="0"/>
          </a:p>
        </p:txBody>
      </p:sp>
      <p:sp>
        <p:nvSpPr>
          <p:cNvPr id="33" name="Text 30"/>
          <p:cNvSpPr txBox="1"/>
          <p:nvPr/>
        </p:nvSpPr>
        <p:spPr>
          <a:xfrm>
            <a:off x="9555480" y="50292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선불 무제한 · 7일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9555480" y="52395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9,900원 / 충전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4846320" y="58064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선불은 어떤 비교에도 넣지 않음 · 전화번호는 URL에 넣지 않음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5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메인 페이지 · 인터넷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 상품 비교와 제휴업체 신청 연결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배너 → 상품 비교 섹션 → 상담 신청 → 제휴업체 신청 페이지(포워딩)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052560" y="6473952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im010 홈페이지 기획서   11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55648"/>
            <a:ext cx="814832" cy="292608"/>
          </a:xfrm>
          <a:prstGeom prst="roundRect">
            <a:avLst>
              <a:gd name="adj" fmla="val 50000"/>
            </a:avLst>
          </a:prstGeom>
          <a:solidFill>
            <a:srgbClr val="1F2430"/>
          </a:solidFill>
          <a:ln w="9525">
            <a:solidFill>
              <a:srgbClr val="1F24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(6)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454912" y="1755648"/>
            <a:ext cx="1272032" cy="292608"/>
          </a:xfrm>
          <a:prstGeom prst="roundRect">
            <a:avLst>
              <a:gd name="adj" fmla="val 50000"/>
            </a:avLst>
          </a:prstGeom>
          <a:solidFill>
            <a:srgbClr val="F4F5F7"/>
          </a:solidFill>
          <a:ln w="9525">
            <a:solidFill>
              <a:srgbClr val="F4F5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 단독 (3)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818384" y="1755648"/>
            <a:ext cx="1653032" cy="292608"/>
          </a:xfrm>
          <a:prstGeom prst="roundRect">
            <a:avLst>
              <a:gd name="adj" fmla="val 50000"/>
            </a:avLst>
          </a:prstGeom>
          <a:solidFill>
            <a:srgbClr val="F4F5F7"/>
          </a:solidFill>
          <a:ln w="9525">
            <a:solidFill>
              <a:srgbClr val="F4F5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 + TV 결합 (3)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64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822960"/>
                <a:gridCol w="2834640"/>
                <a:gridCol w="1463040"/>
                <a:gridCol w="49377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ISP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요금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혜택 (3년 약정 기준)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SKT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E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기가인터넷 500M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22,000원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사은품 최대 25만 · 공유기 임대 무료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0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기가인터넷 1G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27,500원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사은품 최대 28만 · TV 결합 추가 할인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LG U+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인터넷 500M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21,000원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사은품 최대 30만 · 알뜰폰 결합 할인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SKT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E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4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500M + B tv 이코노미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33,000원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사은품 최대 40만 · 셋톱박스 임대료 포함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0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4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500M + 지니TV 베이직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35,200원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사은품 최대 43만 · OTT 1개월 무료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LG U+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4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500M + U+tv 베이직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34,100원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사은품 최대 45만 · 알뜰폰 결합 할인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5257800"/>
            <a:ext cx="3566160" cy="1005840"/>
          </a:xfrm>
          <a:prstGeom prst="roundRect">
            <a:avLst>
              <a:gd name="adj" fmla="val 10909"/>
            </a:avLst>
          </a:prstGeom>
          <a:solidFill>
            <a:srgbClr val="FFF1EE"/>
          </a:solidFill>
          <a:ln w="9525">
            <a:solidFill>
              <a:srgbClr val="FFF1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5422392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결합 상품 3종 추가 (v0.2)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5733288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탭 "인터넷 + TV 결합"이 실제로 걸러지도록 결합 상품을 추가했습니다.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297680" y="5257800"/>
            <a:ext cx="3566160" cy="1005840"/>
          </a:xfrm>
          <a:prstGeom prst="roundRect">
            <a:avLst>
              <a:gd name="adj" fmla="val 10909"/>
            </a:avLst>
          </a:prstGeom>
          <a:solidFill>
            <a:srgbClr val="FFF1EE"/>
          </a:solidFill>
          <a:ln w="9525">
            <a:solidFill>
              <a:srgbClr val="FFF1E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98848" y="5422392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탭은 그룹별로 독립 동작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498848" y="5733288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 탭과 제휴사 탭이 서로의 선택 상태를 바꾸지 않습니다.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046720" y="5257800"/>
            <a:ext cx="3566160" cy="1005840"/>
          </a:xfrm>
          <a:prstGeom prst="roundRect">
            <a:avLst>
              <a:gd name="adj" fmla="val 10909"/>
            </a:avLst>
          </a:prstGeom>
          <a:solidFill>
            <a:srgbClr val="FFF1EE"/>
          </a:solidFill>
          <a:ln w="9525">
            <a:solidFill>
              <a:srgbClr val="FFF1E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47888" y="5422392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신청 → 제휴업체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247888" y="5733288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제휴업체 신청 페이지로 포워딩, im010은 이동 기록만 (개인정보 없음, 백오피스 RC-02)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5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메인 페이지 · 요금제분석 · 신뢰 지표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데이터로 보여주는 합리성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게시 중인 후불 요금제 기준 GB당 평균 요금, 7개사 (선불 · 무제한 제외, 예시 데이터)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052560" y="6473952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im010 홈페이지 기획서  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685800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685800" y="1874520"/>
          <a:ext cx="658368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349240" y="2487168"/>
            <a:ext cx="1607312" cy="256032"/>
          </a:xfrm>
          <a:prstGeom prst="roundRect">
            <a:avLst>
              <a:gd name="adj" fmla="val 50000"/>
            </a:avLst>
          </a:prstGeom>
          <a:solidFill>
            <a:srgbClr val="FA5A47"/>
          </a:solidFill>
          <a:ln w="9525">
            <a:solidFill>
              <a:srgbClr val="FA5A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최저 · 위너스텔 980원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726680" y="1783080"/>
            <a:ext cx="3886200" cy="1161288"/>
          </a:xfrm>
          <a:prstGeom prst="roundRect">
            <a:avLst>
              <a:gd name="adj" fmla="val 9449"/>
            </a:avLst>
          </a:prstGeom>
          <a:solidFill>
            <a:srgbClr val="FFF1EE"/>
          </a:solidFill>
          <a:ln w="9525">
            <a:solidFill>
              <a:srgbClr val="FFF1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955280" y="19659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달 가장 많이 비교된 데이터 구간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7955280" y="22585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11GB ~ 30GB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7726680" y="3081528"/>
            <a:ext cx="3886200" cy="1161288"/>
          </a:xfrm>
          <a:prstGeom prst="roundRect">
            <a:avLst>
              <a:gd name="adj" fmla="val 9449"/>
            </a:avLst>
          </a:prstGeom>
          <a:solidFill>
            <a:srgbClr val="FFF1EE"/>
          </a:solidFill>
          <a:ln w="9525">
            <a:solidFill>
              <a:srgbClr val="FFF1E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955280" y="32644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 3사 평균 대비 절감액 (11GB 기준)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7955280" y="355701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27,400원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7726680" y="4379976"/>
            <a:ext cx="3886200" cy="1161288"/>
          </a:xfrm>
          <a:prstGeom prst="roundRect">
            <a:avLst>
              <a:gd name="adj" fmla="val 9449"/>
            </a:avLst>
          </a:prstGeom>
          <a:solidFill>
            <a:srgbClr val="FFF1EE"/>
          </a:solidFill>
          <a:ln w="9525">
            <a:solidFill>
              <a:srgbClr val="FFF1E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955280" y="45628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빠르게 성장 중인 요금제 구간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7955280" y="48554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무제한형 요금제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715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4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128,940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1264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개통 건수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3337560" y="5715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4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3337560" y="61264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이용 만족도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26480" y="5715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7개사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6126480" y="61264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제휴 통신사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8915400" y="5715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75%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8915400" y="61264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통신비 절감 효과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5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메인 페이지 · 반응형 · 접근성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· 태블릿 · 모바일 대응과 접근성 기준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375px 폭에서도 가로 스크롤 없이 동작하는 것을 확인했습니다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052560" y="6473952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im010 홈페이지 기획서  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2103120"/>
            <a:ext cx="27432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9050">
            <a:solidFill>
              <a:srgbClr val="1F2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212848"/>
            <a:ext cx="2560320" cy="128016"/>
          </a:xfrm>
          <a:prstGeom prst="roundRect">
            <a:avLst>
              <a:gd name="adj" fmla="val 21429"/>
            </a:avLst>
          </a:prstGeom>
          <a:solidFill>
            <a:srgbClr val="FA5A47"/>
          </a:solidFill>
          <a:ln w="9525">
            <a:solidFill>
              <a:srgbClr val="FA5A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432304"/>
            <a:ext cx="1408176" cy="541325"/>
          </a:xfrm>
          <a:prstGeom prst="roundRect">
            <a:avLst>
              <a:gd name="adj" fmla="val 6757"/>
            </a:avLst>
          </a:prstGeom>
          <a:solidFill>
            <a:srgbClr val="FFF1EE"/>
          </a:solidFill>
          <a:ln w="9525">
            <a:solidFill>
              <a:srgbClr val="FFF1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1952" y="2432304"/>
            <a:ext cx="1024128" cy="541325"/>
          </a:xfrm>
          <a:prstGeom prst="roundRect">
            <a:avLst>
              <a:gd name="adj" fmla="val 6757"/>
            </a:avLst>
          </a:prstGeom>
          <a:solidFill>
            <a:srgbClr val="F4F5F7"/>
          </a:solidFill>
          <a:ln w="9525">
            <a:solidFill>
              <a:srgbClr val="F4F5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931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 &gt; 920px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42976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 Hero + 플로팅 카드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제휴사 그리드 4열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드롭다운 메뉴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14700" y="1874520"/>
            <a:ext cx="1417320" cy="192024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9050">
            <a:solidFill>
              <a:srgbClr val="1F24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06140" y="1984248"/>
            <a:ext cx="1234440" cy="128016"/>
          </a:xfrm>
          <a:prstGeom prst="roundRect">
            <a:avLst>
              <a:gd name="adj" fmla="val 21429"/>
            </a:avLst>
          </a:prstGeom>
          <a:solidFill>
            <a:srgbClr val="FA5A47"/>
          </a:solidFill>
          <a:ln w="9525">
            <a:solidFill>
              <a:srgbClr val="FA5A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06140" y="2203704"/>
            <a:ext cx="1234440" cy="614477"/>
          </a:xfrm>
          <a:prstGeom prst="roundRect">
            <a:avLst>
              <a:gd name="adj" fmla="val 5952"/>
            </a:avLst>
          </a:prstGeom>
          <a:solidFill>
            <a:srgbClr val="FFF1EE"/>
          </a:solidFill>
          <a:ln w="9525">
            <a:solidFill>
              <a:srgbClr val="FFF1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26080" y="3931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태블릿  ≤ 920px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971800" y="42976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 Hero, 플로팅 카드 숨김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햄버거 메뉴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그리드 2열, 탭 가로 스크롤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66460" y="2103120"/>
            <a:ext cx="868680" cy="169164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9050">
            <a:solidFill>
              <a:srgbClr val="1F24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57900" y="2212848"/>
            <a:ext cx="685800" cy="128016"/>
          </a:xfrm>
          <a:prstGeom prst="roundRect">
            <a:avLst>
              <a:gd name="adj" fmla="val 21429"/>
            </a:avLst>
          </a:prstGeom>
          <a:solidFill>
            <a:srgbClr val="FA5A47"/>
          </a:solidFill>
          <a:ln w="9525">
            <a:solidFill>
              <a:srgbClr val="FA5A4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57900" y="2432304"/>
            <a:ext cx="685800" cy="541325"/>
          </a:xfrm>
          <a:prstGeom prst="roundRect">
            <a:avLst>
              <a:gd name="adj" fmla="val 6757"/>
            </a:avLst>
          </a:prstGeom>
          <a:solidFill>
            <a:srgbClr val="FFF1EE"/>
          </a:solidFill>
          <a:ln w="9525">
            <a:solidFill>
              <a:srgbClr val="FFF1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03520" y="3931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 ≤ 600px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49240" y="42976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 버튼 축약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 헤더 세로 정렬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 줄바꿈 제거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863840" y="1783080"/>
            <a:ext cx="3749040" cy="4480560"/>
          </a:xfrm>
          <a:prstGeom prst="roundRect">
            <a:avLst>
              <a:gd name="adj" fmla="val 3902"/>
            </a:avLst>
          </a:prstGeom>
          <a:solidFill>
            <a:srgbClr val="FFF1EE"/>
          </a:solidFill>
          <a:ln w="9525">
            <a:solidFill>
              <a:srgbClr val="FFF1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92440" y="19385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접근성 체크리스트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2377440"/>
            <a:ext cx="292608" cy="292608"/>
          </a:xfrm>
          <a:prstGeom prst="ellipse">
            <a:avLst/>
          </a:prstGeom>
          <a:solidFill>
            <a:srgbClr val="FA5A47"/>
          </a:solidFill>
          <a:ln>
            <a:solidFill>
              <a:srgbClr val="FA5A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503920" y="235915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슬라이더 label 연결 · aria-valuetext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8092440" y="2907792"/>
            <a:ext cx="292608" cy="292608"/>
          </a:xfrm>
          <a:prstGeom prst="ellipse">
            <a:avLst/>
          </a:prstGeom>
          <a:solidFill>
            <a:srgbClr val="FA5A47"/>
          </a:solidFill>
          <a:ln>
            <a:solidFill>
              <a:srgbClr val="FA5A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503920" y="288950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망 토글 aria-pressed, 탭 aria-selected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092440" y="3438144"/>
            <a:ext cx="292608" cy="292608"/>
          </a:xfrm>
          <a:prstGeom prst="ellipse">
            <a:avLst/>
          </a:prstGeom>
          <a:solidFill>
            <a:srgbClr val="FA5A47"/>
          </a:solidFill>
          <a:ln>
            <a:solidFill>
              <a:srgbClr val="FA5A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503920" y="341985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 결과 · 개수 aria-live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092440" y="3968496"/>
            <a:ext cx="292608" cy="292608"/>
          </a:xfrm>
          <a:prstGeom prst="ellipse">
            <a:avLst/>
          </a:prstGeom>
          <a:solidFill>
            <a:srgbClr val="FA5A47"/>
          </a:solidFill>
          <a:ln>
            <a:solidFill>
              <a:srgbClr val="FA5A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503920" y="395020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폼 오류 aria-invalid + 오류 문구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8092440" y="4498848"/>
            <a:ext cx="292608" cy="292608"/>
          </a:xfrm>
          <a:prstGeom prst="ellipse">
            <a:avLst/>
          </a:prstGeom>
          <a:solidFill>
            <a:srgbClr val="FA5A47"/>
          </a:solidFill>
          <a:ln>
            <a:solidFill>
              <a:srgbClr val="FA5A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503920" y="448056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드롭다운 키보드 포커스로 열림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8092440" y="5029200"/>
            <a:ext cx="292608" cy="292608"/>
          </a:xfrm>
          <a:prstGeom prst="ellipse">
            <a:avLst/>
          </a:prstGeom>
          <a:solidFill>
            <a:srgbClr val="FA5A47"/>
          </a:solidFill>
          <a:ln>
            <a:solidFill>
              <a:srgbClr val="FA5A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503920" y="501091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:focus-visible 포커스 링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8092440" y="5559552"/>
            <a:ext cx="292608" cy="292608"/>
          </a:xfrm>
          <a:prstGeom prst="ellipse">
            <a:avLst/>
          </a:prstGeom>
          <a:solidFill>
            <a:srgbClr val="FA5A47"/>
          </a:solidFill>
          <a:ln>
            <a:solidFill>
              <a:srgbClr val="FA5A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8503920" y="55412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링크 rel="noopener noreferrer"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5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메인 페이지 · 검토 이슈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목업 검토 이슈 13건 반영 현황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v0.2에서 11건 완료, 2건 부분 반영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052560" y="6473952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im010 홈페이지 기획서   14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373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0" b="1" dirty="0">
                <a:solidFill>
                  <a:srgbClr val="FA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pPr indent="0" marL="0">
              <a:buNone/>
            </a:pPr>
            <a:r>
              <a:rPr lang="en-US" sz="2800" b="1" dirty="0">
                <a:solidFill>
                  <a:srgbClr val="8A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13</a:t>
            </a:r>
            <a:endParaRPr lang="en-US" sz="8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26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3017520" cy="2743200"/>
          </a:xfrm>
          <a:prstGeom prst="roundRect">
            <a:avLst>
              <a:gd name="adj" fmla="val 4000"/>
            </a:avLst>
          </a:prstGeom>
          <a:solidFill>
            <a:srgbClr val="FFF1EE"/>
          </a:solidFill>
          <a:ln w="9525">
            <a:solidFill>
              <a:srgbClr val="FFF1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3639312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 반영 2건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3950208"/>
            <a:ext cx="261518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#9 하위 페이지 — 이번 하위 페이지 기획서로 설계, 구현 전까지 "준비 중" 안내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#13 사업자 정보 — 영역은 만들었고 실제 값(대표자·등록번호·주소 등)이 필요</a:t>
            </a:r>
            <a:endParaRPr lang="en-US" sz="10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1783080"/>
          <a:ext cx="76809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234440"/>
                <a:gridCol w="5166360"/>
                <a:gridCol w="82296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반영 내용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정합성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최대 절감률을 계산기 데이터로 자동 산출 (75%)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9E5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8E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 렌더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상태(11GB · SKT)와 처음 화면 값 일치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9E5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8E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 최저가 요금제 조회 + 상세 링크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9E5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8E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망별 3사 평균 대비 실제 절약률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9E5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8E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제휴사 · 인터넷 탭 필터, 그룹별 독립 동작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9E5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8E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통신사 선택 · 번호 검증 · 직접 입력 · 제휴사 결제 위임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9E5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8E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스타일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브랜드 칩 공통 클래스 분리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9E5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8E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IA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GNB "인터넷" 추가, Footer "서비스"로 이동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9E5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8E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IA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앵커 연결 + 미구현 페이지 "준비 중" 안내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379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콘텐츠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분석 차트 7개사 전체 표시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9E5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8E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콘텐츠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"실시간" 문구 제거, 섹션별 기준일 표기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9E5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8E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접근성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ARIA 속성 · 키보드 드롭다운 · 포커스 링 · rel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9E5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8E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기준일 고지 · 사업자 정보 영역 (값은 임시)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379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FA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9718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 페이지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40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6CB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페이지 · 공통 규칙 · 개발 우선순위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80960" y="1188720"/>
            <a:ext cx="3931920" cy="384048"/>
          </a:xfrm>
          <a:prstGeom prst="roundRect">
            <a:avLst>
              <a:gd name="adj" fmla="val 50000"/>
            </a:avLst>
          </a:prstGeom>
          <a:solidFill>
            <a:srgbClr val="2C3345"/>
          </a:solidFill>
          <a:ln w="9525">
            <a:solidFill>
              <a:srgbClr val="2C33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909560" y="11887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S1  요금제 전체 비교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680960" y="1664208"/>
            <a:ext cx="3931920" cy="384048"/>
          </a:xfrm>
          <a:prstGeom prst="roundRect">
            <a:avLst>
              <a:gd name="adj" fmla="val 50000"/>
            </a:avLst>
          </a:prstGeom>
          <a:solidFill>
            <a:srgbClr val="2C3345"/>
          </a:solidFill>
          <a:ln w="9525">
            <a:solidFill>
              <a:srgbClr val="2C33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09560" y="16642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  요금제 상세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80960" y="2139696"/>
            <a:ext cx="3931920" cy="384048"/>
          </a:xfrm>
          <a:prstGeom prst="roundRect">
            <a:avLst>
              <a:gd name="adj" fmla="val 50000"/>
            </a:avLst>
          </a:prstGeom>
          <a:solidFill>
            <a:srgbClr val="2C3345"/>
          </a:solidFill>
          <a:ln w="9525">
            <a:solidFill>
              <a:srgbClr val="2C33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09560" y="213969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  이벤트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80960" y="2615184"/>
            <a:ext cx="3931920" cy="384048"/>
          </a:xfrm>
          <a:prstGeom prst="roundRect">
            <a:avLst>
              <a:gd name="adj" fmla="val 50000"/>
            </a:avLst>
          </a:prstGeom>
          <a:solidFill>
            <a:srgbClr val="2C3345"/>
          </a:solidFill>
          <a:ln w="9525">
            <a:solidFill>
              <a:srgbClr val="2C33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09560" y="261518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S4  인터넷 신청 이동 (포워딩)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80960" y="3090672"/>
            <a:ext cx="3931920" cy="384048"/>
          </a:xfrm>
          <a:prstGeom prst="roundRect">
            <a:avLst>
              <a:gd name="adj" fmla="val 50000"/>
            </a:avLst>
          </a:prstGeom>
          <a:solidFill>
            <a:srgbClr val="2C3345"/>
          </a:solidFill>
          <a:ln w="9525">
            <a:solidFill>
              <a:srgbClr val="2C334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09560" y="309067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S5  로그인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80960" y="3566160"/>
            <a:ext cx="3931920" cy="384048"/>
          </a:xfrm>
          <a:prstGeom prst="roundRect">
            <a:avLst>
              <a:gd name="adj" fmla="val 50000"/>
            </a:avLst>
          </a:prstGeom>
          <a:solidFill>
            <a:srgbClr val="2C3345"/>
          </a:solidFill>
          <a:ln w="9525">
            <a:solidFill>
              <a:srgbClr val="2C33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09560" y="35661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S6  마이페이지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80960" y="4041648"/>
            <a:ext cx="3931920" cy="384048"/>
          </a:xfrm>
          <a:prstGeom prst="roundRect">
            <a:avLst>
              <a:gd name="adj" fmla="val 50000"/>
            </a:avLst>
          </a:prstGeom>
          <a:solidFill>
            <a:srgbClr val="2C3345"/>
          </a:solidFill>
          <a:ln w="9525">
            <a:solidFill>
              <a:srgbClr val="2C334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909560" y="40416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S7  고객지원 (FAQ · 1:1 문의)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80960" y="4517136"/>
            <a:ext cx="3931920" cy="384048"/>
          </a:xfrm>
          <a:prstGeom prst="roundRect">
            <a:avLst>
              <a:gd name="adj" fmla="val 50000"/>
            </a:avLst>
          </a:prstGeom>
          <a:solidFill>
            <a:srgbClr val="2C3345"/>
          </a:solidFill>
          <a:ln w="9525">
            <a:solidFill>
              <a:srgbClr val="2C334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09560" y="451713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S8  약관 · 개인정보처리방침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80960" y="4992624"/>
            <a:ext cx="3931920" cy="384048"/>
          </a:xfrm>
          <a:prstGeom prst="roundRect">
            <a:avLst>
              <a:gd name="adj" fmla="val 50000"/>
            </a:avLst>
          </a:prstGeom>
          <a:solidFill>
            <a:srgbClr val="2C3345"/>
          </a:solidFill>
          <a:ln w="9525">
            <a:solidFill>
              <a:srgbClr val="2C33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09560" y="499262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S9  오류 페이지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5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하위 페이지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하위 페이지와 개발 우선순위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전환(제휴사 가입 · 상담)과 법적 필수 페이지부터 만듭니다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052560" y="6473952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im010 홈페이지 기획서  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83296" y="320040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9525">
            <a:solidFill>
              <a:srgbClr val="F4F5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84464" y="3364992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페이지가 완성되면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84464" y="3675888"/>
            <a:ext cx="316382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메인의 "준비 중" 링크를 실제 페이지로 교체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착수 전 결정 사항(06장) 확정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7373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A5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1901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전환 + 법적 필수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423160"/>
            <a:ext cx="35661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  <a:effectLst>
            <a:outerShdw sx="100000" sy="100000" kx="0" ky="0" algn="bl" rotWithShape="0" blurRad="127000" dist="38100" dir="5400000">
              <a:srgbClr val="1F2430">
                <a:alpha val="14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85800" y="260604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FA5A47"/>
          </a:solidFill>
          <a:ln w="9525">
            <a:solidFill>
              <a:srgbClr val="FA5A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S1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261872" y="24963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요금제 전체 비교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277063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/plans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3172968"/>
            <a:ext cx="35661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  <a:effectLst>
            <a:outerShdw sx="100000" sy="100000" kx="0" ky="0" algn="bl" rotWithShape="0" blurRad="127000" dist="38100" dir="5400000">
              <a:srgbClr val="1F2430">
                <a:alpha val="14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85800" y="3355848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FA5A47"/>
          </a:solidFill>
          <a:ln w="9525">
            <a:solidFill>
              <a:srgbClr val="FA5A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261872" y="3246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요금제 상세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261872" y="352044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/plans/:planId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922776"/>
            <a:ext cx="35661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  <a:effectLst>
            <a:outerShdw sx="100000" sy="100000" kx="0" ky="0" algn="bl" rotWithShape="0" blurRad="127000" dist="38100" dir="5400000">
              <a:srgbClr val="1F2430">
                <a:alpha val="14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85800" y="4105656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FA5A47"/>
          </a:solidFill>
          <a:ln w="9525">
            <a:solidFill>
              <a:srgbClr val="FA5A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S4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261872" y="39959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 신청 이동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261872" y="42702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/go/internet/{id}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4672584"/>
            <a:ext cx="35661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  <a:effectLst>
            <a:outerShdw sx="100000" sy="100000" kx="0" ky="0" algn="bl" rotWithShape="0" blurRad="127000" dist="38100" dir="5400000">
              <a:srgbClr val="1F2430">
                <a:alpha val="14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85800" y="4855464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FA5A47"/>
          </a:solidFill>
          <a:ln w="9525">
            <a:solidFill>
              <a:srgbClr val="FA5A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S8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261872" y="47457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약관 · 개인정보처리방침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261872" y="502005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/terms · /privacy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5422392"/>
            <a:ext cx="35661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  <a:effectLst>
            <a:outerShdw sx="100000" sy="100000" kx="0" ky="0" algn="bl" rotWithShape="0" blurRad="127000" dist="38100" dir="5400000">
              <a:srgbClr val="1F2430">
                <a:alpha val="14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85800" y="5605272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FA5A47"/>
          </a:solidFill>
          <a:ln w="9525">
            <a:solidFill>
              <a:srgbClr val="FA5A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S9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261872" y="54955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페이지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261872" y="576986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404 · 500 · 점검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4315968" y="17373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</a:t>
            </a:r>
            <a:endParaRPr lang="en-US" sz="3000" dirty="0"/>
          </a:p>
        </p:txBody>
      </p:sp>
      <p:sp>
        <p:nvSpPr>
          <p:cNvPr id="32" name="Text 30"/>
          <p:cNvSpPr txBox="1"/>
          <p:nvPr/>
        </p:nvSpPr>
        <p:spPr>
          <a:xfrm>
            <a:off x="5276088" y="1901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재방문 · 고객 응대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315968" y="2423160"/>
            <a:ext cx="35661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  <a:effectLst>
            <a:outerShdw sx="100000" sy="100000" kx="0" ky="0" algn="bl" rotWithShape="0" blurRad="127000" dist="38100" dir="5400000">
              <a:srgbClr val="1F2430">
                <a:alpha val="14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4453128" y="260604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F2430"/>
          </a:solidFill>
          <a:ln w="9525">
            <a:solidFill>
              <a:srgbClr val="1F24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S5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5029200" y="24963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029200" y="277063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/login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315968" y="3172968"/>
            <a:ext cx="35661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  <a:effectLst>
            <a:outerShdw sx="100000" sy="100000" kx="0" ky="0" algn="bl" rotWithShape="0" blurRad="127000" dist="38100" dir="5400000">
              <a:srgbClr val="1F2430">
                <a:alpha val="14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4453128" y="3355848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F2430"/>
          </a:solidFill>
          <a:ln w="9525">
            <a:solidFill>
              <a:srgbClr val="1F24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S6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5029200" y="3246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마이페이지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5029200" y="352044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/mypage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7192518" y="3246120"/>
            <a:ext cx="579882" cy="219456"/>
          </a:xfrm>
          <a:prstGeom prst="roundRect">
            <a:avLst>
              <a:gd name="adj" fmla="val 50000"/>
            </a:avLst>
          </a:prstGeom>
          <a:solidFill>
            <a:srgbClr val="FFF1EE"/>
          </a:solidFill>
          <a:ln w="9525">
            <a:solidFill>
              <a:srgbClr val="FFF1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315968" y="3922776"/>
            <a:ext cx="35661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  <a:effectLst>
            <a:outerShdw sx="100000" sy="100000" kx="0" ky="0" algn="bl" rotWithShape="0" blurRad="127000" dist="38100" dir="5400000">
              <a:srgbClr val="1F2430">
                <a:alpha val="14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4453128" y="4105656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F2430"/>
          </a:solidFill>
          <a:ln w="9525">
            <a:solidFill>
              <a:srgbClr val="1F24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S7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5029200" y="39959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FAQ · 1:1 문의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5029200" y="42702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/support/faq · /inquiry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6803898" y="3995928"/>
            <a:ext cx="968502" cy="219456"/>
          </a:xfrm>
          <a:prstGeom prst="roundRect">
            <a:avLst>
              <a:gd name="adj" fmla="val 50000"/>
            </a:avLst>
          </a:prstGeom>
          <a:solidFill>
            <a:srgbClr val="FFF1EE"/>
          </a:solidFill>
          <a:ln w="9525">
            <a:solidFill>
              <a:srgbClr val="FFF1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문의만 로그인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8083296" y="17373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</a:t>
            </a:r>
            <a:endParaRPr lang="en-US" sz="3000" dirty="0"/>
          </a:p>
        </p:txBody>
      </p:sp>
      <p:sp>
        <p:nvSpPr>
          <p:cNvPr id="48" name="Text 46"/>
          <p:cNvSpPr txBox="1"/>
          <p:nvPr/>
        </p:nvSpPr>
        <p:spPr>
          <a:xfrm>
            <a:off x="9043416" y="1901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 운영 체계 확보 후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8083296" y="2423160"/>
            <a:ext cx="35661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  <a:effectLst>
            <a:outerShdw sx="100000" sy="100000" kx="0" ky="0" algn="bl" rotWithShape="0" blurRad="127000" dist="38100" dir="5400000">
              <a:srgbClr val="1F2430">
                <a:alpha val="14000"/>
              </a:srgbClr>
            </a:outerShdw>
          </a:effectLst>
        </p:spPr>
      </p:sp>
      <p:sp>
        <p:nvSpPr>
          <p:cNvPr id="50" name="Text 48"/>
          <p:cNvSpPr txBox="1"/>
          <p:nvPr/>
        </p:nvSpPr>
        <p:spPr>
          <a:xfrm>
            <a:off x="8220456" y="260604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8A8F9C"/>
          </a:solidFill>
          <a:ln w="9525">
            <a:solidFill>
              <a:srgbClr val="8A8F9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8796528" y="24963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목록 · 상세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8796528" y="277063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/events · /events/:id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5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하위 페이지 · 공통 규칙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하위 페이지에 적용하는 규칙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메인과 같은 GNB · Footer · 디자인 토큰을 쓰고, 화면 상태와 폼 규칙을 통일합니다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052560" y="6473952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im010 홈페이지 기획서  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40680" cy="2103120"/>
          </a:xfrm>
          <a:prstGeom prst="roundRect">
            <a:avLst>
              <a:gd name="adj" fmla="val 6957"/>
            </a:avLst>
          </a:prstGeom>
          <a:solidFill>
            <a:srgbClr val="F4F5F7"/>
          </a:solidFill>
          <a:ln w="9525">
            <a:solidFill>
              <a:srgbClr val="F4F5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984248"/>
            <a:ext cx="384048" cy="384048"/>
          </a:xfrm>
          <a:prstGeom prst="ellipse">
            <a:avLst/>
          </a:prstGeom>
          <a:solidFill>
            <a:srgbClr val="FA5A47"/>
          </a:solidFill>
          <a:ln>
            <a:solidFill>
              <a:srgbClr val="FA5A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201168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머리 · 레이아웃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14600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breadcrumb(12px) · 제목 30/800 · 설명 15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메인과 같은 GNB(sticky) · Footer, 본문 최대폭 1180px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제목 24px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783080"/>
            <a:ext cx="5440680" cy="2103120"/>
          </a:xfrm>
          <a:prstGeom prst="roundRect">
            <a:avLst>
              <a:gd name="adj" fmla="val 6957"/>
            </a:avLst>
          </a:prstGeom>
          <a:solidFill>
            <a:srgbClr val="F4F5F7"/>
          </a:solidFill>
          <a:ln w="9525">
            <a:solidFill>
              <a:srgbClr val="F4F5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1984248"/>
            <a:ext cx="384048" cy="384048"/>
          </a:xfrm>
          <a:prstGeom prst="ellipse">
            <a:avLst/>
          </a:prstGeom>
          <a:solidFill>
            <a:srgbClr val="FA5A47"/>
          </a:solidFill>
          <a:ln>
            <a:solidFill>
              <a:srgbClr val="FA5A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922008" y="201168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514600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로딩: 카드 모양 스켈레톤, 버튼 비활성 + 스피너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화면: 안내 문구 + 다음 행동 버튼 (예: 필터 초기화)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오류: 코랄 경고 박스 + 다시 시도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필요: /login?next= 로 이동 후 원래 위치로 복귀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440680" cy="2103120"/>
          </a:xfrm>
          <a:prstGeom prst="roundRect">
            <a:avLst>
              <a:gd name="adj" fmla="val 6957"/>
            </a:avLst>
          </a:prstGeom>
          <a:solidFill>
            <a:srgbClr val="F4F5F7"/>
          </a:solidFill>
          <a:ln w="9525">
            <a:solidFill>
              <a:srgbClr val="F4F5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315968"/>
            <a:ext cx="384048" cy="384048"/>
          </a:xfrm>
          <a:prstGeom prst="ellipse">
            <a:avLst/>
          </a:prstGeom>
          <a:solidFill>
            <a:srgbClr val="FA5A47"/>
          </a:solidFill>
          <a:ln>
            <a:solidFill>
              <a:srgbClr val="FA5A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298448" y="434340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폼 규칙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846320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시 코랄 테두리 + 필드 아래 문구 + aria-invalid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시 첫 번째 오류 필드로 포커스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폼은 필수 동의 체크 + "자세히" 펼침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전화번호 자동 하이픈 · 개인정보는 URL에 넣지 않음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4114800"/>
            <a:ext cx="5440680" cy="2103120"/>
          </a:xfrm>
          <a:prstGeom prst="roundRect">
            <a:avLst>
              <a:gd name="adj" fmla="val 6957"/>
            </a:avLst>
          </a:prstGeom>
          <a:solidFill>
            <a:srgbClr val="F4F5F7"/>
          </a:solidFill>
          <a:ln w="9525">
            <a:solidFill>
              <a:srgbClr val="F4F5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0" y="4315968"/>
            <a:ext cx="384048" cy="384048"/>
          </a:xfrm>
          <a:prstGeom prst="ellipse">
            <a:avLst/>
          </a:prstGeom>
          <a:solidFill>
            <a:srgbClr val="FA5A47"/>
          </a:solidFill>
          <a:ln>
            <a:solidFill>
              <a:srgbClr val="FA5A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922008" y="434340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"준비 중" 링크 연결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4846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 →  </a:t>
            </a:r>
            <a:pPr indent="0" marL="0">
              <a:buNone/>
            </a:pPr>
            <a:r>
              <a:rPr lang="en-US" sz="105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9006840" y="4846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마이페이지  →  </a:t>
            </a:r>
            <a:pPr indent="0" marL="0">
              <a:buNone/>
            </a:pPr>
            <a:r>
              <a:rPr lang="en-US" sz="105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S6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51755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 →  </a:t>
            </a:r>
            <a:pPr indent="0" marL="0">
              <a:buNone/>
            </a:pPr>
            <a:r>
              <a:rPr lang="en-US" sz="105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S5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9006840" y="51755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신청  →  </a:t>
            </a:r>
            <a:pPr indent="0" marL="0">
              <a:buNone/>
            </a:pPr>
            <a:r>
              <a:rPr lang="en-US" sz="105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S4 포워딩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55046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FAQ · 1:1 문의  →  </a:t>
            </a:r>
            <a:pPr indent="0" marL="0">
              <a:buNone/>
            </a:pPr>
            <a:r>
              <a:rPr lang="en-US" sz="105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S7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9006840" y="55046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약관 · 방침  →  </a:t>
            </a:r>
            <a:pPr indent="0" marL="0">
              <a:buNone/>
            </a:pPr>
            <a:r>
              <a:rPr lang="en-US" sz="105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S8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5833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비교  →  </a:t>
            </a:r>
            <a:pPr indent="0" marL="0">
              <a:buNone/>
            </a:pPr>
            <a:r>
              <a:rPr lang="en-US" sz="105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S1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5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하위 페이지 · S1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요금제 전체 비교   /plans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게시 완료된 후불 요금제만 · 필터 · 정렬 · 최대 3개 비교 (선불 제외)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052560" y="6473952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im010 홈페이지 기획서  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740664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938528"/>
            <a:ext cx="1965960" cy="3657600"/>
          </a:xfrm>
          <a:prstGeom prst="roundRect">
            <a:avLst>
              <a:gd name="adj" fmla="val 4651"/>
            </a:avLst>
          </a:prstGeom>
          <a:solidFill>
            <a:srgbClr val="F4F5F7"/>
          </a:solidFill>
          <a:ln w="9525">
            <a:solidFill>
              <a:srgbClr val="F4F5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0574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</a:t>
            </a:r>
            <a:pPr indent="0" marL="0">
              <a:buNone/>
            </a:pPr>
            <a:r>
              <a:rPr lang="en-US" sz="900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     초기화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4231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통신망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62432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☑ SKT  ☐ KT  ☐ LGU+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9352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13639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~5GB  ● 5~15GB  ○ 무제한…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4472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세대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648456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LTE  ☑ 5G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9593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요금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41605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0원 ━━━━●━━ 30,000원+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4714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67258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마블링  ☐ 토리모바일 …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49834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혜택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518464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유심비 무료  ☐ 첫달 무료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2880360" y="1993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요금제 </a:t>
            </a:r>
            <a:pPr indent="0" marL="0">
              <a:buNone/>
            </a:pPr>
            <a:r>
              <a:rPr lang="en-US" sz="110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pPr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349240" y="1965960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9E7E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낮은 가격순 ▾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748272" y="19659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1F2430"/>
          </a:solidFill>
          <a:ln w="9525">
            <a:solidFill>
              <a:srgbClr val="1F24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| 표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2880360" y="2377440"/>
            <a:ext cx="598932" cy="237744"/>
          </a:xfrm>
          <a:prstGeom prst="roundRect">
            <a:avLst>
              <a:gd name="adj" fmla="val 50000"/>
            </a:avLst>
          </a:prstGeom>
          <a:solidFill>
            <a:srgbClr val="FFF1EE"/>
          </a:solidFill>
          <a:ln w="9525">
            <a:solidFill>
              <a:srgbClr val="FFF1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SKT ✕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3566160" y="2377440"/>
            <a:ext cx="530352" cy="237744"/>
          </a:xfrm>
          <a:prstGeom prst="roundRect">
            <a:avLst>
              <a:gd name="adj" fmla="val 50000"/>
            </a:avLst>
          </a:prstGeom>
          <a:solidFill>
            <a:srgbClr val="FFF1EE"/>
          </a:solidFill>
          <a:ln w="9525">
            <a:solidFill>
              <a:srgbClr val="FFF1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5G ✕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880360" y="2788920"/>
            <a:ext cx="1554480" cy="182880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  <a:effectLst>
            <a:outerShdw sx="100000" sy="100000" kx="0" ky="0" algn="bl" rotWithShape="0" blurRad="127000" dist="38100" dir="5400000">
              <a:srgbClr val="1F2430">
                <a:alpha val="14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2990088" y="2898648"/>
            <a:ext cx="579882" cy="219456"/>
          </a:xfrm>
          <a:prstGeom prst="roundRect">
            <a:avLst>
              <a:gd name="adj" fmla="val 50000"/>
            </a:avLst>
          </a:prstGeom>
          <a:solidFill>
            <a:srgbClr val="FFE9E5"/>
          </a:solidFill>
          <a:ln w="9525">
            <a:solidFill>
              <a:srgbClr val="FFE9E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마블링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4114800" y="2880360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A5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♡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2990088" y="32004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11GB + 매일 2GB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2990088" y="34381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16,500원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2990088" y="37490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SKT · 5G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2990088" y="4114800"/>
            <a:ext cx="133502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24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담기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44568" y="2788920"/>
            <a:ext cx="1554480" cy="182880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  <a:effectLst>
            <a:outerShdw sx="100000" sy="100000" kx="0" ky="0" algn="bl" rotWithShape="0" blurRad="127000" dist="38100" dir="5400000">
              <a:srgbClr val="1F2430">
                <a:alpha val="14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4654296" y="2898648"/>
            <a:ext cx="795782" cy="219456"/>
          </a:xfrm>
          <a:prstGeom prst="roundRect">
            <a:avLst>
              <a:gd name="adj" fmla="val 50000"/>
            </a:avLst>
          </a:prstGeom>
          <a:solidFill>
            <a:srgbClr val="FDECC8"/>
          </a:solidFill>
          <a:ln w="9525">
            <a:solidFill>
              <a:srgbClr val="FDEC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26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시월모바일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5779008" y="2880360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A5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♡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4654296" y="32004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50GB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4654296" y="34381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17,900원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4654296" y="37490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SKT · 5G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4654296" y="4114800"/>
            <a:ext cx="133502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24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담기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08776" y="2788920"/>
            <a:ext cx="1554480" cy="182880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  <a:effectLst>
            <a:outerShdw sx="100000" sy="100000" kx="0" ky="0" algn="bl" rotWithShape="0" blurRad="127000" dist="38100" dir="5400000">
              <a:srgbClr val="1F2430">
                <a:alpha val="14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6318504" y="2898648"/>
            <a:ext cx="579882" cy="219456"/>
          </a:xfrm>
          <a:prstGeom prst="roundRect">
            <a:avLst>
              <a:gd name="adj" fmla="val 50000"/>
            </a:avLst>
          </a:prstGeom>
          <a:solidFill>
            <a:srgbClr val="FFE9E5"/>
          </a:solidFill>
          <a:ln w="9525">
            <a:solidFill>
              <a:srgbClr val="FFE9E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마블링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7443216" y="2880360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A5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♡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318504" y="32004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무제한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6318504" y="34381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26,400원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6318504" y="37490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SKT · 5G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6318504" y="4114800"/>
            <a:ext cx="133502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24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담기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13232" y="5715000"/>
            <a:ext cx="7086600" cy="438912"/>
          </a:xfrm>
          <a:prstGeom prst="roundRect">
            <a:avLst>
              <a:gd name="adj" fmla="val 20833"/>
            </a:avLst>
          </a:prstGeom>
          <a:solidFill>
            <a:srgbClr val="1F2430"/>
          </a:solidFill>
          <a:ln w="9525">
            <a:solidFill>
              <a:srgbClr val="1F243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96112" y="571500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비교함 2/3   [마블링 11GB+ ✕]   [시월모바일 50GB ✕]   [ + ]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6583680" y="5788152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A5A47"/>
          </a:solidFill>
          <a:ln w="9525">
            <a:solidFill>
              <a:srgbClr val="FA5A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비교하기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8275320" y="17830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 6종</a:t>
            </a:r>
            <a:endParaRPr lang="en-US" sz="1250" dirty="0"/>
          </a:p>
        </p:txBody>
      </p:sp>
      <p:sp>
        <p:nvSpPr>
          <p:cNvPr id="51" name="Text 49"/>
          <p:cNvSpPr txBox="1"/>
          <p:nvPr/>
        </p:nvSpPr>
        <p:spPr>
          <a:xfrm>
            <a:off x="8275320" y="2084832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통신망 · 데이터 · 세대 · 월 요금 · 브랜드 · 혜택. 필터 상태는 URL 쿼리에 저장(공유·뒤로가기 유지)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8275320" y="28986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메인에서 이어받기</a:t>
            </a:r>
            <a:endParaRPr lang="en-US" sz="1250" dirty="0"/>
          </a:p>
        </p:txBody>
      </p:sp>
      <p:sp>
        <p:nvSpPr>
          <p:cNvPr id="53" name="Text 51"/>
          <p:cNvSpPr txBox="1"/>
          <p:nvPr/>
        </p:nvSpPr>
        <p:spPr>
          <a:xfrm>
            <a:off x="8275320" y="3200400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계산기 → 망·데이터, 제휴사 탭 → 브랜드가 자동 적용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8275320" y="401421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 · 보기</a:t>
            </a:r>
            <a:endParaRPr lang="en-US" sz="1250" dirty="0"/>
          </a:p>
        </p:txBody>
      </p:sp>
      <p:sp>
        <p:nvSpPr>
          <p:cNvPr id="55" name="Text 53"/>
          <p:cNvSpPr txBox="1"/>
          <p:nvPr/>
        </p:nvSpPr>
        <p:spPr>
          <a:xfrm>
            <a:off x="8275320" y="4315968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가격순 · 데이터순 · GB당 요금순 · 인기순, 카드/표 보기, 24개씩 더보기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8275320" y="512978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비교함</a:t>
            </a:r>
            <a:endParaRPr lang="en-US" sz="1250" dirty="0"/>
          </a:p>
        </p:txBody>
      </p:sp>
      <p:sp>
        <p:nvSpPr>
          <p:cNvPr id="57" name="Text 55"/>
          <p:cNvSpPr txBox="1"/>
          <p:nvPr/>
        </p:nvSpPr>
        <p:spPr>
          <a:xfrm>
            <a:off x="8275320" y="5431536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3개, 비로그인도 사용. 후불끼리만 비교, 항목별 최저 요금 · 최대 데이터에 ★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5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하위 페이지 · S2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요금제 상세   /plans/:planId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확정: 자체 상세 → 개통하기 → /go/{planId} → 제휴사 개통 URL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052560" y="6473952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im010 홈페이지 기획서   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740664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965960"/>
            <a:ext cx="598932" cy="237744"/>
          </a:xfrm>
          <a:prstGeom prst="roundRect">
            <a:avLst>
              <a:gd name="adj" fmla="val 50000"/>
            </a:avLst>
          </a:prstGeom>
          <a:solidFill>
            <a:srgbClr val="FFE9E5"/>
          </a:solidFill>
          <a:ln w="9525">
            <a:solidFill>
              <a:srgbClr val="FFE9E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마블링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536192" y="1965960"/>
            <a:ext cx="817372" cy="237744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 w="9525">
            <a:solidFill>
              <a:srgbClr val="FFB02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A2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이달의 1위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286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넉넉 11GB+ 요금제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6700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11GB + 매일 2GB · SKT망 · 5G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3017520"/>
            <a:ext cx="1097280" cy="658368"/>
          </a:xfrm>
          <a:prstGeom prst="roundRect">
            <a:avLst>
              <a:gd name="adj" fmla="val 11111"/>
            </a:avLst>
          </a:prstGeom>
          <a:solidFill>
            <a:srgbClr val="F4F5F7"/>
          </a:solidFill>
          <a:ln w="9525">
            <a:solidFill>
              <a:srgbClr val="F4F5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07238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2918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11GB+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965960" y="3017520"/>
            <a:ext cx="1097280" cy="658368"/>
          </a:xfrm>
          <a:prstGeom prst="roundRect">
            <a:avLst>
              <a:gd name="adj" fmla="val 11111"/>
            </a:avLst>
          </a:prstGeom>
          <a:solidFill>
            <a:srgbClr val="F4F5F7"/>
          </a:solidFill>
          <a:ln w="9525">
            <a:solidFill>
              <a:srgbClr val="F4F5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965960" y="307238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통화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1965960" y="32918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제공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54680" y="3017520"/>
            <a:ext cx="1097280" cy="658368"/>
          </a:xfrm>
          <a:prstGeom prst="roundRect">
            <a:avLst>
              <a:gd name="adj" fmla="val 11111"/>
            </a:avLst>
          </a:prstGeom>
          <a:solidFill>
            <a:srgbClr val="F4F5F7"/>
          </a:solidFill>
          <a:ln w="9525">
            <a:solidFill>
              <a:srgbClr val="F4F5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154680" y="307238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문자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3154680" y="32918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제공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43400" y="3017520"/>
            <a:ext cx="1097280" cy="658368"/>
          </a:xfrm>
          <a:prstGeom prst="roundRect">
            <a:avLst>
              <a:gd name="adj" fmla="val 11111"/>
            </a:avLst>
          </a:prstGeom>
          <a:solidFill>
            <a:srgbClr val="F4F5F7"/>
          </a:solidFill>
          <a:ln w="9525">
            <a:solidFill>
              <a:srgbClr val="F4F5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43400" y="307238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소진 시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4343400" y="32918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1Mbps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38221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 상세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405993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기본료 16,500원 · 약정 없음 · 유심비 0원 · 개통 수수료 0원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43708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혜택 · 유의사항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460857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신규·번호이동 가입 시 유심비 무료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매일 2GB 소진 후 1Mbps로 계속 사용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51206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요금제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77240" y="5394960"/>
            <a:ext cx="1481328" cy="640080"/>
          </a:xfrm>
          <a:prstGeom prst="roundRect">
            <a:avLst>
              <a:gd name="adj" fmla="val 11429"/>
            </a:avLst>
          </a:prstGeom>
          <a:solidFill>
            <a:srgbClr val="F4F5F7"/>
          </a:solidFill>
          <a:ln w="9525">
            <a:solidFill>
              <a:srgbClr val="F4F5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77440" y="5394960"/>
            <a:ext cx="1481328" cy="640080"/>
          </a:xfrm>
          <a:prstGeom prst="roundRect">
            <a:avLst>
              <a:gd name="adj" fmla="val 11429"/>
            </a:avLst>
          </a:prstGeom>
          <a:solidFill>
            <a:srgbClr val="F4F5F7"/>
          </a:solidFill>
          <a:ln w="9525">
            <a:solidFill>
              <a:srgbClr val="F4F5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977640" y="5394960"/>
            <a:ext cx="1481328" cy="640080"/>
          </a:xfrm>
          <a:prstGeom prst="roundRect">
            <a:avLst>
              <a:gd name="adj" fmla="val 11429"/>
            </a:avLst>
          </a:prstGeom>
          <a:solidFill>
            <a:srgbClr val="F4F5F7"/>
          </a:solidFill>
          <a:ln w="9525">
            <a:solidFill>
              <a:srgbClr val="F4F5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60720" y="1965960"/>
            <a:ext cx="2011680" cy="27432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  <a:effectLst>
            <a:outerShdw sx="100000" sy="100000" kx="0" ky="0" algn="bl" rotWithShape="0" blurRad="127000" dist="38100" dir="5400000">
              <a:srgbClr val="1F2430">
                <a:alpha val="14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5897880" y="21031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</a:t>
            </a:r>
            <a:pPr indent="0" marL="0">
              <a:buNone/>
            </a:pPr>
            <a:r>
              <a:rPr lang="en-US" sz="20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16,500</a:t>
            </a:r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897880" y="254203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3사 평균 대비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27,400원 절약 (62%)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897880" y="315468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A5A47"/>
          </a:solidFill>
          <a:ln w="9525">
            <a:solidFill>
              <a:srgbClr val="FA5A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개통하기 ↗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5897880" y="361188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24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♡ 관심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6793992" y="361188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24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담기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5897880" y="404164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마블링 사이트로 이동해요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5760720" y="4800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우측 고정 (모바일: 하단 고정 바)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8275320" y="17830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할인 요금제 표기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8275320" y="2084832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할인 후 요금을 반드시 함께 표기 — 예: 6개월간 12,900원 → 이후 18,700원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8275320" y="28986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 종료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8275320" y="3200400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수집에서 사라지면 다음 날 자동 종료 · 회색 배너, 개통하기 비활성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8275320" y="401421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요금제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8275320" y="4315968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후불만: 같은 망, 데이터 ±50%, 최대 3개 · 선불형 상세는 절약 · 비슷한 요금제 없음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275320" y="512978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필요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8275320" y="5431536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제휴사 유입 추적 파라미터(utm 등)와 제휴 수수료 정산 기준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5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하위 페이지 · S3 · S9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이벤트와 오류 페이지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이벤트는 목록 · 상세 2단계, 오류 페이지는 다음 행동 버튼을 함께 제공합니다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052560" y="6473952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im010 홈페이지 기획서   20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55648"/>
            <a:ext cx="713232" cy="292608"/>
          </a:xfrm>
          <a:prstGeom prst="roundRect">
            <a:avLst>
              <a:gd name="adj" fmla="val 50000"/>
            </a:avLst>
          </a:prstGeom>
          <a:solidFill>
            <a:srgbClr val="1F2430"/>
          </a:solidFill>
          <a:ln w="9525">
            <a:solidFill>
              <a:srgbClr val="1F24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중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1755648"/>
            <a:ext cx="510032" cy="292608"/>
          </a:xfrm>
          <a:prstGeom prst="roundRect">
            <a:avLst>
              <a:gd name="adj" fmla="val 50000"/>
            </a:avLst>
          </a:prstGeom>
          <a:solidFill>
            <a:srgbClr val="F4F5F7"/>
          </a:solidFill>
          <a:ln w="9525">
            <a:solidFill>
              <a:srgbClr val="F4F5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1755648"/>
            <a:ext cx="107645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9E7E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브랜드 ▾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2377440" cy="27432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  <a:effectLst>
            <a:outerShdw sx="100000" sy="100000" kx="0" ky="0" algn="bl" rotWithShape="0" blurRad="127000" dist="38100" dir="5400000">
              <a:srgbClr val="1F243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240280"/>
            <a:ext cx="2377440" cy="1280160"/>
          </a:xfrm>
          <a:prstGeom prst="roundRect">
            <a:avLst>
              <a:gd name="adj" fmla="val 8571"/>
            </a:avLst>
          </a:prstGeom>
          <a:solidFill>
            <a:srgbClr val="FDECC8"/>
          </a:solidFill>
          <a:ln w="9525">
            <a:solidFill>
              <a:srgbClr val="FDEC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24028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썸네일 16:9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657600"/>
            <a:ext cx="795782" cy="228600"/>
          </a:xfrm>
          <a:prstGeom prst="roundRect">
            <a:avLst>
              <a:gd name="adj" fmla="val 50000"/>
            </a:avLst>
          </a:prstGeom>
          <a:solidFill>
            <a:srgbClr val="FDECC8"/>
          </a:solidFill>
          <a:ln w="9525">
            <a:solidFill>
              <a:srgbClr val="FDEC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26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시월모바일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573022" y="3657600"/>
            <a:ext cx="515112" cy="228600"/>
          </a:xfrm>
          <a:prstGeom prst="roundRect">
            <a:avLst>
              <a:gd name="adj" fmla="val 50000"/>
            </a:avLst>
          </a:prstGeom>
          <a:solidFill>
            <a:srgbClr val="1F2430"/>
          </a:solidFill>
          <a:ln w="9525">
            <a:solidFill>
              <a:srgbClr val="1F24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D-12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977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첫달 요금 0원 이벤트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452628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10.01 ~ 10.31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063240" y="2240280"/>
            <a:ext cx="2377440" cy="27432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  <a:effectLst>
            <a:outerShdw sx="100000" sy="100000" kx="0" ky="0" algn="bl" rotWithShape="0" blurRad="127000" dist="38100" dir="5400000">
              <a:srgbClr val="1F243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063240" y="2240280"/>
            <a:ext cx="2377440" cy="1280160"/>
          </a:xfrm>
          <a:prstGeom prst="roundRect">
            <a:avLst>
              <a:gd name="adj" fmla="val 8571"/>
            </a:avLst>
          </a:prstGeom>
          <a:solidFill>
            <a:srgbClr val="FFE4DF"/>
          </a:solidFill>
          <a:ln w="9525">
            <a:solidFill>
              <a:srgbClr val="FFE4D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063240" y="224028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썸네일 16:9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200400" y="3657600"/>
            <a:ext cx="579882" cy="228600"/>
          </a:xfrm>
          <a:prstGeom prst="roundRect">
            <a:avLst>
              <a:gd name="adj" fmla="val 50000"/>
            </a:avLst>
          </a:prstGeom>
          <a:solidFill>
            <a:srgbClr val="FA5A47"/>
          </a:solidFill>
          <a:ln w="9525">
            <a:solidFill>
              <a:srgbClr val="FA5A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im010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3871722" y="3657600"/>
            <a:ext cx="450342" cy="228600"/>
          </a:xfrm>
          <a:prstGeom prst="roundRect">
            <a:avLst>
              <a:gd name="adj" fmla="val 50000"/>
            </a:avLst>
          </a:prstGeom>
          <a:solidFill>
            <a:srgbClr val="1F2430"/>
          </a:solidFill>
          <a:ln w="9525">
            <a:solidFill>
              <a:srgbClr val="1F24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D-3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3200400" y="3977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인증하고 커피 받기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200400" y="452628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09.20 ~ 10.04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577840" y="2240280"/>
            <a:ext cx="2377440" cy="27432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  <a:effectLst>
            <a:outerShdw sx="100000" sy="100000" kx="0" ky="0" algn="bl" rotWithShape="0" blurRad="127000" dist="38100" dir="5400000">
              <a:srgbClr val="1F243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577840" y="2240280"/>
            <a:ext cx="2377440" cy="1280160"/>
          </a:xfrm>
          <a:prstGeom prst="roundRect">
            <a:avLst>
              <a:gd name="adj" fmla="val 8571"/>
            </a:avLst>
          </a:prstGeom>
          <a:solidFill>
            <a:srgbClr val="E6F0FF"/>
          </a:solidFill>
          <a:ln w="9525">
            <a:solidFill>
              <a:srgbClr val="E6F0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577840" y="224028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썸네일 16:9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715000" y="3657600"/>
            <a:ext cx="795782" cy="228600"/>
          </a:xfrm>
          <a:prstGeom prst="roundRect">
            <a:avLst>
              <a:gd name="adj" fmla="val 50000"/>
            </a:avLst>
          </a:prstGeom>
          <a:solidFill>
            <a:srgbClr val="E6F0FF"/>
          </a:solidFill>
          <a:ln w="9525">
            <a:solidFill>
              <a:srgbClr val="E6F0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58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토리모바일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6602222" y="3657600"/>
            <a:ext cx="471932" cy="228600"/>
          </a:xfrm>
          <a:prstGeom prst="roundRect">
            <a:avLst>
              <a:gd name="adj" fmla="val 50000"/>
            </a:avLst>
          </a:prstGeom>
          <a:solidFill>
            <a:srgbClr val="F4F5F7"/>
          </a:solidFill>
          <a:ln w="9525">
            <a:solidFill>
              <a:srgbClr val="F4F5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상시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5715000" y="3977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번호이동 혜택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715000" y="452628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상시 진행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166360"/>
            <a:ext cx="7406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정렬: 진행 중은 마감 임박순, 종료는 종료일 최신순 · 종료 카드는 흑백 + "종료"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상세: 참여 방법 · 유의사항 · 대상 요금제 카드 · 링크 복사 · 이미지 대체 텍스트 필수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필요: im010 자체 참여형 이벤트(경품) 운영 여부 — 초기엔 제휴사 이벤트 모음만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275320" y="1783080"/>
            <a:ext cx="3337560" cy="2514600"/>
          </a:xfrm>
          <a:prstGeom prst="roundRect">
            <a:avLst>
              <a:gd name="adj" fmla="val 5818"/>
            </a:avLst>
          </a:prstGeom>
          <a:solidFill>
            <a:srgbClr val="F4F5F7"/>
          </a:solidFill>
          <a:ln w="9525">
            <a:solidFill>
              <a:srgbClr val="F4F5F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75320" y="192024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A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404</a:t>
            </a:r>
            <a:endParaRPr lang="en-US" sz="480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27432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찾으시는 페이지가 없어요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8275320" y="3044952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주소가 바뀌었거나 삭제된 페이지일 수 있어요.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8641080" y="347472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A5A47"/>
          </a:solidFill>
          <a:ln w="9525">
            <a:solidFill>
              <a:srgbClr val="FA5A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메인으로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9921240" y="347472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24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요금제 비교하기</a:t>
            </a:r>
            <a:endParaRPr lang="en-US" sz="9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75320" y="4526280"/>
          <a:ext cx="33375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600200"/>
                <a:gridCol w="11887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찾으시는 페이지가 없어요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· 요금제 비교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잠시 문제가 생겼어요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새로고침 · 메인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점검 중이에요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고객센터 안내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5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하위 페이지 · S4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 신청 이동   /go/internet/{productId}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확정: im010은 상담 신청서를 받지 않고 담당 제휴업체 신청 페이지로 포워딩합니다 (알뜰폰 개통하기와 같은 방식)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052560" y="6473952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im010 홈페이지 기획서   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291840" cy="146304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9525">
            <a:solidFill>
              <a:srgbClr val="F4F5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01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인터넷 상품 카드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2402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[상담 신청]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219456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A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291840" cy="1463040"/>
          </a:xfrm>
          <a:prstGeom prst="roundRect">
            <a:avLst>
              <a:gd name="adj" fmla="val 10000"/>
            </a:avLst>
          </a:prstGeom>
          <a:solidFill>
            <a:srgbClr val="1F2430"/>
          </a:solidFill>
          <a:ln w="9525">
            <a:solidFill>
              <a:srgbClr val="1F243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43400" y="1901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6CB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im010 이동 주소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22402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/go/internet/{id}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기록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635240" y="219456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A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291840" cy="1463040"/>
          </a:xfrm>
          <a:prstGeom prst="roundRect">
            <a:avLst>
              <a:gd name="adj" fmla="val 10000"/>
            </a:avLst>
          </a:prstGeom>
          <a:solidFill>
            <a:srgbClr val="FA5A47"/>
          </a:solidFill>
          <a:ln w="9525">
            <a:solidFill>
              <a:srgbClr val="FA5A4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38160" y="1901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6CB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제휴업체 신청 페이지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138160" y="22402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창 · 이름 · 연락처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입력은 업체에서</a:t>
            </a:r>
            <a:endParaRPr lang="en-US" sz="1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66160"/>
          <a:ext cx="7315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943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im010 자체 화면 없음 — 이동 주소만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 대상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백오피스 인터넷관리(PR-02)의 상품별 신청 URL → 없으면 제휴사관리 [인터넷]의 업체 기본 URL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받지 않음 → 개인정보 수집 · 제3자 제공 동의 불필요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상품 · 통신사 · 제휴업체 · 일시 · 유입 화면 → 백오피스 RC-02 인터넷접수신청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 불가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상품 비노출 · URL 없음 → 이동하지 않고 안내 토스트, 운영자에게 알림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8183880" y="3566160"/>
            <a:ext cx="3429000" cy="2697480"/>
          </a:xfrm>
          <a:prstGeom prst="roundRect">
            <a:avLst>
              <a:gd name="adj" fmla="val 4068"/>
            </a:avLst>
          </a:prstGeom>
          <a:solidFill>
            <a:srgbClr val="F4F5F7"/>
          </a:solidFill>
          <a:ln w="9525">
            <a:solidFill>
              <a:srgbClr val="F4F5F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385048" y="373075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없어진 것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8385048" y="4041648"/>
            <a:ext cx="302666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신청 폼 · 완료 화면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수집 · 제3자 제공 동의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마이페이지 "상담 신청 내역"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주체 결정 (해소)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5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하위 페이지 · S5 · S6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간편 로그인과 마이페이지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 · 비밀번호 가입 없이 간편 로그인만 제공 — 비밀번호 관리 부담과 유출 위험을 줄입니다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052560" y="6473952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im010 홈페이지 기획서  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931920" cy="3291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  <a:effectLst>
            <a:outerShdw sx="100000" sy="100000" kx="0" ky="0" algn="bl" rotWithShape="0" blurRad="127000" dist="38100" dir="5400000">
              <a:srgbClr val="1F2430">
                <a:alpha val="14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</a:t>
            </a:r>
            <a:pPr algn="ctr" indent="0" marL="0">
              <a:buNone/>
            </a:pPr>
            <a:r>
              <a:rPr lang="en-US" sz="2200" b="1" dirty="0">
                <a:solidFill>
                  <a:srgbClr val="FA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010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로그인하고 관심 요금제와 신청 내역을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곳에서 확인하세요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971800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FEE500"/>
          </a:solidFill>
          <a:ln>
            <a:solidFill>
              <a:srgbClr val="FEE5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919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카카오로 시작하기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447288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03C75A"/>
          </a:solidFill>
          <a:ln>
            <a:solidFill>
              <a:srgbClr val="03C7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네이버로 시작하기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922776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Apple로 시작하기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480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처음이면 자동으로 가입돼요 · 이용약관 및 개인정보처리방침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2578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최초 로그인: 제공 정보 수신 → 추가 동의(필수 약관 · 선택 마케팅) → 가입 완료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필요: 관심 요금제 · 마이페이지 · 1:1 문의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불필요: 비교 · 상세 · 선불 충전 요청 · 인터넷 신청 이동 · FAQ</a:t>
            </a:r>
            <a:endParaRPr lang="en-US" sz="9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783080"/>
          <a:ext cx="67665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516636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마이페이지 메뉴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관심 요금제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S1 · S2에서 ♡ 한 요금제 · 저장 이후 가격 변동(▼인하 / ▲인상) · 판매 종료 표시 · 골라서 비교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 충전 요청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상태에서 보낸 요청: 일시 · 통신사 · 번호(010-****-5678) · 금액 · 다시 충전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1:1 문의 내역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제목 · 작성일 · 상태(답변 대기 / 답변 완료) · 질문과 답변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설정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연결된 간편 로그인 · 이메일 · 마케팅 수신 동의 변경 · 회원 탈퇴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4846320" y="5166360"/>
            <a:ext cx="3291840" cy="1097280"/>
          </a:xfrm>
          <a:prstGeom prst="roundRect">
            <a:avLst>
              <a:gd name="adj" fmla="val 10000"/>
            </a:avLst>
          </a:prstGeom>
          <a:solidFill>
            <a:srgbClr val="FFF1EE"/>
          </a:solidFill>
          <a:ln w="9525">
            <a:solidFill>
              <a:srgbClr val="FFF1E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47488" y="5330952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"충전 내역"이 아닌 "충전 요청"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047488" y="5641848"/>
            <a:ext cx="2889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결제는 제휴사에서 하므로 im010은 요청 기록만 보여주고 결과는 제휴사에서 확인하도록 안내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321040" y="5166360"/>
            <a:ext cx="3291840" cy="109728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9525">
            <a:solidFill>
              <a:srgbClr val="F4F5F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522208" y="5330952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 탈퇴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8522208" y="5641848"/>
            <a:ext cx="2889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 범위 안내 → 확인 체크 → 확인 모달 2단계. 관련 법령상 보관 정보는 기간 후 삭제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5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하위 페이지 · S7 · S8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고객지원과 약관 · 개인정보처리방침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FAQ로 먼저 해결하고, 못 찾으면 1:1 문의로 이어지게 합니다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052560" y="6473952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im010 홈페이지 기획서   23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864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78308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 궁금한 내용을 검색해보세요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04288"/>
            <a:ext cx="484632" cy="256032"/>
          </a:xfrm>
          <a:prstGeom prst="roundRect">
            <a:avLst>
              <a:gd name="adj" fmla="val 50000"/>
            </a:avLst>
          </a:prstGeom>
          <a:solidFill>
            <a:srgbClr val="1F2430"/>
          </a:solidFill>
          <a:ln w="9525">
            <a:solidFill>
              <a:srgbClr val="1F24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6424" y="2304288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F4F5F7"/>
          </a:solidFill>
          <a:ln w="9525">
            <a:solidFill>
              <a:srgbClr val="F4F5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요금제 비교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2075688" y="2304288"/>
            <a:ext cx="781812" cy="256032"/>
          </a:xfrm>
          <a:prstGeom prst="roundRect">
            <a:avLst>
              <a:gd name="adj" fmla="val 50000"/>
            </a:avLst>
          </a:prstGeom>
          <a:solidFill>
            <a:srgbClr val="F4F5F7"/>
          </a:solidFill>
          <a:ln w="9525">
            <a:solidFill>
              <a:srgbClr val="F4F5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가입·개통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2930652" y="2304288"/>
            <a:ext cx="781812" cy="256032"/>
          </a:xfrm>
          <a:prstGeom prst="roundRect">
            <a:avLst>
              <a:gd name="adj" fmla="val 50000"/>
            </a:avLst>
          </a:prstGeom>
          <a:solidFill>
            <a:srgbClr val="F4F5F7"/>
          </a:solidFill>
          <a:ln w="9525">
            <a:solidFill>
              <a:srgbClr val="F4F5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선불 충전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3785616" y="2304288"/>
            <a:ext cx="598932" cy="256032"/>
          </a:xfrm>
          <a:prstGeom prst="roundRect">
            <a:avLst>
              <a:gd name="adj" fmla="val 50000"/>
            </a:avLst>
          </a:prstGeom>
          <a:solidFill>
            <a:srgbClr val="F4F5F7"/>
          </a:solidFill>
          <a:ln w="9525">
            <a:solidFill>
              <a:srgbClr val="F4F5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457700" y="2304288"/>
            <a:ext cx="484632" cy="256032"/>
          </a:xfrm>
          <a:prstGeom prst="roundRect">
            <a:avLst>
              <a:gd name="adj" fmla="val 50000"/>
            </a:avLst>
          </a:prstGeom>
          <a:solidFill>
            <a:srgbClr val="F4F5F7"/>
          </a:solidFill>
          <a:ln w="9525">
            <a:solidFill>
              <a:srgbClr val="F4F5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2724912"/>
            <a:ext cx="54864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276148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im010에서 바로 가입할 수 있나요?                                          ▾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090672"/>
            <a:ext cx="5120640" cy="594360"/>
          </a:xfrm>
          <a:prstGeom prst="roundRect">
            <a:avLst>
              <a:gd name="adj" fmla="val 9231"/>
            </a:avLst>
          </a:prstGeom>
          <a:solidFill>
            <a:srgbClr val="F4F5F7"/>
          </a:solidFill>
          <a:ln w="9525">
            <a:solidFill>
              <a:srgbClr val="F4F5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127248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im010은 비교 플랫폼이에요. 가입·개통은 각 제휴사 페이지에서 진행되며, 요금제 상세의 "개통하기"로 바로 이동할 수 있어요.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54864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384048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요금 정보는 얼마나 자주 업데이트되나요?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4224528"/>
            <a:ext cx="54864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22452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알뜰폰으로 바꾸면 번호가 바뀌나요?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4608576"/>
            <a:ext cx="54864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460857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인터넷 사은품은 언제 받나요?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5486400" cy="1188720"/>
          </a:xfrm>
          <a:prstGeom prst="roundRect">
            <a:avLst>
              <a:gd name="adj" fmla="val 9231"/>
            </a:avLst>
          </a:prstGeom>
          <a:solidFill>
            <a:srgbClr val="FFF1EE"/>
          </a:solidFill>
          <a:ln w="9525">
            <a:solidFill>
              <a:srgbClr val="FFF1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" y="5239512"/>
            <a:ext cx="508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1:1 문의  (로그인 필요)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" y="5550408"/>
            <a:ext cx="50840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 · 제목 · 내용(10~2,000자) · 이미지 첨부 3개. 답변 · FAQ는 백오피스 ST-07 1:1문의관리 [1:1 문의] [FAQ]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17830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개인정보처리방침에 반영할 수집 항목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2194560"/>
          <a:ext cx="52578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514600"/>
                <a:gridCol w="15087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수집 항목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 로그인 식별값, 이름/닉네임, 이메일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관리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 충전 요청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통신사, 전화번호, 금액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 연결 · 기록(로그인 시)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1:1 문의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문의 내용, 첨부 이미지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문의 응대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수집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접속 기록, 쿠키, 이용 기록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개선 · 통계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9" name="Shape 26"/>
          <p:cNvSpPr/>
          <p:nvPr/>
        </p:nvSpPr>
        <p:spPr>
          <a:xfrm>
            <a:off x="6355080" y="5349240"/>
            <a:ext cx="5257800" cy="91440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9525">
            <a:solidFill>
              <a:srgbClr val="F4F5F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556248" y="5513832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약관 · 방침 페이지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556248" y="5824728"/>
            <a:ext cx="4855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시행일 · 이전 버전 · 목차 앵커 (ST-04). 인터넷 신청은 포워딩이라 수집 항목 없음 · 본문 법무 검토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FA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9718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백오피스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40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6CB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메뉴 구조 · 요금제 수집 → 점검 → 승인 → 게시 예약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80960" y="1188720"/>
            <a:ext cx="3931920" cy="384048"/>
          </a:xfrm>
          <a:prstGeom prst="roundRect">
            <a:avLst>
              <a:gd name="adj" fmla="val 50000"/>
            </a:avLst>
          </a:prstGeom>
          <a:solidFill>
            <a:srgbClr val="2C3345"/>
          </a:solidFill>
          <a:ln w="9525">
            <a:solidFill>
              <a:srgbClr val="2C33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909560" y="11887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 구조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680960" y="1664208"/>
            <a:ext cx="3931920" cy="384048"/>
          </a:xfrm>
          <a:prstGeom prst="roundRect">
            <a:avLst>
              <a:gd name="adj" fmla="val 50000"/>
            </a:avLst>
          </a:prstGeom>
          <a:solidFill>
            <a:srgbClr val="2C3345"/>
          </a:solidFill>
          <a:ln w="9525">
            <a:solidFill>
              <a:srgbClr val="2C33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09560" y="16642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요금제 처리 흐름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80960" y="2139696"/>
            <a:ext cx="3931920" cy="384048"/>
          </a:xfrm>
          <a:prstGeom prst="roundRect">
            <a:avLst>
              <a:gd name="adj" fmla="val 50000"/>
            </a:avLst>
          </a:prstGeom>
          <a:solidFill>
            <a:srgbClr val="2C3345"/>
          </a:solidFill>
          <a:ln w="9525">
            <a:solidFill>
              <a:srgbClr val="2C33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09560" y="213969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후불 · 선불 구분과 비교 규칙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80960" y="2615184"/>
            <a:ext cx="3931920" cy="384048"/>
          </a:xfrm>
          <a:prstGeom prst="roundRect">
            <a:avLst>
              <a:gd name="adj" fmla="val 50000"/>
            </a:avLst>
          </a:prstGeom>
          <a:solidFill>
            <a:srgbClr val="2C3345"/>
          </a:solidFill>
          <a:ln w="9525">
            <a:solidFill>
              <a:srgbClr val="2C33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09560" y="261518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제휴사관리 (수집 URL)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80960" y="3090672"/>
            <a:ext cx="3931920" cy="384048"/>
          </a:xfrm>
          <a:prstGeom prst="roundRect">
            <a:avLst>
              <a:gd name="adj" fmla="val 50000"/>
            </a:avLst>
          </a:prstGeom>
          <a:solidFill>
            <a:srgbClr val="2C3345"/>
          </a:solidFill>
          <a:ln w="9525">
            <a:solidFill>
              <a:srgbClr val="2C334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09560" y="309067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배치관리 · 요금제관리 (점검 → 승인 → 게시 예약)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80960" y="3566160"/>
            <a:ext cx="3931920" cy="384048"/>
          </a:xfrm>
          <a:prstGeom prst="roundRect">
            <a:avLst>
              <a:gd name="adj" fmla="val 50000"/>
            </a:avLst>
          </a:prstGeom>
          <a:solidFill>
            <a:srgbClr val="2C3345"/>
          </a:solidFill>
          <a:ln w="9525">
            <a:solidFill>
              <a:srgbClr val="2C33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09560" y="35661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스케줄 · 판매 종료 · 알림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80960" y="4041648"/>
            <a:ext cx="3931920" cy="384048"/>
          </a:xfrm>
          <a:prstGeom prst="roundRect">
            <a:avLst>
              <a:gd name="adj" fmla="val 50000"/>
            </a:avLst>
          </a:prstGeom>
          <a:solidFill>
            <a:srgbClr val="2C3345"/>
          </a:solidFill>
          <a:ln w="9525">
            <a:solidFill>
              <a:srgbClr val="2C334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909560" y="40416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프로모션 · 접수관리 (포워딩)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80960" y="4517136"/>
            <a:ext cx="3931920" cy="384048"/>
          </a:xfrm>
          <a:prstGeom prst="roundRect">
            <a:avLst>
              <a:gd name="adj" fmla="val 50000"/>
            </a:avLst>
          </a:prstGeom>
          <a:solidFill>
            <a:srgbClr val="2C3345"/>
          </a:solidFill>
          <a:ln w="9525">
            <a:solidFill>
              <a:srgbClr val="2C334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09560" y="451713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환경설정 · 권한 · 개발 순서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5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백오피스 · 메뉴 구조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 메뉴 그룹, 17개 화면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확정된 메뉴 구조 — 화면 ID는 그룹 약어 + 번호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052560" y="6473952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im010 홈페이지 기획서   25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52044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  <a:effectLst>
            <a:outerShdw sx="100000" sy="100000" kx="0" ky="0" algn="bl" rotWithShape="0" blurRad="127000" dist="38100" dir="5400000">
              <a:srgbClr val="1F2430">
                <a:alpha val="14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947672"/>
            <a:ext cx="457200" cy="256032"/>
          </a:xfrm>
          <a:prstGeom prst="roundRect">
            <a:avLst>
              <a:gd name="adj" fmla="val 50000"/>
            </a:avLst>
          </a:prstGeom>
          <a:solidFill>
            <a:srgbClr val="1F2430"/>
          </a:solidFill>
          <a:ln w="9525">
            <a:solidFill>
              <a:srgbClr val="1F24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19202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제휴사관리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3134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4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PA-01  </a:t>
            </a:r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제휴사관리 [알뜰폰] [인터넷]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520440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  <a:effectLst>
            <a:outerShdw sx="100000" sy="100000" kx="0" ky="0" algn="bl" rotWithShape="0" blurRad="127000" dist="38100" dir="5400000">
              <a:srgbClr val="1F2430">
                <a:alpha val="14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26280" y="1947672"/>
            <a:ext cx="457200" cy="256032"/>
          </a:xfrm>
          <a:prstGeom prst="roundRect">
            <a:avLst>
              <a:gd name="adj" fmla="val 50000"/>
            </a:avLst>
          </a:prstGeom>
          <a:solidFill>
            <a:srgbClr val="1F2430"/>
          </a:solidFill>
          <a:ln w="9525">
            <a:solidFill>
              <a:srgbClr val="1F24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093208" y="19202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상품관리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44568" y="23134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4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PR-01  </a:t>
            </a:r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요금제관리 · 게시 예약 일정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44568" y="25877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4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PR-02  </a:t>
            </a:r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인터넷관리 (별도 등록)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44568" y="28620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4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PR-03  </a:t>
            </a:r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프로모션관리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38160" y="1783080"/>
            <a:ext cx="3520440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  <a:effectLst>
            <a:outerShdw sx="100000" sy="100000" kx="0" ky="0" algn="bl" rotWithShape="0" blurRad="127000" dist="38100" dir="5400000">
              <a:srgbClr val="1F2430">
                <a:alpha val="14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321040" y="1947672"/>
            <a:ext cx="457200" cy="256032"/>
          </a:xfrm>
          <a:prstGeom prst="roundRect">
            <a:avLst>
              <a:gd name="adj" fmla="val 50000"/>
            </a:avLst>
          </a:prstGeom>
          <a:solidFill>
            <a:srgbClr val="1F2430"/>
          </a:solidFill>
          <a:ln w="9525">
            <a:solidFill>
              <a:srgbClr val="1F24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8887968" y="19202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배치관리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339328" y="23134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4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BA-01  </a:t>
            </a:r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스케줄관리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339328" y="25877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4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BA-02  </a:t>
            </a:r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요금제배치관리 (점검)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339328" y="28620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4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BA-03  </a:t>
            </a:r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승인관리 → 요금제관리 이관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246120"/>
            <a:ext cx="352044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  <a:effectLst>
            <a:outerShdw sx="100000" sy="100000" kx="0" ky="0" algn="bl" rotWithShape="0" blurRad="127000" dist="38100" dir="5400000">
              <a:srgbClr val="1F2430">
                <a:alpha val="14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31520" y="3410712"/>
            <a:ext cx="457200" cy="256032"/>
          </a:xfrm>
          <a:prstGeom prst="roundRect">
            <a:avLst>
              <a:gd name="adj" fmla="val 50000"/>
            </a:avLst>
          </a:prstGeom>
          <a:solidFill>
            <a:srgbClr val="1F2430"/>
          </a:solidFill>
          <a:ln w="9525">
            <a:solidFill>
              <a:srgbClr val="1F24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RC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1298448" y="338328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접수관리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" y="37764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4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RC-01  </a:t>
            </a:r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알뜰폰접수신청 (개통신청)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" y="40507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4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RC-02  </a:t>
            </a:r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인터넷접수신청 (이동 기록)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5120640"/>
            <a:ext cx="352044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  <a:effectLst>
            <a:outerShdw sx="100000" sy="100000" kx="0" ky="0" algn="bl" rotWithShape="0" blurRad="127000" dist="38100" dir="5400000">
              <a:srgbClr val="1F2430">
                <a:alpha val="14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731520" y="5285232"/>
            <a:ext cx="457200" cy="256032"/>
          </a:xfrm>
          <a:prstGeom prst="roundRect">
            <a:avLst>
              <a:gd name="adj" fmla="val 50000"/>
            </a:avLst>
          </a:prstGeom>
          <a:solidFill>
            <a:srgbClr val="1F2430"/>
          </a:solidFill>
          <a:ln w="9525">
            <a:solidFill>
              <a:srgbClr val="1F24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MB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1298448" y="52578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회원관리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49808" y="56509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4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MB-01  </a:t>
            </a:r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회원관리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343400" y="3703320"/>
            <a:ext cx="3520440" cy="256032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 w="9525">
            <a:solidFill>
              <a:srgbClr val="E9E7E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26280" y="3867912"/>
            <a:ext cx="457200" cy="256032"/>
          </a:xfrm>
          <a:prstGeom prst="roundRect">
            <a:avLst>
              <a:gd name="adj" fmla="val 50000"/>
            </a:avLst>
          </a:prstGeom>
          <a:solidFill>
            <a:srgbClr val="1F2430"/>
          </a:solidFill>
          <a:ln w="9525">
            <a:solidFill>
              <a:srgbClr val="1F24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5093208" y="384048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환경설정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4544568" y="42336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4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ST-01  </a:t>
            </a:r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프로그램관리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544568" y="45079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4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ST-02  </a:t>
            </a:r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관리자관리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544568" y="47823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4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ST-03  </a:t>
            </a:r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권한관리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544568" y="50566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4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ST-04  </a:t>
            </a:r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약관관리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4544568" y="53309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4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ST-05  </a:t>
            </a:r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접속이력관리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4544568" y="56052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4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ST-06  </a:t>
            </a:r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Footer관리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544568" y="58795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4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ST-07  </a:t>
            </a:r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1:1문의관리 [1:1] [FAQ]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138160" y="370332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FF1EE"/>
          </a:solidFill>
          <a:ln w="9525">
            <a:solidFill>
              <a:srgbClr val="FFF1E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339328" y="3867912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 밖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8339328" y="4178808"/>
            <a:ext cx="3118104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CM-01 로그인 (2단계 인증)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CM-02 홈 대시보드 — 로그인 후 첫 화면 (제안)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3사 평균 기준 요금 — PR-01 탭 (제안)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5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백오피스 · 요금제 처리 흐름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→ 점검 → 승인 → 게시 예약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승인하면 요금제관리로 이관되고, 외부 노출 시점은 요금제관리의 게시 예약으로 정합니다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052560" y="6473952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im010 홈페이지 기획서   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514600" cy="1325880"/>
          </a:xfrm>
          <a:prstGeom prst="roundRect">
            <a:avLst>
              <a:gd name="adj" fmla="val 9655"/>
            </a:avLst>
          </a:prstGeom>
          <a:solidFill>
            <a:srgbClr val="F4F5F7"/>
          </a:solidFill>
          <a:ln w="9525">
            <a:solidFill>
              <a:srgbClr val="F4F5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947672"/>
            <a:ext cx="384048" cy="384048"/>
          </a:xfrm>
          <a:prstGeom prst="ellipse">
            <a:avLst/>
          </a:prstGeom>
          <a:solidFill>
            <a:srgbClr val="FA5A47"/>
          </a:solidFill>
          <a:ln>
            <a:solidFill>
              <a:srgbClr val="FA5A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9659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(BA-01)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45059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제휴사별 스케줄 · 하루 1회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후불 / 선불 / 이달의 URL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214884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A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383280" y="1783080"/>
            <a:ext cx="2514600" cy="1325880"/>
          </a:xfrm>
          <a:prstGeom prst="roundRect">
            <a:avLst>
              <a:gd name="adj" fmla="val 9655"/>
            </a:avLst>
          </a:prstGeom>
          <a:solidFill>
            <a:srgbClr val="F4F5F7"/>
          </a:solidFill>
          <a:ln w="9525">
            <a:solidFill>
              <a:srgbClr val="F4F5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66160" y="1947672"/>
            <a:ext cx="384048" cy="384048"/>
          </a:xfrm>
          <a:prstGeom prst="ellipse">
            <a:avLst/>
          </a:prstGeom>
          <a:solidFill>
            <a:srgbClr val="FA5A47"/>
          </a:solidFill>
          <a:ln>
            <a:solidFill>
              <a:srgbClr val="FA5A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069080" y="19659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(BA-02)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584448" y="245059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바뀐 것만 점검 대기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· 제외 → 승인 요청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897880" y="214884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A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6217920" y="1783080"/>
            <a:ext cx="2514600" cy="1325880"/>
          </a:xfrm>
          <a:prstGeom prst="roundRect">
            <a:avLst>
              <a:gd name="adj" fmla="val 9655"/>
            </a:avLst>
          </a:prstGeom>
          <a:solidFill>
            <a:srgbClr val="F4F5F7"/>
          </a:solidFill>
          <a:ln w="9525">
            <a:solidFill>
              <a:srgbClr val="F4F5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1947672"/>
            <a:ext cx="384048" cy="384048"/>
          </a:xfrm>
          <a:prstGeom prst="ellipse">
            <a:avLst/>
          </a:prstGeom>
          <a:solidFill>
            <a:srgbClr val="FA5A47"/>
          </a:solidFill>
          <a:ln>
            <a:solidFill>
              <a:srgbClr val="FA5A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19659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(BA-03)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419088" y="245059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= 요금제관리로 이관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"게시 대기" (아직 비노출)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732520" y="214884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A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9052560" y="1783080"/>
            <a:ext cx="2514600" cy="1325880"/>
          </a:xfrm>
          <a:prstGeom prst="roundRect">
            <a:avLst>
              <a:gd name="adj" fmla="val 9655"/>
            </a:avLst>
          </a:prstGeom>
          <a:solidFill>
            <a:srgbClr val="FFF1EE"/>
          </a:solidFill>
          <a:ln w="9525">
            <a:solidFill>
              <a:srgbClr val="FFF1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35440" y="1947672"/>
            <a:ext cx="384048" cy="384048"/>
          </a:xfrm>
          <a:prstGeom prst="ellipse">
            <a:avLst/>
          </a:prstGeom>
          <a:solidFill>
            <a:srgbClr val="FA5A47"/>
          </a:solidFill>
          <a:ln>
            <a:solidFill>
              <a:srgbClr val="FA5A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738360" y="19659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게시 예약 (PR-01)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9253728" y="245059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보완 항목 · 개통 URL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일시 지정 / 즉시 게시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3101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후 변경 감지 결과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3639312"/>
            <a:ext cx="2514600" cy="91440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9525">
            <a:solidFill>
              <a:srgbClr val="F4F5F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9808" y="3749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없음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49808" y="40873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기록만 남김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83280" y="3639312"/>
            <a:ext cx="2514600" cy="914400"/>
          </a:xfrm>
          <a:prstGeom prst="roundRect">
            <a:avLst>
              <a:gd name="adj" fmla="val 12000"/>
            </a:avLst>
          </a:prstGeom>
          <a:solidFill>
            <a:srgbClr val="FFF1EE"/>
          </a:solidFill>
          <a:ln w="9525">
            <a:solidFill>
              <a:srgbClr val="FFF1E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584448" y="3749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· 변경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3584448" y="40873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대기로 → ②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3639312"/>
            <a:ext cx="2514600" cy="914400"/>
          </a:xfrm>
          <a:prstGeom prst="roundRect">
            <a:avLst>
              <a:gd name="adj" fmla="val 12000"/>
            </a:avLst>
          </a:prstGeom>
          <a:solidFill>
            <a:srgbClr val="1F2430"/>
          </a:solidFill>
          <a:ln w="9525">
            <a:solidFill>
              <a:srgbClr val="1F243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19088" y="3749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사라짐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419088" y="40873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B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판매 종료 + 알림 (승인 없음)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052560" y="3639312"/>
            <a:ext cx="2514600" cy="914400"/>
          </a:xfrm>
          <a:prstGeom prst="roundRect">
            <a:avLst>
              <a:gd name="adj" fmla="val 12000"/>
            </a:avLst>
          </a:prstGeom>
          <a:solidFill>
            <a:srgbClr val="FFF3D6"/>
          </a:solidFill>
          <a:ln w="9525">
            <a:solidFill>
              <a:srgbClr val="FFF3D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253728" y="3749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379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이상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9253728" y="40873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아무것도 반영 안 함 + 알림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4846320"/>
            <a:ext cx="11064240" cy="1371600"/>
          </a:xfrm>
          <a:prstGeom prst="roundRect">
            <a:avLst>
              <a:gd name="adj" fmla="val 10667"/>
            </a:avLst>
          </a:prstGeom>
          <a:solidFill>
            <a:srgbClr val="1F2430"/>
          </a:solidFill>
          <a:ln w="9525">
            <a:solidFill>
              <a:srgbClr val="1F243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77240" y="4983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A5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프런트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77240" y="5349240"/>
            <a:ext cx="17830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· S1 목록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2560320" y="5394960"/>
            <a:ext cx="393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A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42" name="Text 40"/>
          <p:cNvSpPr txBox="1"/>
          <p:nvPr/>
        </p:nvSpPr>
        <p:spPr>
          <a:xfrm>
            <a:off x="2953512" y="5349240"/>
            <a:ext cx="17830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 요금제 상세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4736592" y="5394960"/>
            <a:ext cx="393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A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44" name="Text 42"/>
          <p:cNvSpPr txBox="1"/>
          <p:nvPr/>
        </p:nvSpPr>
        <p:spPr>
          <a:xfrm>
            <a:off x="5129784" y="5349240"/>
            <a:ext cx="1783080" cy="640080"/>
          </a:xfrm>
          <a:prstGeom prst="roundRect">
            <a:avLst>
              <a:gd name="adj" fmla="val 14286"/>
            </a:avLst>
          </a:prstGeom>
          <a:solidFill>
            <a:srgbClr val="FA5A47"/>
          </a:solidFill>
          <a:ln>
            <a:solidFill>
              <a:srgbClr val="FA5A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개통하기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6912864" y="5394960"/>
            <a:ext cx="393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A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46" name="Text 44"/>
          <p:cNvSpPr txBox="1"/>
          <p:nvPr/>
        </p:nvSpPr>
        <p:spPr>
          <a:xfrm>
            <a:off x="7306056" y="5349240"/>
            <a:ext cx="17830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/go/{planId}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RC-01 접수 기록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9089136" y="5394960"/>
            <a:ext cx="393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A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48" name="Text 46"/>
          <p:cNvSpPr txBox="1"/>
          <p:nvPr/>
        </p:nvSpPr>
        <p:spPr>
          <a:xfrm>
            <a:off x="9482328" y="5349240"/>
            <a:ext cx="17830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제휴사 URL (새 창)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5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백오피스 · 후불 · 선불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구분은 수집 URL로, 비교는 후불끼리만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선불 요금제와 후불 요금제는 서로 비교하지 않습니다 (확정)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052560" y="6473952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im010 홈페이지 기획서   27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 기준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40280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1F2430"/>
          </a:solidFill>
          <a:ln w="9525">
            <a:solidFill>
              <a:srgbClr val="1F24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후불 URL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057400" y="224028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수집된 요금제는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240280"/>
            <a:ext cx="160020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1F24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후불 요금제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862072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 w="9525">
            <a:solidFill>
              <a:srgbClr val="FFB02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A2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선불 URL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057400" y="286207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수집된 요금제는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862072"/>
            <a:ext cx="160020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E0A21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선불 요금제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566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 같은 URL을 후불 · 선불에 동시에 등록할 수 없음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02336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내용으로 추측하지 않음 — 등록된 URL 유형이 곧 요금제 유형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한쪽 URL만 있으면 그 유형만 수집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등록된 요금제의 유형은 바꿀 수 없음 → URL 유형을 고친 뒤 다시 수집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이달의 요금제 항목은 연결된 요금제의 유형을 따름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760720" y="1783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대상 규칙</a:t>
            </a:r>
            <a:endParaRPr lang="en-US" sz="14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2194560"/>
          <a:ext cx="585216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280160"/>
                <a:gridCol w="1554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비교 기능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후불 (게시 중)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요금 계산기 · 3사 평균 절약률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A5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신뢰 지표 "최대 절감률"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A5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제휴사별 요금제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A5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 (선불 섹션에만)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S1 전체 비교 · 비교함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A5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S2 비슷한 요금제 · 절약 표시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A5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요금제분석 통계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A5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관심 요금제 골라서 비교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A5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5760720" y="5349240"/>
            <a:ext cx="5852160" cy="868680"/>
          </a:xfrm>
          <a:prstGeom prst="roundRect">
            <a:avLst>
              <a:gd name="adj" fmla="val 12632"/>
            </a:avLst>
          </a:prstGeom>
          <a:solidFill>
            <a:srgbClr val="1F2430"/>
          </a:solidFill>
          <a:ln w="9525">
            <a:solidFill>
              <a:srgbClr val="1F243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61888" y="534924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CB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대상 =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후불 URL로 수집 → 점검 → 승인 → 게시를 마친 "게시 중" 후불 요금제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C6CB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게시 대기 · 예약 · 판매 종료 · 비노출은 제외 · 선불끼리 비교하는 기능도 두지 않음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5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백오피스 · PA-01 제휴사관리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알뜰폰 수집 URL과 인터넷 제휴업체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[알뜰폰] 후불 / 선불 / 이달의 요금제 URL — 없는 유형은 수집하지 않음 · [인터넷] 업체 신청 페이지 URL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052560" y="6473952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im010 홈페이지 기획서   28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[알뜰폰] 탭</a:t>
            </a:r>
            <a:endParaRPr lang="en-US" sz="11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70408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1280160"/>
                <a:gridCol w="1280160"/>
                <a:gridCol w="17373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제휴사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후불 URL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 URL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이달의 URL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수집 스케줄 (BA-01)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마블링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4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 등록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– 미등록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4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 등록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매일 04:00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토리모바일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4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 등록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– 미등록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– 미등록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매일 04:00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위너스텔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4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 등록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4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 등록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4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 등록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매일 04:00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슈가모바일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4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 등록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4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 등록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– 미등록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매일 04:30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인스모바일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4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 등록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4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 등록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– 미등록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매일 04:00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조이M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4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 등록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– 미등록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4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 등록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매일 04:00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시월모바일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4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 등록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– 미등록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– 미등록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월~금 05:00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49834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[인터넷] 탭 — 제휴업체</a:t>
            </a:r>
            <a:endParaRPr lang="en-US" sz="1150" dirty="0"/>
          </a:p>
        </p:txBody>
      </p:sp>
      <p:graphicFrame>
        <p:nvGraphicFramePr>
          <p:cNvPr id="5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303520"/>
          <a:ext cx="70408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3291840"/>
                <a:gridCol w="10058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업체명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통신사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신청 페이지 URL (포워딩)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○○ 인터넷 대리점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SKT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26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https://ooo.co.kr/apply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중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△△ 통신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KT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26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https://xxx.co.kr/internet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중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8001000" y="17830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 미등록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8001000" y="207568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유형은 수집하지 않음 ("–")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8001000" y="26791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후불 ≠ 선불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001000" y="29718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URL을 두 유형에 넣으면 저장 불가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001000" y="357530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[테스트]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8001000" y="386791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 수집해 추출 건수와 앞 5건 미리보기 (저장 안 함)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8001000" y="447141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 삭제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8001000" y="4764024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중지 · 게시 중 요금제는 비노출(기본) 또는 유지 — 판매 종료로 보지 않음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8001000" y="536752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 제휴업체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8001000" y="566013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업체 기본 신청 URL → 인터넷 상품 신청 시 포워딩 (상품별 URL은 PR-02)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5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백오피스 · 점검 → 승인 → 게시 예약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BA-02 · BA-03 · PR-01 화면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권한관리에서 점검 · 승인 권한을 받은 사람은 둘 다 할 수 있습니다 (같은 사람 가능, 처리 이력은 접속이력관리에 기록)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052560" y="6473952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im010 홈페이지 기획서   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566160" cy="4480560"/>
          </a:xfrm>
          <a:prstGeom prst="roundRect">
            <a:avLst>
              <a:gd name="adj" fmla="val 4103"/>
            </a:avLst>
          </a:prstGeom>
          <a:solidFill>
            <a:srgbClr val="F4F5F7"/>
          </a:solidFill>
          <a:ln w="9525">
            <a:solidFill>
              <a:srgbClr val="F4F5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938528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1F2430"/>
          </a:solidFill>
          <a:ln w="9525">
            <a:solidFill>
              <a:srgbClr val="1F24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BA-02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527048" y="192024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요금제배치관리</a:t>
            </a:r>
            <a:endParaRPr lang="en-US" sz="13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2377440"/>
          <a:ext cx="315468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143000"/>
                <a:gridCol w="11430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게시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수집값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요금제명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넉넉 11GB+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넉넉 11GB+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요금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16,500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94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15,900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11GB+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11GB+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749808" y="3657600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리스트 전체 확인 + 신규 · 변경만 점검 대기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요금제: 제휴사 코드 → 없으면 제휴사 + 이름 + 망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미보관 → [제휴사 페이지 열기]로 대조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완료 → 승인 요청 / 제외(사유 필수)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15968" y="1783080"/>
            <a:ext cx="3566160" cy="4480560"/>
          </a:xfrm>
          <a:prstGeom prst="roundRect">
            <a:avLst>
              <a:gd name="adj" fmla="val 4103"/>
            </a:avLst>
          </a:prstGeom>
          <a:solidFill>
            <a:srgbClr val="F4F5F7"/>
          </a:solidFill>
          <a:ln w="9525">
            <a:solidFill>
              <a:srgbClr val="F4F5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17136" y="1938528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1F2430"/>
          </a:solidFill>
          <a:ln w="9525">
            <a:solidFill>
              <a:srgbClr val="1F24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BA-03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5294376" y="192024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승인관리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517136" y="237744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654296" y="2450592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게시 시 예상 영향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계산기 11GB · SKT  16,500 → 15,900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절약률 62% → 64%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이달의 요금제 1번 가격 변경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17136" y="3730752"/>
            <a:ext cx="3154680" cy="310896"/>
          </a:xfrm>
          <a:prstGeom prst="roundRect">
            <a:avLst>
              <a:gd name="adj" fmla="val 50000"/>
            </a:avLst>
          </a:prstGeom>
          <a:solidFill>
            <a:srgbClr val="FA5A47"/>
          </a:solidFill>
          <a:ln w="9525">
            <a:solidFill>
              <a:srgbClr val="FA5A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→ 요금제관리로 이관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4517136" y="420624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= 이관, 상태 "게시 대기" (아직 비노출)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반려는 사유 필수 → BA-02 점검 대기로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승인하면서 게시 일시 함께 지정 (선택, 제안)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미리보기로 프런트 확인 (외부 비공개)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083296" y="1783080"/>
            <a:ext cx="3566160" cy="4480560"/>
          </a:xfrm>
          <a:prstGeom prst="roundRect">
            <a:avLst>
              <a:gd name="adj" fmla="val 4103"/>
            </a:avLst>
          </a:prstGeom>
          <a:solidFill>
            <a:srgbClr val="F4F5F7"/>
          </a:solidFill>
          <a:ln w="9525">
            <a:solidFill>
              <a:srgbClr val="F4F5F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84464" y="1938528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1F2430"/>
          </a:solidFill>
          <a:ln w="9525">
            <a:solidFill>
              <a:srgbClr val="1F24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PR-01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9061704" y="192024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요금제관리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8284464" y="2395728"/>
            <a:ext cx="471932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9E7E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후불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8802116" y="2395728"/>
            <a:ext cx="471932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9E7E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선불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9319768" y="2395728"/>
            <a:ext cx="752602" cy="237744"/>
          </a:xfrm>
          <a:prstGeom prst="roundRect">
            <a:avLst>
              <a:gd name="adj" fmla="val 50000"/>
            </a:avLst>
          </a:prstGeom>
          <a:solidFill>
            <a:srgbClr val="1F2430"/>
          </a:solidFill>
          <a:ln w="9525">
            <a:solidFill>
              <a:srgbClr val="E9E7E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게시 일정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10118090" y="2395728"/>
            <a:ext cx="752602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9E7E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요금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8284464" y="2743200"/>
            <a:ext cx="585216" cy="8686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84464" y="2770632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8284464" y="3063240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3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8915400" y="2743200"/>
            <a:ext cx="585216" cy="8686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915400" y="2770632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8915400" y="3063240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1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9546336" y="2743200"/>
            <a:ext cx="585216" cy="8686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546336" y="2770632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</a:t>
            </a:r>
            <a:endParaRPr lang="en-US" sz="850" dirty="0"/>
          </a:p>
        </p:txBody>
      </p:sp>
      <p:sp>
        <p:nvSpPr>
          <p:cNvPr id="33" name="Text 30"/>
          <p:cNvSpPr txBox="1"/>
          <p:nvPr/>
        </p:nvSpPr>
        <p:spPr>
          <a:xfrm>
            <a:off x="9546336" y="3063240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📅 2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10177272" y="2743200"/>
            <a:ext cx="585216" cy="8686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0177272" y="2770632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10808208" y="2743200"/>
            <a:ext cx="585216" cy="8686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9E7E3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808208" y="2770632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</a:t>
            </a:r>
            <a:endParaRPr lang="en-US" sz="850" dirty="0"/>
          </a:p>
        </p:txBody>
      </p:sp>
      <p:sp>
        <p:nvSpPr>
          <p:cNvPr id="38" name="Text 35"/>
          <p:cNvSpPr txBox="1"/>
          <p:nvPr/>
        </p:nvSpPr>
        <p:spPr>
          <a:xfrm>
            <a:off x="10808208" y="3063240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📅 1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8284464" y="379476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보완 항목 · 개통 URL이 비면 예약 불가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게시 예약(10분 단위) / 즉시 게시 / 예약 취소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게시하면 "○○ 기준" 날짜 = 수집일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[게시 일정] 주간 · 월간 달력, 롤백 7일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5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백오피스 · 스케줄 · 판매 종료 · 알림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제휴사별 일정으로 수집, 사라지면 판매 종료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· 파싱이 정상 완료된 URL에서만 판매 종료를 판단합니다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052560" y="6473952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im010 홈페이지 기획서   30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BA-01 스케줄관리</a:t>
            </a:r>
            <a:endParaRPr lang="en-US" sz="13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361188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822960"/>
                <a:gridCol w="777240"/>
                <a:gridCol w="6858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제휴사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시각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마블링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04:00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슈가모바일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04:30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시월모바일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월~금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05:00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OFF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361188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1회 (판매 종료 1일 단위)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[즉시 실행] 재수집 · 재시도 30분 × 2회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[실행 이력] 성공 / 실패 / 이상, 건수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846320"/>
            <a:ext cx="3611880" cy="384048"/>
          </a:xfrm>
          <a:prstGeom prst="roundRect">
            <a:avLst>
              <a:gd name="adj" fmla="val 19048"/>
            </a:avLst>
          </a:prstGeom>
          <a:solidFill>
            <a:srgbClr val="F4F5F7"/>
          </a:solidFill>
          <a:ln>
            <a:solidFill>
              <a:srgbClr val="F4F5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결과에서 사라짐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321808"/>
            <a:ext cx="3611880" cy="384048"/>
          </a:xfrm>
          <a:prstGeom prst="roundRect">
            <a:avLst>
              <a:gd name="adj" fmla="val 19048"/>
            </a:avLst>
          </a:prstGeom>
          <a:solidFill>
            <a:srgbClr val="1F2430"/>
          </a:solidFill>
          <a:ln>
            <a:solidFill>
              <a:srgbClr val="1F24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판매 종료 (승인 없음)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797296"/>
            <a:ext cx="3611880" cy="384048"/>
          </a:xfrm>
          <a:prstGeom prst="roundRect">
            <a:avLst>
              <a:gd name="adj" fmla="val 19048"/>
            </a:avLst>
          </a:prstGeom>
          <a:solidFill>
            <a:srgbClr val="F4F5F7"/>
          </a:solidFill>
          <a:ln>
            <a:solidFill>
              <a:srgbClr val="F4F5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이달의 · Hero 자동 제외 + 알림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434840" y="1783080"/>
            <a:ext cx="3611880" cy="4480560"/>
          </a:xfrm>
          <a:prstGeom prst="roundRect">
            <a:avLst>
              <a:gd name="adj" fmla="val 4051"/>
            </a:avLst>
          </a:prstGeom>
          <a:solidFill>
            <a:srgbClr val="FFF3D6"/>
          </a:solidFill>
          <a:ln w="9525">
            <a:solidFill>
              <a:srgbClr val="FFF3D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36008" y="19385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379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 조건 — "수집 이상"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636008" y="2423160"/>
            <a:ext cx="32004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54880" y="242316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 실패 · 시간 초과 · 오류 응답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636008" y="2971800"/>
            <a:ext cx="32004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54880" y="297180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추출된 요금제 0건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636008" y="3520440"/>
            <a:ext cx="32004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754880" y="352044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추출 건수가 직전보다 50% 넘게 감소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636008" y="4069080"/>
            <a:ext cx="32004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754880" y="406908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항목 추출 실패 20% 초과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4636008" y="468172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판매 종료를 포함해 아무것도 반영하지 않고 알림만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4636008" y="52578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대량 종료라면 BA-01 실행 이력에서 [판매 종료 일괄 반영]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8366760" y="17830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</a:t>
            </a:r>
            <a:endParaRPr lang="en-US" sz="1300" dirty="0"/>
          </a:p>
        </p:txBody>
      </p:sp>
      <p:graphicFrame>
        <p:nvGraphicFramePr>
          <p:cNvPr id="6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0" y="2194560"/>
          <a:ext cx="324612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463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수집 결과 요약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하루 수집 완료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수집 실패 · 이상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즉시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판매 종료 · 메인 제외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즉시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점검 · 승인 지연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24시간 초과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게시 예약 실패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즉시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포워딩 URL 없음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즉시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1:1 문의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접수 · 24시간 지연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Text 22"/>
          <p:cNvSpPr txBox="1"/>
          <p:nvPr/>
        </p:nvSpPr>
        <p:spPr>
          <a:xfrm>
            <a:off x="8366760" y="54864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받는 사람 · 채널은 ST-02 관리자관리에서 설정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5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백오피스 · 프로모션 · 접수관리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이달의 요금제는 수집 기반, 알뜰폰 · 인터넷 모두 포워딩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im010은 신청서를 받지 않고 제휴사 · 제휴업체로 보내며, 이동 기록만 접수관리에 남깁니다 (개인정보 없음)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052560" y="6473952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im010 홈페이지 기획서   31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PR-03 프로모션관리</a:t>
            </a:r>
            <a:endParaRPr lang="en-US" sz="14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55778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42519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이달의 요금제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제휴사 "이달의 요금제" URL 수집 → 점검 · 승인 → 순서 · 배지 · 게시 일시 지정 (최대 7개)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Hero 카드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게시 중 요금제에서 3개 선택 (가격 직접 입력 불가)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제목 · 설명 · 버튼 · 링크 · 게시 기간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S3 이벤트 — 주최 · 기간 · 썸네일 · 본문 · 대상 요금제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489204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제휴사 목록에서 빠지거나 연결 요금제가 판매 종료 → 자동 제외 + 알림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연결할 요금제가 없으면 "미매칭"으로 남김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탭 범위는 제안 — 확인 필요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492240" y="17830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접수관리 — 포워딩 이동 기록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92240" y="2240280"/>
            <a:ext cx="5120640" cy="1325880"/>
          </a:xfrm>
          <a:prstGeom prst="roundRect">
            <a:avLst>
              <a:gd name="adj" fmla="val 9655"/>
            </a:avLst>
          </a:prstGeom>
          <a:solidFill>
            <a:srgbClr val="F4F5F7"/>
          </a:solidFill>
          <a:ln w="9525">
            <a:solidFill>
              <a:srgbClr val="F4F5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75120" y="23500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RC-01 알뜰폰접수신청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675120" y="2770632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solidFill>
              <a:srgbClr val="E9E7E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 [개통하기]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2788920"/>
            <a:ext cx="182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8321040" y="2770632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1F2430"/>
          </a:solidFill>
          <a:ln>
            <a:solidFill>
              <a:srgbClr val="1F24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/go/{planId}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9784080" y="2788920"/>
            <a:ext cx="182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9966960" y="2770632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solidFill>
              <a:srgbClr val="E9E7E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제휴사 개통 URL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492240" y="3749040"/>
            <a:ext cx="5120640" cy="1325880"/>
          </a:xfrm>
          <a:prstGeom prst="roundRect">
            <a:avLst>
              <a:gd name="adj" fmla="val 9655"/>
            </a:avLst>
          </a:prstGeom>
          <a:solidFill>
            <a:srgbClr val="F4F5F7"/>
          </a:solidFill>
          <a:ln w="9525">
            <a:solidFill>
              <a:srgbClr val="F4F5F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675120" y="38587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RC-02 인터넷접수신청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675120" y="4279392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solidFill>
              <a:srgbClr val="E9E7E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 [상담 신청]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8138160" y="4297680"/>
            <a:ext cx="182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8321040" y="4279392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1F2430"/>
          </a:solidFill>
          <a:ln>
            <a:solidFill>
              <a:srgbClr val="1F24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/go/internet/{id}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9784080" y="4297680"/>
            <a:ext cx="182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966960" y="4279392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solidFill>
              <a:srgbClr val="E9E7E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제휴업체 신청 URL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6492240" y="53492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기록: 상품 · 제휴사(업체) · 일시 · 유입 화면 · 이동 결과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선불 충전 요청은 이번 기획에서 제외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집계 → 홈 대시보드 · 정산 대조 자료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5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백오피스 · 환경설정 · 권한 · 개발 순서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권한은 권한 그룹 × 화면 × 동작으로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프로그램관리에 등록한 화면을 기준으로 권한관리에서 동작 권한을 체크합니다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052560" y="6473952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im010 홈페이지 기획서   32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52120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3832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ST-01 프로그램관리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메뉴 그룹 · 화면 · 허용 동작 등록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ST-02 관리자관리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· 권한 그룹 · OTP · 알림 수신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ST-03 권한관리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권한 그룹별 화면 × 동작 체크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ST-04 약관관리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약관 · 방침 · 동의 문구 버전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ST-05 접속이력관리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화면 접속 · 점검 · 승인 · 다운로드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ST-06 Footer관리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사업자 정보 · 고객센터 · 고지 · 링크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ST-07 1:1문의관리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2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[1:1 문의] 답변 · [FAQ] 관리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035040" y="1783080"/>
            <a:ext cx="2606040" cy="4480560"/>
          </a:xfrm>
          <a:prstGeom prst="roundRect">
            <a:avLst>
              <a:gd name="adj" fmla="val 5614"/>
            </a:avLst>
          </a:prstGeom>
          <a:solidFill>
            <a:srgbClr val="F4F5F7"/>
          </a:solidFill>
          <a:ln w="9525">
            <a:solidFill>
              <a:srgbClr val="F4F5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0" y="1920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권한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263640" y="2395728"/>
            <a:ext cx="274320" cy="274320"/>
          </a:xfrm>
          <a:prstGeom prst="ellipse">
            <a:avLst/>
          </a:prstGeom>
          <a:solidFill>
            <a:srgbClr val="FA5A47"/>
          </a:solidFill>
          <a:ln>
            <a:solidFill>
              <a:srgbClr val="FA5A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675120" y="23774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263640" y="2898648"/>
            <a:ext cx="274320" cy="274320"/>
          </a:xfrm>
          <a:prstGeom prst="ellipse">
            <a:avLst/>
          </a:prstGeom>
          <a:solidFill>
            <a:srgbClr val="FA5A47"/>
          </a:solidFill>
          <a:ln>
            <a:solidFill>
              <a:srgbClr val="FA5A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675120" y="28803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· 수정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6263640" y="3401568"/>
            <a:ext cx="274320" cy="274320"/>
          </a:xfrm>
          <a:prstGeom prst="ellipse">
            <a:avLst/>
          </a:prstGeom>
          <a:solidFill>
            <a:srgbClr val="FA5A47"/>
          </a:solidFill>
          <a:ln>
            <a:solidFill>
              <a:srgbClr val="FA5A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6675120" y="33832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6263640" y="3904488"/>
            <a:ext cx="274320" cy="274320"/>
          </a:xfrm>
          <a:prstGeom prst="ellipse">
            <a:avLst/>
          </a:prstGeom>
          <a:solidFill>
            <a:srgbClr val="FA5A47"/>
          </a:solidFill>
          <a:ln>
            <a:solidFill>
              <a:srgbClr val="FA5A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675120" y="38862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6263640" y="4407408"/>
            <a:ext cx="274320" cy="274320"/>
          </a:xfrm>
          <a:prstGeom prst="ellipse">
            <a:avLst/>
          </a:prstGeom>
          <a:solidFill>
            <a:srgbClr val="FA5A47"/>
          </a:solidFill>
          <a:ln>
            <a:solidFill>
              <a:srgbClr val="FA5A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675120" y="43891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· 게시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6263640" y="4910328"/>
            <a:ext cx="274320" cy="274320"/>
          </a:xfrm>
          <a:prstGeom prst="ellipse">
            <a:avLst/>
          </a:prstGeom>
          <a:solidFill>
            <a:srgbClr val="FA5A47"/>
          </a:solidFill>
          <a:ln>
            <a:solidFill>
              <a:srgbClr val="FA5A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675120" y="48920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6263640" y="5413248"/>
            <a:ext cx="274320" cy="274320"/>
          </a:xfrm>
          <a:prstGeom prst="ellipse">
            <a:avLst/>
          </a:prstGeom>
          <a:solidFill>
            <a:srgbClr val="FA5A47"/>
          </a:solidFill>
          <a:ln>
            <a:solidFill>
              <a:srgbClr val="FA5A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675120" y="53949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열람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8915400" y="1783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A5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8915400" y="222199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ST-01·02·03·05, PA-01, BA-01~03, PR-01 · PR-02, RC-01 · RC-02, ST-04 · ST-06, 알림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8915400" y="34747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8915400" y="3913632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대시보드, PR-03 프로모션, MB-01 회원, ST-07 1:1 문의 · FAQ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915400" y="48006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8915400" y="5239512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PR-03 이벤트 탭, 파서 설정 고도화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5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데이터 · 운영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소스 · 트래킹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목업의 요금제 데이터(PLANS)는 실서비스에서 크롤링 수집 → 승인된 데이터로 바뀝니다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052560" y="6473952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im010 홈페이지 기획서   33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566160" cy="4480560"/>
          </a:xfrm>
          <a:prstGeom prst="roundRect">
            <a:avLst>
              <a:gd name="adj" fmla="val 4103"/>
            </a:avLst>
          </a:prstGeom>
          <a:solidFill>
            <a:srgbClr val="F4F5F7"/>
          </a:solidFill>
          <a:ln w="9525">
            <a:solidFill>
              <a:srgbClr val="F4F5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965960"/>
            <a:ext cx="384048" cy="384048"/>
          </a:xfrm>
          <a:prstGeom prst="ellipse">
            <a:avLst/>
          </a:prstGeom>
          <a:solidFill>
            <a:srgbClr val="FA5A47"/>
          </a:solidFill>
          <a:ln>
            <a:solidFill>
              <a:srgbClr val="FA5A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99339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소스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06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요금제 (후불 · 선불)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8437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크롤링(스케줄) → 점검 → 승인 → 게시 예약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17296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3사 평균 요금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41071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입력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73989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이달의 요금제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9776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제휴사 URL 수집 + 순서는 운영자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30682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 상품 · 프로모션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54456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등록 (PR-02 · PR-03)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87375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통계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11149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1회 배치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44068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· 문의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67842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포워딩 이동 기록 · 1:1 문의 (ST-07)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297680" y="1783080"/>
            <a:ext cx="3566160" cy="4480560"/>
          </a:xfrm>
          <a:prstGeom prst="roundRect">
            <a:avLst>
              <a:gd name="adj" fmla="val 4103"/>
            </a:avLst>
          </a:prstGeom>
          <a:solidFill>
            <a:srgbClr val="F4F5F7"/>
          </a:solidFill>
          <a:ln w="9525">
            <a:solidFill>
              <a:srgbClr val="F4F5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26280" y="1965960"/>
            <a:ext cx="384048" cy="384048"/>
          </a:xfrm>
          <a:prstGeom prst="ellipse">
            <a:avLst/>
          </a:prstGeom>
          <a:solidFill>
            <a:srgbClr val="FA5A47"/>
          </a:solidFill>
          <a:ln>
            <a:solidFill>
              <a:srgbClr val="FA5A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0" y="199339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트래킹 이벤트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046720" y="1783080"/>
            <a:ext cx="3566160" cy="4480560"/>
          </a:xfrm>
          <a:prstGeom prst="roundRect">
            <a:avLst>
              <a:gd name="adj" fmla="val 4103"/>
            </a:avLst>
          </a:prstGeom>
          <a:solidFill>
            <a:srgbClr val="F4F5F7"/>
          </a:solidFill>
          <a:ln w="9525">
            <a:solidFill>
              <a:srgbClr val="F4F5F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75320" y="1965960"/>
            <a:ext cx="384048" cy="384048"/>
          </a:xfrm>
          <a:prstGeom prst="ellipse">
            <a:avLst/>
          </a:prstGeom>
          <a:solidFill>
            <a:srgbClr val="FA5A47"/>
          </a:solidFill>
          <a:ln>
            <a:solidFill>
              <a:srgbClr val="FA5A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78240" y="199339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백오피스 (04장)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2606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요금제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321040" y="28437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PA-01 · BA-01~03 · PR-01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8321040" y="317296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프로모션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321040" y="341071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PR-03 이달의 · Hero · 배너 · 이벤트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8321040" y="373989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 상품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8321040" y="39776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PR-02 (상품별 신청 URL)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430682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454456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RC-01 개통신청 · RC-02 인터넷 이동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8321040" y="487375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고객지원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8321040" y="511149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ST-07 1:1 문의 · FAQ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8321040" y="544068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약관 · Footer · 회원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8321040" y="567842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ST-04 · ST-06 · MB-01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4553712" y="256032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calc_change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4553712" y="280720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calc_result_click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4553712" y="305409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plan_click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4553712" y="33009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plan_detail_view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4553712" y="354787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plan_activate_click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4553712" y="379476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plans_filter_change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4553712" y="40416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compare_add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4553712" y="428853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favorite_toggle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4553712" y="453542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prepaid_submit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4553712" y="478231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internet_forward_click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4553712" y="50292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login_success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4553712" y="527608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faq_search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4553712" y="552297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inquiry_submit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4553712" y="5806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94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· 연락처 · 전화번호는 파라미터에 넣지 않음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5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 결정 사항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확정이 필요한 17건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3건 + 하위 페이지 7건 + 백오피스 7건 — 굵게 표시한 항목이 1차 개발 전 우선 결정 대상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052560" y="6473952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im010 홈페이지 기획서   34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37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</a:t>
            </a:r>
            <a:endParaRPr lang="en-US" sz="12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329184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92608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4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사업자 정보 (ST-06 Footer관리에 입력)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4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3사 평균 요금 산정 기준 · 출처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프런트 선불 충전 폼 유지 여부 (백오피스에서는 제외)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069080" y="17373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 페이지</a:t>
            </a:r>
            <a:endParaRPr lang="en-US" sz="1200" dirty="0"/>
          </a:p>
        </p:txBody>
      </p:sp>
      <p:graphicFrame>
        <p:nvGraphicFramePr>
          <p:cNvPr id="6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9080" y="2057400"/>
          <a:ext cx="38862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352044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S1·S2 통화 · 문자 · 속도 수집 범위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제안: 안 되는 항목은 PR-01 보완 입력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S3 자체 참여형 이벤트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제안: 초기엔 제휴사 이벤트만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4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S6·S7 개인정보 보유 기간 (회원 · 1:1 문의)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제안: 법무 검토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S5 간편 로그인 종류 · 세션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제안: 카카오 · 네이버 우선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S6 비로그인 충전 요청 기록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제안: 기록하지 않음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S7 고객센터 운영 시간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제안: ST-06에 입력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#partners 유지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제안: 요약 유지, 전체는 S1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8183880" y="17373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백오피스</a:t>
            </a:r>
            <a:endParaRPr lang="en-US" sz="1200" dirty="0"/>
          </a:p>
        </p:txBody>
      </p:sp>
      <p:graphicFrame>
        <p:nvGraphicFramePr>
          <p:cNvPr id="10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83880" y="2057400"/>
          <a:ext cx="34290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30632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PR-03 프로모션관리 탭 범위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제안: 이달의 · Hero · 배너 · 이벤트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 요금 · 홈 대시보드 위치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제안: PR-01 탭 · 로그인 후 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2단계 인증 · 사내 IP 제한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제안: 2단계 인증 필수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알림 채널 (메신저)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제안: 사내 메신저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4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포워딩 유입 추적 · 정산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제안: 제휴사 · 업체 정산 협의 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롤백 가능 기간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제안: 게시 후 7일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파싱 값 보관 기간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A8F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제안: 90일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A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430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2514600"/>
            <a:ext cx="3291840" cy="2331720"/>
          </a:xfrm>
          <a:prstGeom prst="roundRect">
            <a:avLst>
              <a:gd name="adj" fmla="val 7059"/>
            </a:avLst>
          </a:prstGeom>
          <a:solidFill>
            <a:srgbClr val="2C3345"/>
          </a:solidFill>
          <a:ln w="9525">
            <a:solidFill>
              <a:srgbClr val="2C33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43200"/>
            <a:ext cx="548640" cy="548640"/>
          </a:xfrm>
          <a:prstGeom prst="ellipse">
            <a:avLst/>
          </a:prstGeom>
          <a:solidFill>
            <a:srgbClr val="FA5A47"/>
          </a:solidFill>
          <a:ln>
            <a:solidFill>
              <a:srgbClr val="FA5A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474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사항 확정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93192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6CB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사업자 정보, 3사 평균 요금 기준, 상담 주체, 개인정보 보유 기간, 개통 유입 추적 · 정산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34290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A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389120" y="2514600"/>
            <a:ext cx="3291840" cy="2331720"/>
          </a:xfrm>
          <a:prstGeom prst="roundRect">
            <a:avLst>
              <a:gd name="adj" fmla="val 7059"/>
            </a:avLst>
          </a:prstGeom>
          <a:solidFill>
            <a:srgbClr val="2C3345"/>
          </a:solidFill>
          <a:ln w="9525">
            <a:solidFill>
              <a:srgbClr val="2C33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2743200"/>
            <a:ext cx="548640" cy="548640"/>
          </a:xfrm>
          <a:prstGeom prst="ellipse">
            <a:avLst/>
          </a:prstGeom>
          <a:solidFill>
            <a:srgbClr val="FA5A47"/>
          </a:solidFill>
          <a:ln>
            <a:solidFill>
              <a:srgbClr val="FA5A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474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개발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93192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6CB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백오피스 제휴사 · 배치 · 요금제 · 접수 · 환경설정 + S1 · S2(개통하기) · S4(포워딩) · S8 · S9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34290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A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8046720" y="2514600"/>
            <a:ext cx="3291840" cy="2331720"/>
          </a:xfrm>
          <a:prstGeom prst="roundRect">
            <a:avLst>
              <a:gd name="adj" fmla="val 7059"/>
            </a:avLst>
          </a:prstGeom>
          <a:solidFill>
            <a:srgbClr val="2C3345"/>
          </a:solidFill>
          <a:ln w="9525">
            <a:solidFill>
              <a:srgbClr val="2C334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743200"/>
            <a:ext cx="548640" cy="548640"/>
          </a:xfrm>
          <a:prstGeom prst="ellipse">
            <a:avLst/>
          </a:prstGeom>
          <a:solidFill>
            <a:srgbClr val="FA5A47"/>
          </a:solidFill>
          <a:ln>
            <a:solidFill>
              <a:srgbClr val="FA5A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474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3차 개발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93192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6CB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2차: 로그인 · 마이페이지 · 고객지원 · 대시보드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6CB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3차: 이벤트 · 파서 고도화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897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</a:t>
            </a:r>
            <a:pPr indent="0" marL="0">
              <a:buNone/>
            </a:pPr>
            <a:r>
              <a:rPr lang="en-US" sz="1800" b="1" dirty="0">
                <a:solidFill>
                  <a:srgbClr val="FA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010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5943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github.com/chlee-oss/im010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(주)아임공일공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im010 홈페이지 기획서</dc:title>
  <dc:subject>PptxGenJS Presentation</dc:subject>
  <dc:creator>chlee</dc:creator>
  <cp:lastModifiedBy>chlee</cp:lastModifiedBy>
  <cp:revision>1</cp:revision>
  <dcterms:created xsi:type="dcterms:W3CDTF">2026-10-06T03:12:29Z</dcterms:created>
  <dcterms:modified xsi:type="dcterms:W3CDTF">2026-10-06T03:12:29Z</dcterms:modified>
</cp:coreProperties>
</file>