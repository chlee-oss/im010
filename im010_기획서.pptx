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430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1F2430"/>
                </a:solidFill>
                <a:latin typeface="Malgun Gothic"/>
              </a:rPr>
              <a:t>GB당 평균 요금 (원, 낮을수록 효율적)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GB당 평균 요금</c:v>
                </c:pt>
              </c:strCache>
            </c:strRef>
          </c:tx>
          <c:spPr>
            <a:solidFill>
              <a:srgbClr val="1F2430"/>
            </a:solidFill>
            <a:effectLst/>
          </c:spPr>
          <c:invertIfNegative val="0"/>
          <c:dLbls>
            <c:numFmt formatCode="#,##0&quot;원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인스모바일</c:v>
                  </c:pt>
                  <c:pt idx="1">
                    <c:v>마블링</c:v>
                  </c:pt>
                  <c:pt idx="2">
                    <c:v>슈가모바일</c:v>
                  </c:pt>
                  <c:pt idx="3">
                    <c:v>토리모바일</c:v>
                  </c:pt>
                  <c:pt idx="4">
                    <c:v>시월모바일</c:v>
                  </c:pt>
                  <c:pt idx="5">
                    <c:v>조이M</c:v>
                  </c:pt>
                  <c:pt idx="6">
                    <c:v>위너스텔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1450</c:v>
                </c:pt>
                <c:pt idx="1">
                  <c:v>1320</c:v>
                </c:pt>
                <c:pt idx="2">
                  <c:v>1260</c:v>
                </c:pt>
                <c:pt idx="3">
                  <c:v>1180</c:v>
                </c:pt>
                <c:pt idx="4">
                  <c:v>1120</c:v>
                </c:pt>
                <c:pt idx="5">
                  <c:v>1050</c:v>
                </c:pt>
                <c:pt idx="6">
                  <c:v>980</c:v>
                </c:pt>
              </c:numCache>
            </c:numRef>
          </c:val>
        </c:ser>
        <c:dLbls>
          <c:numFmt formatCode="#,##0&quot;원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F24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B5262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962912" cy="329184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알뜰폰 요금비교 플랫폼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92024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</a:t>
            </a:r>
            <a:pPr indent="0" marL="0">
              <a:buNone/>
            </a:pPr>
            <a:r>
              <a:rPr lang="en-US" sz="72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010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0632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홈페이지 기획서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931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v0.3  ·  하위 페이지 v0.2  ·  백오피스 v0.2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760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2026.10.02   |   (주)아임공일공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 rot="180000">
            <a:off x="8503920" y="822960"/>
            <a:ext cx="2834640" cy="1600200"/>
          </a:xfrm>
          <a:prstGeom prst="roundRect">
            <a:avLst>
              <a:gd name="adj" fmla="val 9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 rot="180000">
            <a:off x="8503920" y="822960"/>
            <a:ext cx="2834640" cy="1600200"/>
          </a:xfrm>
          <a:prstGeom prst="rect">
            <a:avLst/>
          </a:prstGeom>
          <a:noFill/>
          <a:ln/>
        </p:spPr>
        <p:txBody>
          <a:bodyPr wrap="square" lIns="152400" tIns="203200" rIns="203200" bIns="1524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넉넉 11GB+ 요금제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16,500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 / 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 망 · 5G · 소진 시 1Mbps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rot="-240000">
            <a:off x="7040880" y="2606040"/>
            <a:ext cx="2834640" cy="1600200"/>
          </a:xfrm>
          <a:prstGeom prst="roundRect">
            <a:avLst>
              <a:gd name="adj" fmla="val 9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 rot="-240000">
            <a:off x="7040880" y="2606040"/>
            <a:ext cx="2834640" cy="1600200"/>
          </a:xfrm>
          <a:prstGeom prst="rect">
            <a:avLst/>
          </a:prstGeom>
          <a:noFill/>
          <a:ln/>
        </p:spPr>
        <p:txBody>
          <a:bodyPr wrap="square" lIns="152400" tIns="203200" rIns="203200" bIns="1524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가벼운 3GB 요금제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8,900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 / 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LGU+ 망 · LTE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 rot="120000">
            <a:off x="8778240" y="4206240"/>
            <a:ext cx="2834640" cy="1600200"/>
          </a:xfrm>
          <a:prstGeom prst="roundRect">
            <a:avLst>
              <a:gd name="adj" fmla="val 9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 rot="120000">
            <a:off x="8778240" y="4206240"/>
            <a:ext cx="2834640" cy="1600200"/>
          </a:xfrm>
          <a:prstGeom prst="rect">
            <a:avLst/>
          </a:prstGeom>
          <a:noFill/>
          <a:ln/>
        </p:spPr>
        <p:txBody>
          <a:bodyPr wrap="square" lIns="152400" tIns="203200" rIns="203200" bIns="1524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6C39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조이M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무제한 요금제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24,900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 / 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 망 · 5G 완전 무제한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402336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4187952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문서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4498848"/>
            <a:ext cx="28895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im010_홈페이지_기획서.md (v0.3)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im010_하위페이지_기획서.md (v0.2)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im010_백오피스_기획서.md (v0.2)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im010_홈페이지_목업_2.html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937760" y="685800"/>
            <a:ext cx="658368" cy="658368"/>
          </a:xfrm>
          <a:prstGeom prst="ellipse">
            <a:avLst/>
          </a:prstGeom>
          <a:solidFill>
            <a:srgbClr val="FFF1EE"/>
          </a:solidFill>
          <a:ln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852160" y="70408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개요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881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 · 타깃 · 핵심 지표, 7개 제휴 브랜드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600200"/>
            <a:ext cx="658368" cy="658368"/>
          </a:xfrm>
          <a:prstGeom prst="ellipse">
            <a:avLst/>
          </a:prstGeom>
          <a:solidFill>
            <a:srgbClr val="FFF1EE"/>
          </a:solidFill>
          <a:ln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161848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페이지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20025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구성, 디자인 시스템, 섹션별 설계, 검토 이슈 반영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514600"/>
            <a:ext cx="658368" cy="658368"/>
          </a:xfrm>
          <a:prstGeom prst="ellipse">
            <a:avLst/>
          </a:prstGeom>
          <a:solidFill>
            <a:srgbClr val="FFF1EE"/>
          </a:solidFill>
          <a:ln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253288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페이지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29169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페이지 화면 설계, 공통 규칙, 개발 우선순위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937760" y="3429000"/>
            <a:ext cx="658368" cy="658368"/>
          </a:xfrm>
          <a:prstGeom prst="ellipse">
            <a:avLst/>
          </a:prstGeom>
          <a:solidFill>
            <a:srgbClr val="FFF1EE"/>
          </a:solidFill>
          <a:ln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344728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백오피스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38313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수집 · 검토 · 등록 · 노출 승인, 후불 · 선불 정책, 관리 화면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37760" y="4343400"/>
            <a:ext cx="658368" cy="658368"/>
          </a:xfrm>
          <a:prstGeom prst="ellipse">
            <a:avLst/>
          </a:prstGeom>
          <a:solidFill>
            <a:srgbClr val="FFF1EE"/>
          </a:solidFill>
          <a:ln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852160" y="436168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운영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5852160" y="47457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소스, 트래킹 이벤트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37760" y="5257800"/>
            <a:ext cx="658368" cy="658368"/>
          </a:xfrm>
          <a:prstGeom prst="ellipse">
            <a:avLst/>
          </a:prstGeom>
          <a:solidFill>
            <a:srgbClr val="FFF1EE"/>
          </a:solidFill>
          <a:ln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852160" y="527608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사항 · 다음 단계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5852160" y="56601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확정이 필요한 17건과 진행 순서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서비스 개요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알뜰폰 브랜드를 한 곳에서 비교하고 가입까지 연결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im010은 비교 플랫폼 — 가입·개통은 각 제휴사에서 진행됩니다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029200" cy="1280160"/>
          </a:xfrm>
          <a:prstGeom prst="roundRect">
            <a:avLst>
              <a:gd name="adj" fmla="val 8571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2860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제휴 알뜰폰 요금제를 한 곳에서 비교하고 제휴사 가입 페이지로 연결, 인터넷 상담 신청까지 유도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46120"/>
            <a:ext cx="5029200" cy="1280160"/>
          </a:xfrm>
          <a:prstGeom prst="roundRect">
            <a:avLst>
              <a:gd name="adj" fmla="val 8571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429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타깃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7490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통신비 절감에 관심 있는 통신 3사 이용자, 단기·선불 수요자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709160"/>
            <a:ext cx="5029200" cy="1280160"/>
          </a:xfrm>
          <a:prstGeom prst="roundRect">
            <a:avLst>
              <a:gd name="adj" fmla="val 8571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892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지표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2120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 요금제 상세 클릭률 · 선불 충전 전환율 · 인터넷 상담 신청 수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 브랜드 7개사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943600" y="224028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080760" y="2423160"/>
            <a:ext cx="637032" cy="274320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080760" y="286207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marvelring.com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080760" y="320040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15784" y="224028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552944" y="2423160"/>
            <a:ext cx="891032" cy="274320"/>
          </a:xfrm>
          <a:prstGeom prst="roundRect">
            <a:avLst>
              <a:gd name="adj" fmla="val 50000"/>
            </a:avLst>
          </a:prstGeom>
          <a:solidFill>
            <a:srgbClr val="E6F0FF"/>
          </a:solidFill>
          <a:ln w="9525">
            <a:solidFill>
              <a:srgbClr val="E6F0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58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토리모바일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552944" y="286207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ntontel.com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7552944" y="320040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887968" y="224028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025128" y="2423160"/>
            <a:ext cx="764032" cy="274320"/>
          </a:xfrm>
          <a:prstGeom prst="roundRect">
            <a:avLst>
              <a:gd name="adj" fmla="val 50000"/>
            </a:avLst>
          </a:prstGeom>
          <a:solidFill>
            <a:srgbClr val="E9F8EE"/>
          </a:solidFill>
          <a:ln w="9525">
            <a:solidFill>
              <a:srgbClr val="E9F8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9E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위너스텔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025128" y="286207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idowell.co.kr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9025128" y="320040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025128" y="3538728"/>
            <a:ext cx="781812" cy="237744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제공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0360152" y="224028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10497312" y="2423160"/>
            <a:ext cx="891032" cy="274320"/>
          </a:xfrm>
          <a:prstGeom prst="roundRect">
            <a:avLst>
              <a:gd name="adj" fmla="val 50000"/>
            </a:avLst>
          </a:prstGeom>
          <a:solidFill>
            <a:srgbClr val="FFE4EC"/>
          </a:solidFill>
          <a:ln w="9525">
            <a:solidFill>
              <a:srgbClr val="FFE4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33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슈가모바일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0497312" y="286207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sugarmobile.co.kr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0497312" y="320040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0497312" y="3538728"/>
            <a:ext cx="781812" cy="237744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제공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943600" y="420624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080760" y="4389120"/>
            <a:ext cx="891032" cy="274320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9525">
            <a:solidFill>
              <a:srgbClr val="FFF3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6080760" y="482803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insmobile.co.kr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6080760" y="516636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080760" y="5504688"/>
            <a:ext cx="781812" cy="237744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제공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415784" y="420624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7552944" y="4389120"/>
            <a:ext cx="586232" cy="274320"/>
          </a:xfrm>
          <a:prstGeom prst="roundRect">
            <a:avLst>
              <a:gd name="adj" fmla="val 50000"/>
            </a:avLst>
          </a:prstGeom>
          <a:solidFill>
            <a:srgbClr val="F1E9FF"/>
          </a:solidFill>
          <a:ln w="9525">
            <a:solidFill>
              <a:srgbClr val="F1E9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C39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조이M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552944" y="482803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joytel.co.kr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52944" y="516636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887968" y="420624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9025128" y="4389120"/>
            <a:ext cx="891032" cy="274320"/>
          </a:xfrm>
          <a:prstGeom prst="roundRect">
            <a:avLst>
              <a:gd name="adj" fmla="val 50000"/>
            </a:avLst>
          </a:prstGeom>
          <a:solidFill>
            <a:srgbClr val="FDECC8"/>
          </a:solidFill>
          <a:ln w="9525">
            <a:solidFill>
              <a:srgbClr val="FDEC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26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시월모바일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9025128" y="482803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siwolmobile.com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9025128" y="516636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10360152" y="420624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497312" y="438912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4000" dirty="0"/>
          </a:p>
        </p:txBody>
      </p:sp>
      <p:sp>
        <p:nvSpPr>
          <p:cNvPr id="49" name="Text 47"/>
          <p:cNvSpPr txBox="1"/>
          <p:nvPr/>
        </p:nvSpPr>
        <p:spPr>
          <a:xfrm>
            <a:off x="10497312" y="5166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그중 선불 3개사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페이지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40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 · 디자인 시스템 · 섹션별 설계 · 검토 이슈 반영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680960" y="118872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09560" y="11887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GNB (Sticky Header)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80960" y="1664208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09560" y="16642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Hero + 요금 계산기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680960" y="2139696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9560" y="21396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요금제비교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0" y="2615184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09560" y="26151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제휴사별 요금제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80960" y="3090672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09560" y="30906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선불요금제 + 충전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680960" y="356616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09560" y="35661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배너 · 상품 비교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0" y="4041648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09560" y="40416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요금제분석 · 신뢰 지표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80960" y="4517136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09560" y="45171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Footer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화면 구성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페이지, 10개 섹션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메뉴는 섹션으로 스크롤 이동, 제휴사 페이지는 새 창으로 엽니다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5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섹션 순서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057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GNB (Sticky)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BF8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4871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Hero + 요금 계산기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4871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#calc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2916936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291693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이달의 요금제비교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514600" y="291693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#month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3346704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1EE"/>
          </a:solidFill>
          <a:ln w="9525">
            <a:solidFill>
              <a:srgbClr val="FFE4D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34670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제휴사별 요금제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334670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#partners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" y="3776472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77647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선불요금제 + 충전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514600" y="377647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#prepaid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4206240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4206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 인터넷 배너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514600" y="420624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6C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#internet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4636008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46360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인터넷 상품 비교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514600" y="463600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#internet-compare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5065776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1EE"/>
          </a:solidFill>
          <a:ln w="9525">
            <a:solidFill>
              <a:srgbClr val="FFE4D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506577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 요금제분석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2514600" y="50657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#analysis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5495544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5800" y="549554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 신뢰 지표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925312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" y="5925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Footer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4343400" y="17373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메뉴 (GNB)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2057400"/>
          <a:ext cx="72694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33756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이달의 요금제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#month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 ▾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#partners · 7개사 요금제 페이지(새 창)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하위: 전체 비교 → S1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선불요금제 ▾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#prepaid · 3개사 선불결제(새 창)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인터넷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#internet-compare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v0.2 추가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S3 이벤트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"준비 중" 안내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요금제분석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#analysis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마이페이지 · 로그인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S6 · S5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"준비 중" 안내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 비교하기 (CTA)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#calc  Hero 계산기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Shape 33"/>
          <p:cNvSpPr/>
          <p:nvPr/>
        </p:nvSpPr>
        <p:spPr>
          <a:xfrm>
            <a:off x="4343400" y="5532120"/>
            <a:ext cx="7269480" cy="731520"/>
          </a:xfrm>
          <a:prstGeom prst="roundRect">
            <a:avLst>
              <a:gd name="adj" fmla="val 15000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544568" y="5696712"/>
            <a:ext cx="6867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544568" y="6007608"/>
            <a:ext cx="6867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≤920px 햄버거 메뉴(☰/✕)로 전환 · ≤600px 마이페이지·로그인은 메뉴 패널 하단으로 이동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디자인 시스템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코랄 + 네이비, 숫자는 Space Grotesk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하위 페이지도 같은 토큰과 컴포넌트를 사용합니다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FA5A47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coral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#FA5A47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659636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D9432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659636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coral-dark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659636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#D9432F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70632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FFF1EE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70632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coral-tint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2770632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#FFF1EE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881628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FFE4D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81628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coral-tint-2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881628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#FFE4DF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92624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1F2430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992624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navy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992624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#1F2430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103620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4B5262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03620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gray-700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103620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#4B5262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214616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8A8F9C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214616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gray-500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7214616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#8A8F9C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325612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E9E7E3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25612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gray-200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325612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#E9E7E3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436608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FFFBF8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436608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cream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36608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#FFFBF8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547604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FFB020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547604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gold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0547604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#FFB020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8640" y="3337560"/>
            <a:ext cx="5486400" cy="2926080"/>
          </a:xfrm>
          <a:prstGeom prst="roundRect">
            <a:avLst>
              <a:gd name="adj" fmla="val 375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34930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타이포그래피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" y="38404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</a:t>
            </a:r>
            <a:pPr indent="0" marL="0">
              <a:buNone/>
            </a:pPr>
            <a:r>
              <a:rPr lang="en-US" sz="22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010</a:t>
            </a:r>
            <a:endParaRPr lang="en-US" sz="2200" dirty="0"/>
          </a:p>
        </p:txBody>
      </p:sp>
      <p:sp>
        <p:nvSpPr>
          <p:cNvPr id="39" name="Text 37"/>
          <p:cNvSpPr txBox="1"/>
          <p:nvPr/>
        </p:nvSpPr>
        <p:spPr>
          <a:xfrm>
            <a:off x="3611880" y="3840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로고 · 22 / 800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77240" y="42976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매달 통신비, 얼마나</a:t>
            </a:r>
            <a:endParaRPr lang="en-US" sz="2200" dirty="0"/>
          </a:p>
        </p:txBody>
      </p:sp>
      <p:sp>
        <p:nvSpPr>
          <p:cNvPr id="41" name="Text 39"/>
          <p:cNvSpPr txBox="1"/>
          <p:nvPr/>
        </p:nvSpPr>
        <p:spPr>
          <a:xfrm>
            <a:off x="3611880" y="42976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Hero 타이틀 · 40 / 800 (모바일 30)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777240" y="47548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요금제비교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3611880" y="47548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섹션 타이틀 · 26 / 800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52120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16,500원</a:t>
            </a:r>
            <a:endParaRPr lang="en-US" sz="2000" dirty="0"/>
          </a:p>
        </p:txBody>
      </p:sp>
      <p:sp>
        <p:nvSpPr>
          <p:cNvPr id="45" name="Text 43"/>
          <p:cNvSpPr txBox="1"/>
          <p:nvPr/>
        </p:nvSpPr>
        <p:spPr>
          <a:xfrm>
            <a:off x="3611880" y="52120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가격·지표 · Space Grotesk 700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777240" y="5669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7월, 가장 많이 비교된 요금제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611880" y="56692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서브·캡션 · 14 / gray-500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263640" y="3337560"/>
            <a:ext cx="5349240" cy="2926080"/>
          </a:xfrm>
          <a:prstGeom prst="roundRect">
            <a:avLst>
              <a:gd name="adj" fmla="val 375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92240" y="34930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컴포넌트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492240" y="38862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7863840" y="3886200"/>
            <a:ext cx="1221232" cy="310896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비교하기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9372600" y="3886200"/>
            <a:ext cx="14244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6492240" y="43434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칩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7863840" y="4361688"/>
            <a:ext cx="637032" cy="274320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8574024" y="4361688"/>
            <a:ext cx="891032" cy="274320"/>
          </a:xfrm>
          <a:prstGeom prst="roundRect">
            <a:avLst>
              <a:gd name="adj" fmla="val 50000"/>
            </a:avLst>
          </a:prstGeom>
          <a:solidFill>
            <a:srgbClr val="E6F0FF"/>
          </a:solidFill>
          <a:ln w="9525">
            <a:solidFill>
              <a:srgbClr val="E6F0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58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토리모바일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9538208" y="4361688"/>
            <a:ext cx="764032" cy="274320"/>
          </a:xfrm>
          <a:prstGeom prst="roundRect">
            <a:avLst>
              <a:gd name="adj" fmla="val 50000"/>
            </a:avLst>
          </a:prstGeom>
          <a:solidFill>
            <a:srgbClr val="E9F8EE"/>
          </a:solidFill>
          <a:ln w="9525">
            <a:solidFill>
              <a:srgbClr val="E9F8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9E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위너스텔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10375392" y="4361688"/>
            <a:ext cx="891032" cy="274320"/>
          </a:xfrm>
          <a:prstGeom prst="roundRect">
            <a:avLst>
              <a:gd name="adj" fmla="val 50000"/>
            </a:avLst>
          </a:prstGeom>
          <a:solidFill>
            <a:srgbClr val="FFE4EC"/>
          </a:solidFill>
          <a:ln w="9525">
            <a:solidFill>
              <a:srgbClr val="FFE4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33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슈가모바일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6492240" y="48006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배지 · 태그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7863840" y="4818888"/>
            <a:ext cx="883412" cy="274320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 w="9525">
            <a:solidFill>
              <a:srgbClr val="FFB0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1위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8823960" y="4818888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E9E7E3"/>
          </a:solidFill>
          <a:ln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SKT망</a:t>
            </a:r>
            <a:endParaRPr lang="en-US" sz="950" dirty="0"/>
          </a:p>
        </p:txBody>
      </p:sp>
      <p:sp>
        <p:nvSpPr>
          <p:cNvPr id="61" name="Text 59"/>
          <p:cNvSpPr txBox="1"/>
          <p:nvPr/>
        </p:nvSpPr>
        <p:spPr>
          <a:xfrm>
            <a:off x="6492240" y="52578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(활성/기본)</a:t>
            </a:r>
            <a:endParaRPr lang="en-US" sz="950" dirty="0"/>
          </a:p>
        </p:txBody>
      </p:sp>
      <p:sp>
        <p:nvSpPr>
          <p:cNvPr id="62" name="Text 60"/>
          <p:cNvSpPr txBox="1"/>
          <p:nvPr/>
        </p:nvSpPr>
        <p:spPr>
          <a:xfrm>
            <a:off x="7863840" y="5276088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8668512" y="527608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1000" dirty="0"/>
          </a:p>
        </p:txBody>
      </p:sp>
      <p:sp>
        <p:nvSpPr>
          <p:cNvPr id="64" name="Text 62"/>
          <p:cNvSpPr txBox="1"/>
          <p:nvPr/>
        </p:nvSpPr>
        <p:spPr>
          <a:xfrm>
            <a:off x="6492240" y="57150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7863840" y="5669280"/>
            <a:ext cx="1371600" cy="41148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66" name="Text 64"/>
          <p:cNvSpPr txBox="1"/>
          <p:nvPr/>
        </p:nvSpPr>
        <p:spPr>
          <a:xfrm>
            <a:off x="9326880" y="5669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radius 14–16 · hover 시 상승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Hero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 계산기 — 조건에 맞는 최저가 요금제를 바로 찾기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사용량과 통신망을 고르면 게시 중인 후불 요금제에서 최저가를 조회합니다 (선불 제외)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212080" cy="443484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데이터 사용량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19842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11GB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2487168"/>
            <a:ext cx="4663440" cy="73152"/>
          </a:xfrm>
          <a:prstGeom prst="roundRect">
            <a:avLst>
              <a:gd name="adj" fmla="val 50000"/>
            </a:avLst>
          </a:prstGeom>
          <a:solidFill>
            <a:srgbClr val="E9E7E3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487168"/>
            <a:ext cx="3291840" cy="73152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86784" y="2386584"/>
            <a:ext cx="274320" cy="274320"/>
          </a:xfrm>
          <a:prstGeom prst="ellipse">
            <a:avLst/>
          </a:prstGeom>
          <a:solidFill>
            <a:srgbClr val="FA5A47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26974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1GB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026664" y="26974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7GB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6974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무제한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063240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F1EE"/>
          </a:solidFill>
          <a:ln w="1587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SKT망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423160" y="3063240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KT망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023360" y="3063240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LGU+망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3657600"/>
            <a:ext cx="4663440" cy="1417320"/>
          </a:xfrm>
          <a:prstGeom prst="roundRect">
            <a:avLst>
              <a:gd name="adj" fmla="val 9032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AD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최저가 요금제 · SKT망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160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D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16,500</a:t>
            </a:r>
            <a:pPr indent="0" marL="0">
              <a:buNone/>
            </a:pPr>
            <a:r>
              <a:rPr lang="en-US" sz="1300" dirty="0">
                <a:solidFill>
                  <a:srgbClr val="DAD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29000" y="379476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2C3345"/>
          </a:solidFill>
          <a:ln w="9525">
            <a:solidFill>
              <a:srgbClr val="4A526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66160" y="3904488"/>
            <a:ext cx="598932" cy="237744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3566160" y="42062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11GB +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2GB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463600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B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보기 →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2303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 3사 평균(월 43,900원) 대비 월 27,400원 · 62% 절약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5778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2026.10.01 기준 제휴사 공시 요금. 3사 평균은 동일 데이터 구간 요금제 평균(예시)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6172200" y="1783080"/>
            <a:ext cx="502920" cy="5029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176479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858000" y="20848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8단계(1·2·3·5·7·11·30GB·무제한)와 통신망(SKT·KT·LGU+) 선택. 기본값은 11GB · SKT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172200" y="2770632"/>
            <a:ext cx="502920" cy="5029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0" y="27523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0" y="307238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 중인 후불 요금제에서 "선택한 망 + 기본 제공량 ≥ 선택 데이터"를 만족하는 최저가 요금제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172200" y="3758184"/>
            <a:ext cx="502920" cy="5029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858000" y="373989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0" y="405993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· 요금제명 · 월 요금, "요금제 보기 →" → S2 상세 → 개통하기 → 제휴사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6172200" y="4745736"/>
            <a:ext cx="502920" cy="5029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858000" y="472744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절약 계산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858000" y="504748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절약액 = 3사 평균 − 결과 요금, 절약률 = 1 − 결과 ÷ 3사 평균 → 망마다 달라짐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172200" y="5760720"/>
            <a:ext cx="5440680" cy="502920"/>
          </a:xfrm>
          <a:prstGeom prst="roundRect">
            <a:avLst>
              <a:gd name="adj" fmla="val 21818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73368" y="57607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화면 값 = 기본 상태 → 페이지를 열 때 숫자가 바뀌지 않음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Hero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통신망별 계산 결과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예시 데이터 기준 (2026.10.01) · 괄호는 3사 평균 대비 절약률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795528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051560"/>
                <a:gridCol w="2011680"/>
                <a:gridCol w="2011680"/>
                <a:gridCol w="20116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3사 평균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SKT망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KT망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LGU+망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33,000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조이M 12,900 (61%)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토리모바일 9,900 (70%)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 8,900 (73%)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33,000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조이M 12,900 (61%)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토리모바일 9,900 (70%)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 8,900 (73%)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36,000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조이M 12,900 (64%)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토리모바일 9,900 (73%)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 8,900 (75%)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39,000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조이M 12,900 (67%)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토리모바일 9,900 (75%)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 13,200 (66%)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42,000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마블링 16,500 (61%)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슈가모바일 15,400 (63%)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 13,200 (69%)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43,900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마블링 16,500 (62%)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슈가모바일 15,400 (65%)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 13,200 (70%)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55,000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시월모바일 17,900 (67%)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슈가모바일 15,400 (72%)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위너스텔 23,000 (58%)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무제한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69,000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마블링 26,400 (62%)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조이M 24,900 (64%)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위너스텔 23,000 (67%)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869680" y="1783080"/>
            <a:ext cx="2743200" cy="2240280"/>
          </a:xfrm>
          <a:prstGeom prst="roundRect">
            <a:avLst>
              <a:gd name="adj" fmla="val 4898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098280" y="19659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절감률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9098280" y="22402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5400" dirty="0"/>
          </a:p>
        </p:txBody>
      </p:sp>
      <p:sp>
        <p:nvSpPr>
          <p:cNvPr id="10" name="Text 7"/>
          <p:cNvSpPr txBox="1"/>
          <p:nvPr/>
        </p:nvSpPr>
        <p:spPr>
          <a:xfrm>
            <a:off x="9098280" y="32004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KT망 5GB · LGU+망 3GB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 지표 "최대 N%"에 자동 반영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869680" y="4206240"/>
            <a:ext cx="2743200" cy="1325880"/>
          </a:xfrm>
          <a:prstGeom prst="roundRect">
            <a:avLst>
              <a:gd name="adj" fmla="val 8276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098280" y="43708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27,400원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9098280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상태(11GB · SKT망) 절약액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43,900 − 16,500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172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 결과를 위해 예시 요금제 3종 추가: 토리모바일 5GB · 인스모바일 15GB · 마블링 무제한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요금제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요금제와 제휴사별 요금제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요금제는 제휴사 URL 수집 기반, 전체 후불 요금제는 브랜드 탭으로 필터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9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요금제비교  #month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1755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 "이달의 요금제" URL 매일 수집 · 순서 · 배지는 운영자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2103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85800" y="2286000"/>
            <a:ext cx="598932" cy="237744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724660" y="2286000"/>
            <a:ext cx="817372" cy="237744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 w="9525">
            <a:solidFill>
              <a:srgbClr val="FFB0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A2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1위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11GB + 매일 2GB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8986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16,500</a:t>
            </a:r>
            <a:pPr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원/월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273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88920" y="2148840"/>
            <a:ext cx="2103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926080" y="2286000"/>
            <a:ext cx="827532" cy="237744"/>
          </a:xfrm>
          <a:prstGeom prst="roundRect">
            <a:avLst>
              <a:gd name="adj" fmla="val 50000"/>
            </a:avLst>
          </a:prstGeom>
          <a:solidFill>
            <a:srgbClr val="E6F0FF"/>
          </a:solidFill>
          <a:ln w="9525">
            <a:solidFill>
              <a:srgbClr val="E6F0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158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토리모바일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100GB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28986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19,800</a:t>
            </a:r>
            <a:pPr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원/월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2926080" y="3273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200" y="2148840"/>
            <a:ext cx="2103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166360" y="2286000"/>
            <a:ext cx="713232" cy="237744"/>
          </a:xfrm>
          <a:prstGeom prst="roundRect">
            <a:avLst>
              <a:gd name="adj" fmla="val 50000"/>
            </a:avLst>
          </a:prstGeom>
          <a:solidFill>
            <a:srgbClr val="E9F8EE"/>
          </a:solidFill>
          <a:ln w="9525">
            <a:solidFill>
              <a:srgbClr val="E9F8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9E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위너스텔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269990" y="2286000"/>
            <a:ext cx="752602" cy="237744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 w="9525">
            <a:solidFill>
              <a:srgbClr val="FFB0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A2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출시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516636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무제한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28986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23,000</a:t>
            </a:r>
            <a:pPr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원/월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166360" y="3273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269480" y="2148840"/>
            <a:ext cx="2103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406640" y="2286000"/>
            <a:ext cx="827532" cy="237744"/>
          </a:xfrm>
          <a:prstGeom prst="roundRect">
            <a:avLst>
              <a:gd name="adj" fmla="val 50000"/>
            </a:avLst>
          </a:prstGeom>
          <a:solidFill>
            <a:srgbClr val="FFE4EC"/>
          </a:solidFill>
          <a:ln w="9525">
            <a:solidFill>
              <a:srgbClr val="FFE4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633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슈가모바일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40664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30GB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406640" y="28986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15,400</a:t>
            </a:r>
            <a:pPr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원/월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7406640" y="3273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509760" y="2148840"/>
            <a:ext cx="2103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9646920" y="2286000"/>
            <a:ext cx="827532" cy="237744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9525">
            <a:solidFill>
              <a:srgbClr val="FFF3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64692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3GB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9646920" y="28986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8,900</a:t>
            </a:r>
            <a:pPr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원/월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9646920" y="3273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48640" y="3794760"/>
            <a:ext cx="11064240" cy="2468880"/>
          </a:xfrm>
          <a:prstGeom prst="roundRect">
            <a:avLst>
              <a:gd name="adj" fmla="val 5926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3931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제휴사별 요금제  #partners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77240" y="4315968"/>
            <a:ext cx="497332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1347724" y="4315968"/>
            <a:ext cx="6179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2038858" y="4315968"/>
            <a:ext cx="8592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토리모바일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2971292" y="4315968"/>
            <a:ext cx="73863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위너스텔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3783076" y="4315968"/>
            <a:ext cx="8592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슈가모바일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4715510" y="4315968"/>
            <a:ext cx="8592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647944" y="4315968"/>
            <a:ext cx="56972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조이M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290818" y="4315968"/>
            <a:ext cx="8592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시월모바일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777240" y="46817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요금제 </a:t>
            </a:r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 · 낮은 가격순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77240" y="4983480"/>
            <a:ext cx="1664208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86968" y="5074920"/>
            <a:ext cx="687832" cy="219456"/>
          </a:xfrm>
          <a:prstGeom prst="roundRect">
            <a:avLst>
              <a:gd name="adj" fmla="val 50000"/>
            </a:avLst>
          </a:prstGeom>
          <a:solidFill>
            <a:srgbClr val="E9F8EE"/>
          </a:solidFill>
          <a:ln w="9525">
            <a:solidFill>
              <a:srgbClr val="E9F8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9E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위너스텔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886968" y="535838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200MB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886968" y="55595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4,900원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86968" y="585216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LGU+ · LTE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2560320" y="4983480"/>
            <a:ext cx="1664208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670048" y="5074920"/>
            <a:ext cx="795782" cy="219456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9525">
            <a:solidFill>
              <a:srgbClr val="FFF3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2670048" y="535838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3GB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2670048" y="55595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8,900원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670048" y="585216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LGU+ · LTE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4343400" y="4983480"/>
            <a:ext cx="1664208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453128" y="5074920"/>
            <a:ext cx="795782" cy="219456"/>
          </a:xfrm>
          <a:prstGeom prst="roundRect">
            <a:avLst>
              <a:gd name="adj" fmla="val 50000"/>
            </a:avLst>
          </a:prstGeom>
          <a:solidFill>
            <a:srgbClr val="E6F0FF"/>
          </a:solidFill>
          <a:ln w="9525">
            <a:solidFill>
              <a:srgbClr val="E6F0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58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토리모바일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4453128" y="535838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5GB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4453128" y="55595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9,900원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4453128" y="585216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 · LTE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6126480" y="4983480"/>
            <a:ext cx="1664208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236208" y="5074920"/>
            <a:ext cx="536702" cy="219456"/>
          </a:xfrm>
          <a:prstGeom prst="roundRect">
            <a:avLst>
              <a:gd name="adj" fmla="val 50000"/>
            </a:avLst>
          </a:prstGeom>
          <a:solidFill>
            <a:srgbClr val="F1E9FF"/>
          </a:solidFill>
          <a:ln w="9525">
            <a:solidFill>
              <a:srgbClr val="F1E9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C39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조이M</a:t>
            </a:r>
            <a:endParaRPr lang="en-US" sz="850" dirty="0"/>
          </a:p>
        </p:txBody>
      </p:sp>
      <p:sp>
        <p:nvSpPr>
          <p:cNvPr id="63" name="Text 61"/>
          <p:cNvSpPr txBox="1"/>
          <p:nvPr/>
        </p:nvSpPr>
        <p:spPr>
          <a:xfrm>
            <a:off x="6236208" y="535838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6GB + 매일 1GB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6236208" y="55595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12,900원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6236208" y="585216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 · LTE</a:t>
            </a:r>
            <a:endParaRPr lang="en-US" sz="850" dirty="0"/>
          </a:p>
        </p:txBody>
      </p:sp>
      <p:sp>
        <p:nvSpPr>
          <p:cNvPr id="66" name="Text 64"/>
          <p:cNvSpPr txBox="1"/>
          <p:nvPr/>
        </p:nvSpPr>
        <p:spPr>
          <a:xfrm>
            <a:off x="8046720" y="470916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 중인 후불 요금제만 (선불 제외)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클릭 시 브랜드 필터 + 개수 표시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요금 낮은 가격순 정렬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클릭 → S2 상세 → 개통하기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선불요금제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충전 — 입력은 im010, 결제는 제휴사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 · 위너스텔 · 슈가모바일 3개사 제공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931920" cy="44805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93852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선불요금결제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3172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통신사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77240" y="2569464"/>
            <a:ext cx="347472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56946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슈가모바일   ▾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99008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77240" y="3227832"/>
            <a:ext cx="347472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322783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010-1234-5678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64845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충전 금액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3886200"/>
            <a:ext cx="347472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8862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입력   ▾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7240" y="4325112"/>
            <a:ext cx="347472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43251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20000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828032"/>
            <a:ext cx="3474720" cy="384048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충전하기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5349240"/>
            <a:ext cx="3474720" cy="731520"/>
          </a:xfrm>
          <a:prstGeom prst="roundRect">
            <a:avLst>
              <a:gd name="adj" fmla="val 10000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5413248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슈가모바일 010-1234-5678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20,000원 충전  </a:t>
            </a:r>
            <a:pPr indent="0" marL="0">
              <a:buNone/>
            </a:pPr>
            <a:r>
              <a:rPr lang="en-US" sz="9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페이지로 이동 →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783080"/>
          <a:ext cx="67665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834640"/>
                <a:gridCol w="28346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문구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통신사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3개사 중 필수 선택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통신사를 선택해 주세요.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전화번호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입력 시 하이픈 자동 삽입, 010 11자리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010으로 시작하는 11자리 번호를 입력해 주세요.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충전 금액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10,000 / 30,000 / 50,000 / 직접 입력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입력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1,000 ~ 100,000원, 1,000원 단위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1,000 ~ 100,000원 사이, 1,000원 단위로…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충전하기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 시 요약 + 제휴사 결제 페이지 링크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4846320" y="4663440"/>
            <a:ext cx="2148840" cy="914400"/>
          </a:xfrm>
          <a:prstGeom prst="roundRect">
            <a:avLst>
              <a:gd name="adj" fmla="val 1200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983480" y="4754880"/>
            <a:ext cx="795782" cy="219456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9525">
            <a:solidFill>
              <a:srgbClr val="FFF3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4983480" y="502920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1GB · 30일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4983480" y="52395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6,600원 / 충전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7132320" y="4663440"/>
            <a:ext cx="2148840" cy="914400"/>
          </a:xfrm>
          <a:prstGeom prst="roundRect">
            <a:avLst>
              <a:gd name="adj" fmla="val 1200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269480" y="4754880"/>
            <a:ext cx="687832" cy="219456"/>
          </a:xfrm>
          <a:prstGeom prst="roundRect">
            <a:avLst>
              <a:gd name="adj" fmla="val 50000"/>
            </a:avLst>
          </a:prstGeom>
          <a:solidFill>
            <a:srgbClr val="E9F8EE"/>
          </a:solidFill>
          <a:ln w="9525">
            <a:solidFill>
              <a:srgbClr val="E9F8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9E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위너스텔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7269480" y="502920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3GB · 30일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7269480" y="52395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11,000원 / 충전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9418320" y="4663440"/>
            <a:ext cx="2148840" cy="914400"/>
          </a:xfrm>
          <a:prstGeom prst="roundRect">
            <a:avLst>
              <a:gd name="adj" fmla="val 1200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555480" y="4754880"/>
            <a:ext cx="795782" cy="219456"/>
          </a:xfrm>
          <a:prstGeom prst="roundRect">
            <a:avLst>
              <a:gd name="adj" fmla="val 50000"/>
            </a:avLst>
          </a:prstGeom>
          <a:solidFill>
            <a:srgbClr val="FFE4EC"/>
          </a:solidFill>
          <a:ln w="9525">
            <a:solidFill>
              <a:srgbClr val="FFE4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633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슈가모바일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9555480" y="502920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무제한 · 7일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9555480" y="52395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9,900원 / 충전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4846320" y="580644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선불은 어떤 비교에도 넣지 않음 · 전화번호는 URL에 넣지 않음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인터넷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상품 비교와 상담 신청 연결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배너 → 상품 비교 섹션 → 상담 신청(S4) 순서로 이어집니다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55648"/>
            <a:ext cx="814832" cy="292608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(6)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454912" y="1755648"/>
            <a:ext cx="1272032" cy="292608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단독 (3)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818384" y="1755648"/>
            <a:ext cx="1653032" cy="292608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+ TV 결합 (3)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2834640"/>
                <a:gridCol w="1463040"/>
                <a:gridCol w="493776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ISP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요금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혜택 (3년 약정 기준)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E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기가인터넷 500M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22,000원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사은품 최대 25만 · 공유기 임대 무료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00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기가인터넷 1G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27,500원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사은품 최대 28만 · TV 결합 추가 할인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LG U+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00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인터넷 500M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21,000원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사은품 최대 30만 · 알뜰폰 결합 할인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E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500M + B tv 이코노미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33,000원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사은품 최대 40만 · 셋톱박스 임대료 포함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00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500M + 지니TV 베이직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35,200원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사은품 최대 43만 · OTT 1개월 무료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LG U+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00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500M + U+tv 베이직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34,100원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사은품 최대 45만 · 알뜰폰 결합 할인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48640" y="5257800"/>
            <a:ext cx="3566160" cy="1005840"/>
          </a:xfrm>
          <a:prstGeom prst="roundRect">
            <a:avLst>
              <a:gd name="adj" fmla="val 1090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5422392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 상품 3종 추가 (v0.2)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57332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"인터넷 + TV 결합"이 실제로 걸러지도록 결합 상품을 추가했습니다.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297680" y="5257800"/>
            <a:ext cx="3566160" cy="1005840"/>
          </a:xfrm>
          <a:prstGeom prst="roundRect">
            <a:avLst>
              <a:gd name="adj" fmla="val 1090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98848" y="5422392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탭은 그룹별로 독립 동작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498848" y="57332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탭과 제휴사 탭이 서로의 선택 상태를 바꾸지 않습니다.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046720" y="5257800"/>
            <a:ext cx="3566160" cy="1005840"/>
          </a:xfrm>
          <a:prstGeom prst="roundRect">
            <a:avLst>
              <a:gd name="adj" fmla="val 1090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47888" y="5422392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신청 → S4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247888" y="57332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"준비 중" 안내, S4 완성 후 상품이 선택된 상담 모달로 연결합니다.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요금제분석 · 신뢰 지표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 보여주는 합리성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 중인 후불 요금제 기준 GB당 평균 요금, 7개사 (선불 · 무제한 제외, 예시 데이터)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6858000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685800" y="1874520"/>
          <a:ext cx="658368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349240" y="2487168"/>
            <a:ext cx="1607312" cy="256032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 · 위너스텔 980원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1783080"/>
            <a:ext cx="3886200" cy="1161288"/>
          </a:xfrm>
          <a:prstGeom prst="roundRect">
            <a:avLst>
              <a:gd name="adj" fmla="val 944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19659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달 가장 많이 비교된 데이터 구간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22585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11GB ~ 30GB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726680" y="3081528"/>
            <a:ext cx="3886200" cy="1161288"/>
          </a:xfrm>
          <a:prstGeom prst="roundRect">
            <a:avLst>
              <a:gd name="adj" fmla="val 944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55280" y="326440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 3사 평균 대비 절감액 (11GB 기준)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955280" y="355701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27,400원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7726680" y="4379976"/>
            <a:ext cx="3886200" cy="1161288"/>
          </a:xfrm>
          <a:prstGeom prst="roundRect">
            <a:avLst>
              <a:gd name="adj" fmla="val 944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55280" y="456285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빠르게 성장 중인 요금제 구간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485546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무제한형 요금제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128,940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126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개통 건수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333756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3337560" y="6126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이용 만족도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2648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7개사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6126480" y="6126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 통신사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891540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75%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8915400" y="6126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통신비 절감 효과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반응형 · 접근성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· 태블릿 · 모바일 대응과 접근성 기준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375px 폭에서도 가로 스크롤 없이 동작하는 것을 확인했습니다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03120"/>
            <a:ext cx="27432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9050">
            <a:solidFill>
              <a:srgbClr val="1F24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212848"/>
            <a:ext cx="2560320" cy="128016"/>
          </a:xfrm>
          <a:prstGeom prst="roundRect">
            <a:avLst>
              <a:gd name="adj" fmla="val 21429"/>
            </a:avLst>
          </a:prstGeom>
          <a:solidFill>
            <a:srgbClr val="FA5A47"/>
          </a:solidFill>
          <a:ln w="9525">
            <a:solidFill>
              <a:srgbClr val="FA5A4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432304"/>
            <a:ext cx="1408176" cy="541325"/>
          </a:xfrm>
          <a:prstGeom prst="roundRect">
            <a:avLst>
              <a:gd name="adj" fmla="val 6757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1952" y="2432304"/>
            <a:ext cx="1024128" cy="541325"/>
          </a:xfrm>
          <a:prstGeom prst="roundRect">
            <a:avLst>
              <a:gd name="adj" fmla="val 6757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931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 &gt; 920px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976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 Hero + 플로팅 카드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 그리드 4열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드롭다운 메뉴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14700" y="1874520"/>
            <a:ext cx="1417320" cy="192024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9050">
            <a:solidFill>
              <a:srgbClr val="1F24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06140" y="1984248"/>
            <a:ext cx="1234440" cy="128016"/>
          </a:xfrm>
          <a:prstGeom prst="roundRect">
            <a:avLst>
              <a:gd name="adj" fmla="val 21429"/>
            </a:avLst>
          </a:prstGeom>
          <a:solidFill>
            <a:srgbClr val="FA5A47"/>
          </a:solidFill>
          <a:ln w="9525">
            <a:solidFill>
              <a:srgbClr val="FA5A4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06140" y="2203704"/>
            <a:ext cx="1234440" cy="614477"/>
          </a:xfrm>
          <a:prstGeom prst="roundRect">
            <a:avLst>
              <a:gd name="adj" fmla="val 5952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26080" y="3931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태블릿  ≤ 920px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42976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 Hero, 플로팅 카드 숨김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햄버거 메뉴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 2열, 탭 가로 스크롤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460" y="2103120"/>
            <a:ext cx="868680" cy="169164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1F24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57900" y="2212848"/>
            <a:ext cx="685800" cy="128016"/>
          </a:xfrm>
          <a:prstGeom prst="roundRect">
            <a:avLst>
              <a:gd name="adj" fmla="val 21429"/>
            </a:avLst>
          </a:prstGeom>
          <a:solidFill>
            <a:srgbClr val="FA5A47"/>
          </a:solidFill>
          <a:ln w="9525">
            <a:solidFill>
              <a:srgbClr val="FA5A4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7900" y="2432304"/>
            <a:ext cx="685800" cy="541325"/>
          </a:xfrm>
          <a:prstGeom prst="roundRect">
            <a:avLst>
              <a:gd name="adj" fmla="val 6757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03520" y="3931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 ≤ 600px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349240" y="42976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헤더 버튼 축약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섹션 헤더 세로 정렬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 줄바꿈 제거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63840" y="1783080"/>
            <a:ext cx="3749040" cy="4480560"/>
          </a:xfrm>
          <a:prstGeom prst="roundRect">
            <a:avLst>
              <a:gd name="adj" fmla="val 3902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92440" y="193852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접근성 체크리스트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2377440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503920" y="235915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 label 연결 · aria-valuetext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092440" y="2907792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503920" y="288950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망 토글 aria-pressed, 탭 aria-selected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092440" y="3438144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503920" y="341985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 결과 · 개수 aria-live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092440" y="3968496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503920" y="39502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 오류 aria-invalid + 오류 문구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092440" y="4498848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503920" y="44805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드롭다운 키보드 포커스로 열림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092440" y="5029200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8503920" y="50109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:focus-visible 포커스 링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092440" y="5559552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503920" y="55412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링크 rel="noopener noreferrer"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검토 이슈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목업 검토 이슈 13건 반영 현황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v0.2에서 11건 완료, 2건 부분 반영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pPr indent="0" marL="0">
              <a:buNone/>
            </a:pPr>
            <a:r>
              <a:rPr lang="en-US" sz="2800" b="1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13</a:t>
            </a:r>
            <a:endParaRPr lang="en-US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26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474720"/>
            <a:ext cx="3017520" cy="2743200"/>
          </a:xfrm>
          <a:prstGeom prst="roundRect">
            <a:avLst>
              <a:gd name="adj" fmla="val 4000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639312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 반영 2건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950208"/>
            <a:ext cx="2615184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#9 하위 페이지 — 이번 하위 페이지 기획서로 설계, 구현 전까지 "준비 중" 안내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#13 사업자 정보 — 영역은 만들었고 실제 값(대표자·등록번호·주소 등)이 필요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783080"/>
          <a:ext cx="76809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234440"/>
                <a:gridCol w="5166360"/>
                <a:gridCol w="82296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반영 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정합성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최대 절감률을 계산기 데이터로 자동 산출 (75%)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렌더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상태(11GB · SKT)와 처음 화면 값 일치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 최저가 요금제 조회 + 상세 링크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망별 3사 평균 대비 실제 절약률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제휴사 · 인터넷 탭 필터, 그룹별 독립 동작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통신사 선택 · 번호 검증 · 직접 입력 · 제휴사 결제 위임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스타일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 칩 공통 클래스 분리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GNB "인터넷" 추가, Footer "서비스"로 이동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앵커 연결 + 미구현 페이지 "준비 중" 안내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379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콘텐츠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 차트 7개사 전체 표시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콘텐츠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"실시간" 문구 제거, 섹션별 기준일 표기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접근성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ARIA 속성 · 키보드 드롭다운 · 포커스 링 · rel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기준일 고지 · 사업자 정보 영역 (값은 임시)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379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페이지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40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페이지 · 공통 규칙 · 개발 우선순위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680960" y="118872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09560" y="11887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  요금제 전체 비교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80960" y="1664208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09560" y="16642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  요금제 상세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680960" y="2139696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9560" y="21396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  이벤트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0" y="2615184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09560" y="26151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  인터넷 상담 신청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80960" y="3090672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09560" y="30906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  로그인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680960" y="356616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09560" y="35661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  마이페이지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0" y="4041648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09560" y="40416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  고객지원 (FAQ · 1:1 문의)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80960" y="4517136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09560" y="45171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S8  약관 · 개인정보처리방침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680960" y="4992624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09560" y="499262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S9  오류 페이지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하위 페이지와 개발 우선순위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전환(제휴사 가입 · 상담)과 법적 필수 페이지부터 만듭니다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83296" y="320040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84464" y="3364992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페이지가 완성되면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84464" y="3675888"/>
            <a:ext cx="316382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메인의 "준비 중" 링크를 실제 페이지로 교체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착수 전 결정 사항(06장) 확정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7373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901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전환 + 법적 필수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423160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85800" y="260604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261872" y="2496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전체 비교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27706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/plans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3172968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85800" y="3355848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261872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상세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5204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/plans/:planId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3922776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85800" y="4105656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261872" y="3995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상담 신청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61872" y="427024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/internet/consult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4672584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85800" y="4855464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S8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261872" y="47457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약관 · 개인정보처리방침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261872" y="502005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/terms · /privacy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5422392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85800" y="5605272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S9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261872" y="54955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페이지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261872" y="576986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· 500 · 점검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4315968" y="17373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</a:t>
            </a:r>
            <a:endParaRPr lang="en-US" sz="3000" dirty="0"/>
          </a:p>
        </p:txBody>
      </p:sp>
      <p:sp>
        <p:nvSpPr>
          <p:cNvPr id="32" name="Text 30"/>
          <p:cNvSpPr txBox="1"/>
          <p:nvPr/>
        </p:nvSpPr>
        <p:spPr>
          <a:xfrm>
            <a:off x="5276088" y="1901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 · 고객 응대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315968" y="2423160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4453128" y="260604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029200" y="2496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0" y="27706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/login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15968" y="3172968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4453128" y="3355848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5029200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마이페이지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0" y="35204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/mypage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192518" y="3246120"/>
            <a:ext cx="579882" cy="219456"/>
          </a:xfrm>
          <a:prstGeom prst="roundRect">
            <a:avLst>
              <a:gd name="adj" fmla="val 50000"/>
            </a:avLst>
          </a:prstGeom>
          <a:solidFill>
            <a:srgbClr val="FFF1EE"/>
          </a:solidFill>
          <a:ln w="9525"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315968" y="3922776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4453128" y="4105656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5029200" y="3995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 · 1:1 문의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029200" y="427024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/support/faq · /inquiry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803898" y="3995928"/>
            <a:ext cx="968502" cy="219456"/>
          </a:xfrm>
          <a:prstGeom prst="roundRect">
            <a:avLst>
              <a:gd name="adj" fmla="val 50000"/>
            </a:avLst>
          </a:prstGeom>
          <a:solidFill>
            <a:srgbClr val="FFF1EE"/>
          </a:solidFill>
          <a:ln w="9525"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문의만 로그인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8083296" y="17373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</a:t>
            </a:r>
            <a:endParaRPr lang="en-US" sz="3000" dirty="0"/>
          </a:p>
        </p:txBody>
      </p:sp>
      <p:sp>
        <p:nvSpPr>
          <p:cNvPr id="48" name="Text 46"/>
          <p:cNvSpPr txBox="1"/>
          <p:nvPr/>
        </p:nvSpPr>
        <p:spPr>
          <a:xfrm>
            <a:off x="9043416" y="1901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운영 체계 확보 후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083296" y="2423160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50" name="Text 48"/>
          <p:cNvSpPr txBox="1"/>
          <p:nvPr/>
        </p:nvSpPr>
        <p:spPr>
          <a:xfrm>
            <a:off x="8220456" y="260604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8A8F9C"/>
          </a:solidFill>
          <a:ln w="9525">
            <a:solidFill>
              <a:srgbClr val="8A8F9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8796528" y="2496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목록 · 상세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8796528" y="27706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/events · /events/:id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공통 규칙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하위 페이지에 적용하는 규칙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메인과 같은 GNB · Footer · 디자인 토큰을 쓰고, 화면 상태와 폼 규칙을 통일합니다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440680" cy="2103120"/>
          </a:xfrm>
          <a:prstGeom prst="roundRect">
            <a:avLst>
              <a:gd name="adj" fmla="val 6957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84248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98448" y="201168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 머리 · 레이아웃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146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breadcrumb(12px) · 제목 30/800 · 설명 15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메인과 같은 GNB(sticky) · Footer, 본문 최대폭 1180px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제목 24px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5440680" cy="2103120"/>
          </a:xfrm>
          <a:prstGeom prst="roundRect">
            <a:avLst>
              <a:gd name="adj" fmla="val 6957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1984248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922008" y="201168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5146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로딩: 카드 모양 스켈레톤, 버튼 비활성 + 스피너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화면: 안내 문구 + 다음 행동 버튼 (예: 필터 초기화)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오류: 코랄 경고 박스 + 다시 시도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필요: /login?next= 로 이동 후 원래 위치로 복귀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114800"/>
            <a:ext cx="5440680" cy="2103120"/>
          </a:xfrm>
          <a:prstGeom prst="roundRect">
            <a:avLst>
              <a:gd name="adj" fmla="val 6957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315968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298448" y="434340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 규칙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463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시 코랄 테두리 + 필드 아래 문구 + aria-invalid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 시 첫 번째 오류 필드로 포커스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폼은 필수 동의 체크 + "자세히" 펼침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 자동 하이픈 · 개인정보는 URL에 넣지 않음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72200" y="4114800"/>
            <a:ext cx="5440680" cy="2103120"/>
          </a:xfrm>
          <a:prstGeom prst="roundRect">
            <a:avLst>
              <a:gd name="adj" fmla="val 6957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315968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922008" y="434340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"준비 중" 링크 연결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4846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9006840" y="4846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마이페이지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446520" y="51755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006840" y="51755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신청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 모달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46520" y="5504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 · 1:1 문의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9006840" y="5504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약관 · 방침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S8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58338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비교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S1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전체 비교   /plans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 완료된 후불 요금제만 · 필터 · 정렬 · 최대 3개 비교 (선불 제외)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740664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38528"/>
            <a:ext cx="1965960" cy="3657600"/>
          </a:xfrm>
          <a:prstGeom prst="roundRect">
            <a:avLst>
              <a:gd name="adj" fmla="val 4651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0574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필터</a:t>
            </a:r>
            <a:pPr indent="0" marL="0">
              <a:buNone/>
            </a:pPr>
            <a:r>
              <a:rPr lang="en-US" sz="900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  초기화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231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통신망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62432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 SKT  ☐ KT  ☐ LGU+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9352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13639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~5GB  ● 5~15GB  ○ 무제한…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44728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세대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648456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LTE  ☑ 5G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95935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요금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16052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0원 ━━━━●━━ 30,000원+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447141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672584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마블링  ☐ 토리모바일 …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98348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혜택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518464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유심비 무료  ☐ 첫달 무료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2880360" y="19933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</a:t>
            </a:r>
            <a:pPr indent="0" marL="0">
              <a:buNone/>
            </a:pPr>
            <a:r>
              <a:rPr lang="en-US" sz="11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pPr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349240" y="1965960"/>
            <a:ext cx="10332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가격순 ▾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748272" y="196596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| 표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880360" y="2377440"/>
            <a:ext cx="598932" cy="237744"/>
          </a:xfrm>
          <a:prstGeom prst="roundRect">
            <a:avLst>
              <a:gd name="adj" fmla="val 50000"/>
            </a:avLst>
          </a:prstGeom>
          <a:solidFill>
            <a:srgbClr val="FFF1EE"/>
          </a:solidFill>
          <a:ln w="9525"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 ✕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3566160" y="2377440"/>
            <a:ext cx="530352" cy="237744"/>
          </a:xfrm>
          <a:prstGeom prst="roundRect">
            <a:avLst>
              <a:gd name="adj" fmla="val 50000"/>
            </a:avLst>
          </a:prstGeom>
          <a:solidFill>
            <a:srgbClr val="FFF1EE"/>
          </a:solidFill>
          <a:ln w="9525"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5G ✕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880360" y="2788920"/>
            <a:ext cx="1554480" cy="182880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2990088" y="2898648"/>
            <a:ext cx="579882" cy="219456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4114800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♡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32004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11GB + 매일 2GB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2990088" y="343814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16,500원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37490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 · 5G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2990088" y="4114800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44568" y="2788920"/>
            <a:ext cx="1554480" cy="182880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4654296" y="2898648"/>
            <a:ext cx="795782" cy="219456"/>
          </a:xfrm>
          <a:prstGeom prst="roundRect">
            <a:avLst>
              <a:gd name="adj" fmla="val 50000"/>
            </a:avLst>
          </a:prstGeom>
          <a:solidFill>
            <a:srgbClr val="FDECC8"/>
          </a:solidFill>
          <a:ln w="9525">
            <a:solidFill>
              <a:srgbClr val="FDEC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26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시월모바일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779008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♡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654296" y="32004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50GB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4654296" y="343814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17,900원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4654296" y="37490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 · 5G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4654296" y="4114800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08776" y="2788920"/>
            <a:ext cx="1554480" cy="182880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6318504" y="2898648"/>
            <a:ext cx="579882" cy="219456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7443216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♡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318504" y="32004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무제한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6318504" y="343814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26,400원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6318504" y="37490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 · 5G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6318504" y="4114800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13232" y="5715000"/>
            <a:ext cx="7086600" cy="438912"/>
          </a:xfrm>
          <a:prstGeom prst="roundRect">
            <a:avLst>
              <a:gd name="adj" fmla="val 20833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96112" y="5715000"/>
            <a:ext cx="5120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비교함 2/3   [마블링 11GB+ ✕]   [시월모바일 50GB ✕]   [ + ]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6583680" y="5788152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비교하기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8275320" y="17830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필터 6종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8275320" y="2084832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통신망 · 데이터 · 세대 · 월 요금 · 브랜드 · 혜택. 필터 상태는 URL 쿼리에 저장(공유·뒤로가기 유지)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8275320" y="289864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메인에서 이어받기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8275320" y="3200400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 → 망·데이터, 제휴사 탭 → 브랜드가 자동 적용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8275320" y="401421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 · 보기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275320" y="4315968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가격순 · 데이터순 · GB당 요금순 · 인기순, 카드/표 보기, 24개씩 더보기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8275320" y="512978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비교함</a:t>
            </a:r>
            <a:endParaRPr lang="en-US" sz="1250" dirty="0"/>
          </a:p>
        </p:txBody>
      </p:sp>
      <p:sp>
        <p:nvSpPr>
          <p:cNvPr id="57" name="Text 55"/>
          <p:cNvSpPr txBox="1"/>
          <p:nvPr/>
        </p:nvSpPr>
        <p:spPr>
          <a:xfrm>
            <a:off x="8275320" y="5431536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3개, 비로그인도 사용. 후불끼리만 비교, 항목별 최저 요금 · 최대 데이터에 ★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S2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상세   /plans/:planId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확정: 자체 상세 → 개통하기 → /go/{planId} → 제휴사 개통 URL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740664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598932" cy="237744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536192" y="1965960"/>
            <a:ext cx="817372" cy="237744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 w="9525">
            <a:solidFill>
              <a:srgbClr val="FFB0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A2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1위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2860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넉넉 11GB+ 요금제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6700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11GB + 매일 2GB · SKT망 · 5G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" y="3017520"/>
            <a:ext cx="1097280" cy="658368"/>
          </a:xfrm>
          <a:prstGeom prst="roundRect">
            <a:avLst>
              <a:gd name="adj" fmla="val 11111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07238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2918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11GB+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965960" y="3017520"/>
            <a:ext cx="1097280" cy="658368"/>
          </a:xfrm>
          <a:prstGeom prst="roundRect">
            <a:avLst>
              <a:gd name="adj" fmla="val 11111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65960" y="307238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통화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965960" y="32918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제공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154680" y="3017520"/>
            <a:ext cx="1097280" cy="658368"/>
          </a:xfrm>
          <a:prstGeom prst="roundRect">
            <a:avLst>
              <a:gd name="adj" fmla="val 11111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154680" y="307238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문자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32918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제공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3400" y="3017520"/>
            <a:ext cx="1097280" cy="658368"/>
          </a:xfrm>
          <a:prstGeom prst="roundRect">
            <a:avLst>
              <a:gd name="adj" fmla="val 11111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43400" y="307238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소진 시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4343400" y="32918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1Mbps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3822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 상세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4059936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기본료 16,500원 · 약정 없음 · 유심비 0원 · 개통 수수료 0원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437083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혜택 · 유의사항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608576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신규·번호이동 가입 시 유심비 무료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매일 2GB 소진 후 1Mbps로 계속 사용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51206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요금제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" y="5394960"/>
            <a:ext cx="1481328" cy="640080"/>
          </a:xfrm>
          <a:prstGeom prst="roundRect">
            <a:avLst>
              <a:gd name="adj" fmla="val 11429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77440" y="5394960"/>
            <a:ext cx="1481328" cy="640080"/>
          </a:xfrm>
          <a:prstGeom prst="roundRect">
            <a:avLst>
              <a:gd name="adj" fmla="val 11429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77640" y="5394960"/>
            <a:ext cx="1481328" cy="640080"/>
          </a:xfrm>
          <a:prstGeom prst="roundRect">
            <a:avLst>
              <a:gd name="adj" fmla="val 11429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60720" y="1965960"/>
            <a:ext cx="2011680" cy="27432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5897880" y="2103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</a:t>
            </a:r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16,500</a:t>
            </a:r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897880" y="254203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평균 대비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27,400원 절약 (62%)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897880" y="315468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개통하기 ↗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36118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♡ 관심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6793992" y="361188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897880" y="4041648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 사이트로 이동해요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5760720" y="48006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우측 고정 (모바일: 하단 고정 바)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8275320" y="17830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할인 요금제 표기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8275320" y="2084832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할인 후 요금을 반드시 함께 표기 — 예: 6개월간 12,900원 → 이후 18,700원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8275320" y="289864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종료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8275320" y="3200400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수집에서 사라지면 다음 날 자동 종료 · 회색 배너, 개통하기 비활성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8275320" y="401421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요금제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8275320" y="4315968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후불만: 같은 망, 데이터 ±50%, 최대 3개 · 선불형 상세는 절약 · 비슷한 요금제 없음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8275320" y="512978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필요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8275320" y="5431536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 유입 추적 파라미터(utm 등)와 제휴 수수료 정산 기준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S3 · S9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이벤트와 오류 페이지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이벤트는 목록 · 상세 2단계, 오류 페이지는 다음 행동 버튼을 함께 제공합니다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55648"/>
            <a:ext cx="713232" cy="292608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중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755648"/>
            <a:ext cx="510032" cy="292608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종료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1755648"/>
            <a:ext cx="107645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브랜드 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2240280"/>
            <a:ext cx="2377440" cy="27432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240280"/>
            <a:ext cx="2377440" cy="1280160"/>
          </a:xfrm>
          <a:prstGeom prst="roundRect">
            <a:avLst>
              <a:gd name="adj" fmla="val 8571"/>
            </a:avLst>
          </a:prstGeom>
          <a:solidFill>
            <a:srgbClr val="FDECC8"/>
          </a:solidFill>
          <a:ln w="9525">
            <a:solidFill>
              <a:srgbClr val="FDEC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24028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썸네일 16:9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657600"/>
            <a:ext cx="795782" cy="228600"/>
          </a:xfrm>
          <a:prstGeom prst="roundRect">
            <a:avLst>
              <a:gd name="adj" fmla="val 50000"/>
            </a:avLst>
          </a:prstGeom>
          <a:solidFill>
            <a:srgbClr val="FDECC8"/>
          </a:solidFill>
          <a:ln w="9525">
            <a:solidFill>
              <a:srgbClr val="FDEC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26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시월모바일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1573022" y="3657600"/>
            <a:ext cx="515112" cy="22860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D-12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977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첫달 요금 0원 이벤트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452628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10.01 ~ 10.31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063240" y="2240280"/>
            <a:ext cx="2377440" cy="27432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063240" y="2240280"/>
            <a:ext cx="2377440" cy="1280160"/>
          </a:xfrm>
          <a:prstGeom prst="roundRect">
            <a:avLst>
              <a:gd name="adj" fmla="val 8571"/>
            </a:avLst>
          </a:prstGeom>
          <a:solidFill>
            <a:srgbClr val="FFE4DF"/>
          </a:solidFill>
          <a:ln w="9525">
            <a:solidFill>
              <a:srgbClr val="FFE4D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63240" y="224028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썸네일 16:9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3657600"/>
            <a:ext cx="579882" cy="228600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3871722" y="3657600"/>
            <a:ext cx="450342" cy="22860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D-3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3977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인증하고 커피 받기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200400" y="452628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09.20 ~ 10.04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577840" y="2240280"/>
            <a:ext cx="2377440" cy="27432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577840" y="2240280"/>
            <a:ext cx="2377440" cy="1280160"/>
          </a:xfrm>
          <a:prstGeom prst="roundRect">
            <a:avLst>
              <a:gd name="adj" fmla="val 8571"/>
            </a:avLst>
          </a:prstGeom>
          <a:solidFill>
            <a:srgbClr val="E6F0FF"/>
          </a:solidFill>
          <a:ln w="9525">
            <a:solidFill>
              <a:srgbClr val="E6F0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577840" y="224028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썸네일 16:9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715000" y="3657600"/>
            <a:ext cx="795782" cy="228600"/>
          </a:xfrm>
          <a:prstGeom prst="roundRect">
            <a:avLst>
              <a:gd name="adj" fmla="val 50000"/>
            </a:avLst>
          </a:prstGeom>
          <a:solidFill>
            <a:srgbClr val="E6F0FF"/>
          </a:solidFill>
          <a:ln w="9525">
            <a:solidFill>
              <a:srgbClr val="E6F0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58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토리모바일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6602222" y="3657600"/>
            <a:ext cx="471932" cy="228600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상시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5715000" y="3977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번호이동 혜택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715000" y="452628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상시 진행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166360"/>
            <a:ext cx="7406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정렬: 진행 중은 마감 임박순, 종료는 종료일 최신순 · 종료 카드는 흑백 + "종료"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상세: 참여 방법 · 유의사항 · 대상 요금제 카드 · 링크 복사 · 이미지 대체 텍스트 필수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필요: im010 자체 참여형 이벤트(경품) 운영 여부 — 초기엔 제휴사 이벤트 모음만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275320" y="1783080"/>
            <a:ext cx="3337560" cy="2514600"/>
          </a:xfrm>
          <a:prstGeom prst="roundRect">
            <a:avLst>
              <a:gd name="adj" fmla="val 5818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75320" y="192024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</a:t>
            </a:r>
            <a:endParaRPr lang="en-US" sz="48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274320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찾으시는 페이지가 없어요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8275320" y="3044952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주소가 바뀌었거나 삭제된 페이지일 수 있어요.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8641080" y="347472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메인으로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9921240" y="3474720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비교하기</a:t>
            </a:r>
            <a:endParaRPr lang="en-US" sz="9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75320" y="4526280"/>
          <a:ext cx="3337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00200"/>
                <a:gridCol w="11887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404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찾으시는 페이지가 없어요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· 요금제 비교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잠시 문제가 생겼어요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새로고침 · 메인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점검 중이에요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고객센터 안내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S4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상담 신청   /internet/consult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카드에서는 모달(상품 자동 선택), 모바일 · 직접 접속은 전체 페이지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4206240" cy="4480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9202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상담 신청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1920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21284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상담사가 영업일 기준 1일 안에 연락드려요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420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상품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777240" y="2743200"/>
            <a:ext cx="37490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86968" y="274320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 기가인터넷 1G · 27,500원/월        변경 ▾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09067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77240" y="3291840"/>
            <a:ext cx="37490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86968" y="32918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63931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연락처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77240" y="3840480"/>
            <a:ext cx="37490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86968" y="38404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010-0000-0000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1879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지역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77240" y="4389120"/>
            <a:ext cx="37490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86968" y="43891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시/도 ▾            시/군/구 ▾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7365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희망 시간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956048"/>
            <a:ext cx="579882" cy="237744"/>
          </a:xfrm>
          <a:prstGeom prst="roundRect">
            <a:avLst>
              <a:gd name="adj" fmla="val 50000"/>
            </a:avLst>
          </a:prstGeom>
          <a:solidFill>
            <a:srgbClr val="FFF1EE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언제나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430274" y="4956048"/>
            <a:ext cx="471932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1975358" y="4956048"/>
            <a:ext cx="471932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2520442" y="4956048"/>
            <a:ext cx="471932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53035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(필수) 개인정보 수집·이용   ☐ (필수) 제3자 제공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(선택) 마케팅 정보 수신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5760720"/>
            <a:ext cx="3749040" cy="329184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신청하기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440680" y="1810512"/>
            <a:ext cx="457200" cy="45720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943600" y="2039112"/>
            <a:ext cx="548640" cy="0"/>
          </a:xfrm>
          <a:prstGeom prst="line">
            <a:avLst/>
          </a:prstGeom>
          <a:noFill/>
          <a:ln w="19050">
            <a:solidFill>
              <a:srgbClr val="E9E7E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166360" y="235915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6519672" y="1810512"/>
            <a:ext cx="457200" cy="45720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022592" y="2039112"/>
            <a:ext cx="548640" cy="0"/>
          </a:xfrm>
          <a:prstGeom prst="line">
            <a:avLst/>
          </a:prstGeom>
          <a:noFill/>
          <a:ln w="19050">
            <a:solidFill>
              <a:srgbClr val="E9E7E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45352" y="235915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완료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7598664" y="1810512"/>
            <a:ext cx="457200" cy="457200"/>
          </a:xfrm>
          <a:prstGeom prst="ellipse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101584" y="2039112"/>
            <a:ext cx="548640" cy="0"/>
          </a:xfrm>
          <a:prstGeom prst="line">
            <a:avLst/>
          </a:prstGeom>
          <a:noFill/>
          <a:ln w="19050">
            <a:solidFill>
              <a:srgbClr val="E9E7E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24344" y="235915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상담사 배정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8677656" y="1810512"/>
            <a:ext cx="457200" cy="457200"/>
          </a:xfrm>
          <a:prstGeom prst="ellipse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180576" y="2039112"/>
            <a:ext cx="548640" cy="0"/>
          </a:xfrm>
          <a:prstGeom prst="line">
            <a:avLst/>
          </a:prstGeom>
          <a:noFill/>
          <a:ln w="19050">
            <a:solidFill>
              <a:srgbClr val="E9E7E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403336" y="235915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 상담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9756648" y="1810512"/>
            <a:ext cx="457200" cy="457200"/>
          </a:xfrm>
          <a:prstGeom prst="ellipse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0259568" y="2039112"/>
            <a:ext cx="548640" cy="0"/>
          </a:xfrm>
          <a:prstGeom prst="line">
            <a:avLst/>
          </a:prstGeom>
          <a:noFill/>
          <a:ln w="19050">
            <a:solidFill>
              <a:srgbClr val="E9E7E3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482328" y="235915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개통 · 설치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0835640" y="1810512"/>
            <a:ext cx="457200" cy="457200"/>
          </a:xfrm>
          <a:prstGeom prst="ellipse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561320" y="235915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사은품 지급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5166360" y="269748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1~2단계: im010 화면 · 접수 알림 문자 발송 · 로그인 시 마이페이지에 기록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166360" y="3154680"/>
            <a:ext cx="315468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367528" y="3319272"/>
            <a:ext cx="2752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· 처리 규칙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5367528" y="3630168"/>
            <a:ext cx="2752344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상품 · 이름 · 연락처 · 설치 지역 · 희망 시간 필수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주소는 받지 않음 (상담 시 확인)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연락처 · 상품 24시간 내 재신청 방지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화면: 접수번호 · 예상 연락 시간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비로그인 신청 허용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8458200" y="3154680"/>
            <a:ext cx="3154680" cy="3108960"/>
          </a:xfrm>
          <a:prstGeom prst="roundRect">
            <a:avLst>
              <a:gd name="adj" fmla="val 352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659368" y="3319272"/>
            <a:ext cx="2752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필요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8659368" y="3630168"/>
            <a:ext cx="2752344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주체: im010 직접 vs 대행사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제3자 제공 대상 (대행사 · 통신사) 명시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보유 기간 (법무 검토)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사은품 지급 조건 · 시점 고지 문구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S5 · S6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간편 로그인과 마이페이지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 · 비밀번호 가입 없이 간편 로그인만 제공 — 비밀번호 관리 부담과 유출 위험을 줄입니다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931920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</a:t>
            </a:r>
            <a:pPr algn="ctr" indent="0" marL="0">
              <a:buNone/>
            </a:pPr>
            <a:r>
              <a:rPr lang="en-US" sz="22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010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로그인하고 관심 요금제와 신청 내역을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곳에서 확인하세요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971800"/>
            <a:ext cx="3291840" cy="384048"/>
          </a:xfrm>
          <a:prstGeom prst="roundRect">
            <a:avLst>
              <a:gd name="adj" fmla="val 19048"/>
            </a:avLst>
          </a:prstGeom>
          <a:solidFill>
            <a:srgbClr val="FEE500"/>
          </a:solidFill>
          <a:ln>
            <a:solidFill>
              <a:srgbClr val="FEE5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카카오로 시작하기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447288"/>
            <a:ext cx="3291840" cy="384048"/>
          </a:xfrm>
          <a:prstGeom prst="roundRect">
            <a:avLst>
              <a:gd name="adj" fmla="val 19048"/>
            </a:avLst>
          </a:prstGeom>
          <a:solidFill>
            <a:srgbClr val="03C75A"/>
          </a:solidFill>
          <a:ln>
            <a:solidFill>
              <a:srgbClr val="03C75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네이버로 시작하기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922776"/>
            <a:ext cx="329184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Apple로 시작하기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80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처음이면 자동으로 가입돼요 · 이용약관 및 개인정보처리방침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25780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최초 로그인: 제공 정보 수신 → 추가 동의(필수 약관 · 선택 마케팅) → 가입 완료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필요: 관심 요금제 · 마이페이지 · 1:1 문의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불필요: 비교 · 상세 · 선불 충전 요청 · 상담 신청 · FAQ</a:t>
            </a:r>
            <a:endParaRPr lang="en-US" sz="9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783080"/>
          <a:ext cx="67665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516636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마이페이지 메뉴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관심 요금제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S1 · S2에서 ♡ 한 요금제 · 저장 이후 가격 변동(▼인하 / ▲인상) · 판매 종료 표시 · 골라서 비교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선불 충전 요청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상태에서 보낸 요청: 일시 · 통신사 · 번호(010-****-5678) · 금액 · 다시 충전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상담 신청 내역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· 상품 · 상태(접수 → 상담 중 → 완료 / 취소) · 접수 상태일 때 신청 취소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1:1 문의 내역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제목 · 작성일 · 상태(답변 대기 / 답변 완료) · 질문과 답변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설정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연결된 간편 로그인 · 이메일 · 마케팅 수신 동의 변경 · 회원 탈퇴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4846320" y="5166360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47488" y="5330952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"충전 내역"이 아닌 "충전 요청"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047488" y="5641848"/>
            <a:ext cx="2889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결제는 제휴사에서 하므로 im010은 요청 기록만 보여주고 결과는 제휴사에서 확인하도록 안내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321040" y="5166360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522208" y="5330952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탈퇴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522208" y="5641848"/>
            <a:ext cx="2889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 범위 안내 → 확인 체크 → 확인 모달 2단계. 진행 중 상담은 탈퇴 후에도 연락 가능 고지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S7 · S8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고객지원과 약관 · 개인정보처리방침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FAQ로 먼저 해결하고, 못 찾으면 1:1 문의로 이어지게 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486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8308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🔍  궁금한 내용을 검색해보세요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04288"/>
            <a:ext cx="484632" cy="256032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6424" y="230428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비교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075688" y="2304288"/>
            <a:ext cx="781812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가입·개통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930652" y="2304288"/>
            <a:ext cx="781812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충전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785616" y="2304288"/>
            <a:ext cx="598932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457700" y="2304288"/>
            <a:ext cx="484632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2724912"/>
            <a:ext cx="54864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276148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im010에서 바로 가입할 수 있나요?                                          ▾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090672"/>
            <a:ext cx="5120640" cy="594360"/>
          </a:xfrm>
          <a:prstGeom prst="roundRect">
            <a:avLst>
              <a:gd name="adj" fmla="val 9231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3127248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im010은 비교 플랫폼이에요. 가입·개통은 각 제휴사 페이지에서 진행되며, 요금제 상세의 "개통하기"로 바로 이동할 수 있어요.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" y="3840480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8404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요금 정보는 얼마나 자주 업데이트되나요?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4224528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422452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알뜰폰으로 바꾸면 번호가 바뀌나요?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48640" y="4608576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60857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인터넷 사은품은 언제 받나요?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507492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9808" y="5239512"/>
            <a:ext cx="5084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문의  (로그인 필요)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49808" y="5550408"/>
            <a:ext cx="50840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 · 제목(2~50자) · 내용(10~2,000자) · 이미지 첨부 최대 3개. 민감 정보 입력 금지 안내, 답변 전까지만 수정·삭제 가능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17830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개인정보처리방침에 반영할 수집 항목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194560"/>
          <a:ext cx="52578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14600"/>
                <a:gridCol w="15087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 항목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간편 로그인 식별값, 이름/닉네임, 이메일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 관리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인터넷 상담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이름, 연락처, 설치 지역, 희망 시간, 이용 중인 인터넷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상담 진행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선불 충전 요청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통신사, 전화번호, 금액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연결 · 기록(로그인 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1:1 문의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문의 내용, 첨부 이미지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문의 응대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수집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접속 기록, 쿠키, 이용 기록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개선 · 통계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6355080" y="5349240"/>
            <a:ext cx="5257800" cy="914400"/>
          </a:xfrm>
          <a:prstGeom prst="roundRect">
            <a:avLst>
              <a:gd name="adj" fmla="val 1200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556248" y="5513832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약관 · 방침 페이지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556248" y="5824728"/>
            <a:ext cx="48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시행일 · 이전 버전 보기 · 목차 앵커. 본문은 법무 검토 필요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백오피스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40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수집 · 검토 · 등록 · 노출 승인과 관리 화면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680960" y="118872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09560" y="11887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처리 흐름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80960" y="1664208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09560" y="16642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· 선불 구분과 비교 규칙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680960" y="2139696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9560" y="21396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 관리 (수집 URL)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0" y="2615184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09560" y="26151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· 등록 · 노출 승인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80960" y="3090672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09560" y="30906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종료 · 보호 조건 · 알림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680960" y="356616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09560" y="35661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노출 · 개통하기 포워딩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0" y="4041648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09560" y="40416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· 메뉴 · 개발 순서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백오피스 · 요금제 처리 흐름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수집하고, 사람이 확인한 것만 게시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· 변경은 검토 → 등록 → 노출 승인을 거쳐야 프런트에 나갑니다. 예외는 판매 종료뿐입니다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514600" cy="1325880"/>
          </a:xfrm>
          <a:prstGeom prst="roundRect">
            <a:avLst>
              <a:gd name="adj" fmla="val 9655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947672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96596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수집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4505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04:00 · 등록된 URL만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/ 선불 / 이달의 요금제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063240" y="214884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3383280" y="1783080"/>
            <a:ext cx="2514600" cy="1325880"/>
          </a:xfrm>
          <a:prstGeom prst="roundRect">
            <a:avLst>
              <a:gd name="adj" fmla="val 9655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6160" y="1947672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069080" y="196596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(B5)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584448" y="24505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바뀐 것만 목록에 올라옴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· 수정 · 반려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14884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6217920" y="1783080"/>
            <a:ext cx="2514600" cy="1325880"/>
          </a:xfrm>
          <a:prstGeom prst="roundRect">
            <a:avLst>
              <a:gd name="adj" fmla="val 9655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1947672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196596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등록 (B6)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19088" y="24505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 항목 · 개통 URL 입력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승인 대기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732520" y="214884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9052560" y="1783080"/>
            <a:ext cx="2514600" cy="1325880"/>
          </a:xfrm>
          <a:prstGeom prst="roundRect">
            <a:avLst>
              <a:gd name="adj" fmla="val 9655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35440" y="1947672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738360" y="196596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 승인 (B7)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253728" y="24505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 확인 · 미리보기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즉시 / 예약 게시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3101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후 변경 감지 결과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3639312"/>
            <a:ext cx="2514600" cy="914400"/>
          </a:xfrm>
          <a:prstGeom prst="roundRect">
            <a:avLst>
              <a:gd name="adj" fmla="val 1200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9808" y="37490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40873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기록만 남김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3639312"/>
            <a:ext cx="2514600" cy="914400"/>
          </a:xfrm>
          <a:prstGeom prst="roundRect">
            <a:avLst>
              <a:gd name="adj" fmla="val 12000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84448" y="37490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· 변경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3584448" y="40873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대기로 → ②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17920" y="3639312"/>
            <a:ext cx="2514600" cy="914400"/>
          </a:xfrm>
          <a:prstGeom prst="roundRect">
            <a:avLst>
              <a:gd name="adj" fmla="val 12000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9088" y="37490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사라짐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19088" y="40873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판매 종료 + 알림 (승인 없음)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052560" y="3639312"/>
            <a:ext cx="2514600" cy="914400"/>
          </a:xfrm>
          <a:prstGeom prst="roundRect">
            <a:avLst>
              <a:gd name="adj" fmla="val 12000"/>
            </a:avLst>
          </a:prstGeom>
          <a:solidFill>
            <a:srgbClr val="FFF3D6"/>
          </a:solidFill>
          <a:ln w="9525">
            <a:solidFill>
              <a:srgbClr val="FFF3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253728" y="37490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이상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253728" y="40873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아무것도 반영 안 함 + 알림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48640" y="4846320"/>
            <a:ext cx="11064240" cy="1371600"/>
          </a:xfrm>
          <a:prstGeom prst="roundRect">
            <a:avLst>
              <a:gd name="adj" fmla="val 10667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" y="4983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프런트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777240" y="534924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· S1 목록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2560320" y="5394960"/>
            <a:ext cx="393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42" name="Text 40"/>
          <p:cNvSpPr txBox="1"/>
          <p:nvPr/>
        </p:nvSpPr>
        <p:spPr>
          <a:xfrm>
            <a:off x="2953512" y="534924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 요금제 상세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4736592" y="5394960"/>
            <a:ext cx="393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44" name="Text 42"/>
          <p:cNvSpPr txBox="1"/>
          <p:nvPr/>
        </p:nvSpPr>
        <p:spPr>
          <a:xfrm>
            <a:off x="5129784" y="534924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개통하기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6912864" y="5394960"/>
            <a:ext cx="393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7306056" y="534924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/go/{planId}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 기록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9089136" y="5394960"/>
            <a:ext cx="393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48" name="Text 46"/>
          <p:cNvSpPr txBox="1"/>
          <p:nvPr/>
        </p:nvSpPr>
        <p:spPr>
          <a:xfrm>
            <a:off x="9482328" y="534924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 URL (새 창)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백오피스 · 후불 · 선불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구분은 수집 URL로, 비교는 후불끼리만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요금제와 후불 요금제는 서로 비교하지 않습니다 (확정)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 기준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40280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URL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224028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수집된 요금제는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2240280"/>
            <a:ext cx="160020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587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862072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 w="9525">
            <a:solidFill>
              <a:srgbClr val="FFB0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2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URL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057400" y="2862072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수집된 요금제는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2862072"/>
            <a:ext cx="160020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5875">
            <a:solidFill>
              <a:srgbClr val="E0A21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요금제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 같은 URL을 후불 · 선불에 동시에 등록할 수 없음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2336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 내용으로 추측하지 않음 — 등록된 URL 유형이 곧 요금제 유형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URL만 있으면 그 유형만 수집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등록된 요금제의 유형은 바꿀 수 없음 → URL 유형을 고친 뒤 다시 수집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 항목은 연결된 요금제의 유형을 따름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1783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대상 규칙</a:t>
            </a:r>
            <a:endParaRPr lang="en-US" sz="14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2194560"/>
          <a:ext cx="58521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  <a:gridCol w="15544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비교 기능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후불 (게시 중)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 계산기 · 3사 평균 절약률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A5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 지표 "최대 절감률"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A5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제휴사별 요금제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A5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 (선불 섹션에만)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S1 전체 비교 · 비교함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A5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S2 비슷한 요금제 · 절약 표시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A5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요금제분석 통계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A5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관심 요금제 골라서 비교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A5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760720" y="5349240"/>
            <a:ext cx="5852160" cy="868680"/>
          </a:xfrm>
          <a:prstGeom prst="roundRect">
            <a:avLst>
              <a:gd name="adj" fmla="val 12632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61888" y="534924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대상 =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URL로 수집 → 검토 → 등록 → 노출 승인을 마친 "게시 중" 후불 요금제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대기 · 예약 · 판매 종료 · 비노출은 제외 · 선불끼리 비교하는 기능도 두지 않음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백오피스 · 제휴사 관리 (B3)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수집할 위치를 제휴사별로 지정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/ 선불 / 이달의 요금제 URL을 각각 등록 · 수정 · 삭제 — URL이 없는 유형은 수집하지 않습니다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27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70408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43000"/>
                <a:gridCol w="1143000"/>
                <a:gridCol w="1143000"/>
                <a:gridCol w="731520"/>
                <a:gridCol w="1508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제휴사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후불 URL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선불 URL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이달의 URL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최근 수집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마블링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 미등록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10.02 04:03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토리모바일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 미등록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 미등록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10.02 04:05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위너스텔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10.02 04:06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슈가모바일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 미등록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790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 실패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 미등록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10.02 04:09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조이M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 미등록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10.02 04:11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시월모바일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 미등록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 미등록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10.02 04:12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0292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· 수정 — 위너스텔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5349240"/>
            <a:ext cx="7040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53492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53492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https://www.idowell.co.kr/rate_plan.do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5257800" y="5413248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16752" y="5413248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6775704" y="5413248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48640" y="5806440"/>
            <a:ext cx="70408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58064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5806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https://www.idowell.co.kr/rate_plan.do?type=T002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257800" y="5870448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016752" y="5870448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6775704" y="5870448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17830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 미등록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207568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유형은 수집하지 않음 (목록 · 대시보드에 "–")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001000" y="267919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≠ 선불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0" y="29718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URL을 두 유형에 넣으면 저장 불가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357530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[테스트]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386791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수집해 추출 건수와 앞 5건 미리보기 (저장 안 함)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447141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 삭제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4764024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중지 · 게시 중 요금제는 비노출(기본) 또는 유지 — 판매 종료로 보지 않음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536752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수집 OFF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5660136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개편 기간 등 일시 중지, 게시 데이터 유지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백오피스 · 검토 → 등록 → 노출 승인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B5 · B6 · B7 화면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최고관리자 · 콘텐츠 운영자가 검토와 승인을 모두 할 수 있습니다 (같은 사람 가능, 처리 이력은 감사 로그에 기록)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66160" cy="4480560"/>
          </a:xfrm>
          <a:prstGeom prst="roundRect">
            <a:avLst>
              <a:gd name="adj" fmla="val 4103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938528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B5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389888" y="192024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</a:t>
            </a:r>
            <a:endParaRPr lang="en-US" sz="1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2377440"/>
          <a:ext cx="315468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143000"/>
                <a:gridCol w="11430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게시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수집값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넉넉 11GB+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넉넉 11GB+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요금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16,500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15,900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11GB+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11GB+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749808" y="3657600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· 변경만 검토 목록에 올라옴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요금제 판단: 제휴사 코드 → 없으면 제휴사 + 이름 + 망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미보관 → [제휴사 페이지 열기]로 대조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이상치(±30% · 0원)는 ⚠, 일괄 확인 제외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15968" y="1783080"/>
            <a:ext cx="3566160" cy="4480560"/>
          </a:xfrm>
          <a:prstGeom prst="roundRect">
            <a:avLst>
              <a:gd name="adj" fmla="val 4103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17136" y="1938528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B6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157216" y="192024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등록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517136" y="2395728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212080" y="2395728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517136" y="2788920"/>
            <a:ext cx="31546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08576" y="27889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항목  </a:t>
            </a:r>
            <a:pPr indent="0" marL="0">
              <a:buNone/>
            </a:pPr>
            <a:r>
              <a:rPr lang="en-US" sz="8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수정하면 "수동 수정" 표시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517136" y="3246120"/>
            <a:ext cx="31546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608576" y="32461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 항목  </a:t>
            </a:r>
            <a:pPr indent="0" marL="0">
              <a:buNone/>
            </a:pPr>
            <a:r>
              <a:rPr lang="en-US" sz="8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혜택 · 소진 시 속도 · 할인 후 요금(후불) · 사용 기간(선불)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517136" y="3703320"/>
            <a:ext cx="315468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608576" y="37033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개통 URL  </a:t>
            </a:r>
            <a:pPr indent="0" marL="0">
              <a:buNone/>
            </a:pPr>
            <a:r>
              <a:rPr lang="en-US" sz="8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 · 수집 상세 URL 자동 입력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4517136" y="429768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= "승인 대기" 저장, 게시 중 버전은 그대로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 항목이 비면 [등록] 비활성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이력: 값 · 검토자 · 승인자 · 게시 일시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083296" y="1783080"/>
            <a:ext cx="3566160" cy="4480560"/>
          </a:xfrm>
          <a:prstGeom prst="roundRect">
            <a:avLst>
              <a:gd name="adj" fmla="val 4103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84464" y="1938528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B7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924544" y="192024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 승인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8284464" y="2377440"/>
            <a:ext cx="3154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421624" y="2450592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시 영향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 11GB · SKT  16,500 → 15,900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절약률 62% → 64%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 1번 가격 변경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8284464" y="373075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즉시 게시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9454896" y="373075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게시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8284464" y="4206240"/>
            <a:ext cx="3200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미리보기로 프런트 확인 (외부 비공개)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게시하면 "○○ 기준" 날짜 = 수집일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반려는 사유 필수 → 검토로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롤백: 게시 후 7일 내 직전 버전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백오피스 · 판매 종료 · 알림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사라지면 다음 날 판매 종료, 단 수집 오류는 예외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· 파싱이 정상 완료된 URL에서만 판매 종료를 판단합니다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29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3566160" cy="566928"/>
          </a:xfrm>
          <a:prstGeom prst="roundRect">
            <a:avLst>
              <a:gd name="adj" fmla="val 16129"/>
            </a:avLst>
          </a:prstGeom>
          <a:solidFill>
            <a:srgbClr val="F4F5F7"/>
          </a:solidFill>
          <a:ln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결과에서 사라짐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31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651760"/>
            <a:ext cx="3566160" cy="566928"/>
          </a:xfrm>
          <a:prstGeom prst="roundRect">
            <a:avLst>
              <a:gd name="adj" fmla="val 16129"/>
            </a:avLst>
          </a:prstGeom>
          <a:solidFill>
            <a:srgbClr val="1F2430"/>
          </a:solidFill>
          <a:ln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판매 종료 (승인 없음)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2004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20440"/>
            <a:ext cx="3566160" cy="566928"/>
          </a:xfrm>
          <a:prstGeom prst="roundRect">
            <a:avLst>
              <a:gd name="adj" fmla="val 16129"/>
            </a:avLst>
          </a:prstGeom>
          <a:solidFill>
            <a:srgbClr val="F4F5F7"/>
          </a:solidFill>
          <a:ln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노출(이달의 · Hero)에서 자동 제외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0690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89120"/>
            <a:ext cx="3566160" cy="566928"/>
          </a:xfrm>
          <a:prstGeom prst="roundRect">
            <a:avLst>
              <a:gd name="adj" fmla="val 16129"/>
            </a:avLst>
          </a:prstGeom>
          <a:solidFill>
            <a:srgbClr val="F4F5F7"/>
          </a:solidFill>
          <a:ln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담당자에게 알림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349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 종료된 경우 B5에서 [판매 재개] → 승인 대기로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34840" y="1783080"/>
            <a:ext cx="3611880" cy="4480560"/>
          </a:xfrm>
          <a:prstGeom prst="roundRect">
            <a:avLst>
              <a:gd name="adj" fmla="val 4051"/>
            </a:avLst>
          </a:prstGeom>
          <a:solidFill>
            <a:srgbClr val="FFF3D6"/>
          </a:solidFill>
          <a:ln w="9525">
            <a:solidFill>
              <a:srgbClr val="FFF3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36008" y="193852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보호 조건 — "수집 이상"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36008" y="2423160"/>
            <a:ext cx="32004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54880" y="242316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 실패 · 시간 초과 · 오류 응답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36008" y="2971800"/>
            <a:ext cx="32004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754880" y="297180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추출된 요금제 0건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36008" y="3520440"/>
            <a:ext cx="32004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54880" y="352044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추출 건수가 전날보다 50% 넘게 감소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636008" y="4069080"/>
            <a:ext cx="32004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54880" y="406908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 항목 추출 실패 20% 초과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468172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판매 종료를 포함해 아무것도 반영하지 않고 알림만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636008" y="52578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대량 종료라면 B4에서 확인 후 [판매 종료 일괄 반영]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8366760" y="17830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</a:t>
            </a:r>
            <a:endParaRPr lang="en-US" sz="13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0" y="2194560"/>
          <a:ext cx="32461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5544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 결과 요약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배치 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 실패 · 이상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즉시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판매 종료 처리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발생 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노출 제외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즉시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 지연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24시간 초과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기준일 경과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3일 미갱신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8" name="Text 25"/>
          <p:cNvSpPr txBox="1"/>
          <p:nvPr/>
        </p:nvSpPr>
        <p:spPr>
          <a:xfrm>
            <a:off x="8366760" y="52578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받는 사람 · 채널은 B16에서 계정별 설정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백오피스 · 메인 노출 · 개통하기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요금제는 수집 기반, 개통은 제휴사로 포워딩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노출 슬롯은 게시 중인 요금제에서 고르고, 프런트는 제휴사 URL을 직접 걸지 않습니다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30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 (B8)</a:t>
            </a:r>
            <a:endParaRPr lang="en-US" sz="14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557784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3337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이달의 요금제 URL 없는 제휴사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 안 함 → 이달의 요금제에 안 나옴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항목 수집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게시 중 요금제와 연결 → 검토 → 승인 → 노출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제휴사 목록에서 빠짐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제외 + 알림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연결된 요금제 판매 종료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제외 + 알림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 · 배지 변경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운영자 지정 → 승인 → 게시 (최대 7개)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166360"/>
            <a:ext cx="5577840" cy="109728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49808" y="5330952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Hero 카드 3개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5641848"/>
            <a:ext cx="5175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 중인 요금제에서 선택만 가능 (가격 직접 입력 불가) → 카드 가격이 항상 요금제 데이터와 같음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7830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개통하기 포워딩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92240" y="2194560"/>
            <a:ext cx="1508760" cy="1188720"/>
          </a:xfrm>
          <a:prstGeom prst="roundRect">
            <a:avLst>
              <a:gd name="adj" fmla="val 9231"/>
            </a:avLst>
          </a:prstGeom>
          <a:solidFill>
            <a:srgbClr val="FA5A47"/>
          </a:solidFill>
          <a:ln w="9525">
            <a:solidFill>
              <a:srgbClr val="FA5A4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92240" y="228600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 상세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6492240" y="256032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[개통하기]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25146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8275320" y="2194560"/>
            <a:ext cx="1508760" cy="1188720"/>
          </a:xfrm>
          <a:prstGeom prst="roundRect">
            <a:avLst>
              <a:gd name="adj" fmla="val 9231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75320" y="228600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56032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/go/{planId}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 기록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9784080" y="25146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10058400" y="2194560"/>
            <a:ext cx="1508760" cy="1188720"/>
          </a:xfrm>
          <a:prstGeom prst="roundRect">
            <a:avLst>
              <a:gd name="adj" fmla="val 9231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058400" y="228600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0" y="256032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개통 URL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(새 창)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492240" y="3703320"/>
            <a:ext cx="51206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프런트는 이동 주소만 사용 → 개통 URL을 바꿔도 프런트 수정 불필요</a:t>
            </a:r>
            <a:endParaRPr lang="en-US" sz="11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 기록: 요금제 · 제휴사 · 일시 · 유입 화면 (개인정보 없음) → 제휴 수수료 정산 근거</a:t>
            </a:r>
            <a:endParaRPr lang="en-US" sz="11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종료 요금제는 이동하지 않고 S2로 돌려보내 안내</a:t>
            </a:r>
            <a:endParaRPr lang="en-US" sz="110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[결정 필요] 개통 URL 유입 추적 파라미터 · 정산 방식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백오피스 · 권한 · 메뉴 · 개발 순서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4개, 관리 화면 17개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검토자와 승인자를 따로 두지 않고, 대신 모든 처리를 감사 로그(B17)에 남깁니다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49377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6118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최고관리자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메뉴 · 관리자 계정 · 약관 · 사이트 설정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콘텐츠 운영자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제휴사 · 수집 · 검토 · 등록 · 노출 승인, 메인 노출, 기준 요금, 인터넷 · 이벤트 · FAQ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상담원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상담 관리 · 1:1 문의 답변 (개인정보 열람 기록)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 전용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대시보드 · 수집 현황 · 요금제 조회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760720" y="1783080"/>
            <a:ext cx="2743200" cy="4480560"/>
          </a:xfrm>
          <a:prstGeom prst="roundRect">
            <a:avLst>
              <a:gd name="adj" fmla="val 5333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0" y="19202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2331720"/>
            <a:ext cx="2468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 로그인 · B2 대시보드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 </a:t>
            </a:r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B3 제휴사 관리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B4 수집 현황 · B5 검토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B6 요금제 관리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B7 노출 승인 · B9 기준 요금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노출  </a:t>
            </a:r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B8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 </a:t>
            </a:r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B10 인터넷 · B11 이벤트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 </a:t>
            </a:r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B12 상담 · B13 FAQ · 1:1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· 설정  </a:t>
            </a:r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B14 회원 · B15 사이트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B16 계정 · B17 감사 로그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778240" y="1783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778240" y="2221992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계정 · 감사 로그, 제휴사 관리 · 수집 배치 · 검토 · 등록 · 노출 승인, 메인 노출, 기준 요금, 인터넷 상품, 상담, 사이트 설정 · 약관, 알림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778240" y="3657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778240" y="409651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대시보드(개통 클릭 집계), FAQ · 1:1 문의, 회원 관리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778240" y="49377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8778240" y="537667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이벤트, 파서 설정 화면 고도화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데이터 · 운영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 · 트래킹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목업의 요금제 데이터(PLANS)는 실서비스에서 크롤링 수집 → 승인된 데이터로 바뀝니다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32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66160" cy="4480560"/>
          </a:xfrm>
          <a:prstGeom prst="roundRect">
            <a:avLst>
              <a:gd name="adj" fmla="val 4103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9933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060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(후불 · 선불)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84378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 홈페이지 일 단위 크롤링 → 승인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1729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평균 요금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1071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입력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7398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9776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 URL 수집 + 순서는 운영자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068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· 이벤트 · FAQ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5445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CMS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7375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통계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1114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1회 배치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44068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· 문의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6784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DB + 알림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297680" y="1783080"/>
            <a:ext cx="3566160" cy="4480560"/>
          </a:xfrm>
          <a:prstGeom prst="roundRect">
            <a:avLst>
              <a:gd name="adj" fmla="val 4103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26280" y="1965960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19933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트래킹 이벤트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046720" y="1783080"/>
            <a:ext cx="3566160" cy="4480560"/>
          </a:xfrm>
          <a:prstGeom prst="roundRect">
            <a:avLst>
              <a:gd name="adj" fmla="val 4103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75320" y="1965960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78240" y="19933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백오피스 (04장)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321040" y="26060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84378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URL · 검토 · 등록 · 승인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31729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노출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341071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 순위 · 배지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37398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39776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에디터 · 썸네일 · 기간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43068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5445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 · 상태 변경 · 배정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487375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고객지원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321040" y="51114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 · 1:1 답변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544068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약관 · 회원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321040" y="56784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관리 · 마스킹 조회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4553712" y="25603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calc_change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4553712" y="280720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calc_result_click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4553712" y="30540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plan_click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4553712" y="330098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plan_detail_view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4553712" y="354787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plan_activate_click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53712" y="379476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plans_filter_change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553712" y="404164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compare_add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4553712" y="428853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favorite_toggle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4553712" y="45354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prepaid_submit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4553712" y="478231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consult_submit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4553712" y="50292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login_success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4553712" y="527608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faq_search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4553712" y="552297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inquiry_submit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4553712" y="5806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· 연락처 · 전화번호는 파라미터에 넣지 않음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결정 사항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확정이 필요한 17건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3건 + 하위 페이지 8건 + 백오피스 6건 — 굵게 표시한 항목이 1차 개발 전 우선 결정 대상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33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</a:t>
            </a:r>
            <a:endParaRPr lang="en-US" sz="1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32918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사업자 정보 (대표자 · 등록번호 · 통신판매업 · 주소 · 고객센터)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3사 평균 요금 산정 기준 · 출처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선불 결제 제휴사 연동 방식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069080" y="173736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페이지</a:t>
            </a:r>
            <a:endParaRPr lang="en-US" sz="1200" dirty="0"/>
          </a:p>
        </p:txBody>
      </p:sp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9080" y="2057400"/>
          <a:ext cx="38862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5204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S1·S2 통화 · 문자 · 속도 수집 범위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안 되는 항목은 B6 보완 입력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S3 자체 참여형 이벤트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초기엔 제휴사 이벤트만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S4 상담 주체 · 제3자 제공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결정 후 동의 문구 확정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S4·S8 개인정보 보유 기간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법무 검토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S5 간편 로그인 종류 · 세션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카카오 · 네이버 우선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S6 비로그인 충전 요청 기록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기록하지 않음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S7 고객센터 운영 시간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Footer와 함께 확정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#partners 유지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요약 유지, 전체는 S1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8183880" y="17373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백오피스</a:t>
            </a:r>
            <a:endParaRPr lang="en-US" sz="1200" dirty="0"/>
          </a:p>
        </p:txBody>
      </p:sp>
      <p:graphicFrame>
        <p:nvGraphicFramePr>
          <p:cNvPr id="10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83880" y="2057400"/>
          <a:ext cx="34290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0632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 실행 시각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04:00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2단계 인증 · 사내 IP 제한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2단계 인증 필수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 채널 (메신저)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사내 메신저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개통 URL 유입 추적 · 정산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제휴사 정산 협의 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롤백 가능 기간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게시 후 7일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파싱 값 보관 기간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90일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430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514600"/>
            <a:ext cx="3291840" cy="2331720"/>
          </a:xfrm>
          <a:prstGeom prst="roundRect">
            <a:avLst>
              <a:gd name="adj" fmla="val 7059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43200"/>
            <a:ext cx="548640" cy="54864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474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사항 확정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93192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사업자 정보, 3사 평균 요금 기준, 상담 주체, 개인정보 보유 기간, 개통 유입 추적 · 정산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023360" y="34290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389120" y="2514600"/>
            <a:ext cx="3291840" cy="2331720"/>
          </a:xfrm>
          <a:prstGeom prst="roundRect">
            <a:avLst>
              <a:gd name="adj" fmla="val 7059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743200"/>
            <a:ext cx="548640" cy="54864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3474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개발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93192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백오피스 수집 · 검토 · 등록 · 승인 + S1 · S2(개통하기) · S4 · S8 · S9 + 메인 실데이터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4290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8046720" y="2514600"/>
            <a:ext cx="3291840" cy="2331720"/>
          </a:xfrm>
          <a:prstGeom prst="roundRect">
            <a:avLst>
              <a:gd name="adj" fmla="val 7059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743200"/>
            <a:ext cx="548640" cy="54864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74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3차 개발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93192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2차: 로그인 · 마이페이지 · 고객지원 · 대시보드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3차: 이벤트 · 파서 고도화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897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</a:t>
            </a:r>
            <a:pPr indent="0" marL="0">
              <a:buNone/>
            </a:pPr>
            <a:r>
              <a:rPr lang="en-US" sz="18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010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5943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github.com/chlee-oss/im010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(주)아임공일공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im010 홈페이지 기획서</dc:title>
  <dc:subject>PptxGenJS Presentation</dc:subject>
  <dc:creator>chlee</dc:creator>
  <cp:lastModifiedBy>chlee</cp:lastModifiedBy>
  <cp:revision>1</cp:revision>
  <dcterms:created xsi:type="dcterms:W3CDTF">2026-10-02T09:18:55Z</dcterms:created>
  <dcterms:modified xsi:type="dcterms:W3CDTF">2026-10-02T09:18:55Z</dcterms:modified>
</cp:coreProperties>
</file>