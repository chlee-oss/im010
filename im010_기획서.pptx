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F2430"/>
                </a:solidFill>
                <a:latin typeface="Malgun Gothic"/>
              </a:rPr>
              <a:t>GB당 평균 요금 (원, 낮을수록 효율적)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GB당 평균 요금</c:v>
                </c:pt>
              </c:strCache>
            </c:strRef>
          </c:tx>
          <c:spPr>
            <a:solidFill>
              <a:srgbClr val="1F2430"/>
            </a:solidFill>
            <a:effectLst/>
          </c:spPr>
          <c:invertIfNegative val="0"/>
          <c:dLbls>
            <c:numFmt formatCode="#,##0&quot;원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인스모바일</c:v>
                  </c:pt>
                  <c:pt idx="1">
                    <c:v>마블링</c:v>
                  </c:pt>
                  <c:pt idx="2">
                    <c:v>슈가모바일</c:v>
                  </c:pt>
                  <c:pt idx="3">
                    <c:v>토리모바일</c:v>
                  </c:pt>
                  <c:pt idx="4">
                    <c:v>시월모바일</c:v>
                  </c:pt>
                  <c:pt idx="5">
                    <c:v>조이M</c:v>
                  </c:pt>
                  <c:pt idx="6">
                    <c:v>위너스텔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1450</c:v>
                </c:pt>
                <c:pt idx="1">
                  <c:v>1320</c:v>
                </c:pt>
                <c:pt idx="2">
                  <c:v>1260</c:v>
                </c:pt>
                <c:pt idx="3">
                  <c:v>1180</c:v>
                </c:pt>
                <c:pt idx="4">
                  <c:v>1120</c:v>
                </c:pt>
                <c:pt idx="5">
                  <c:v>1050</c:v>
                </c:pt>
                <c:pt idx="6">
                  <c:v>980</c:v>
                </c:pt>
              </c:numCache>
            </c:numRef>
          </c:val>
        </c:ser>
        <c:dLbls>
          <c:numFmt formatCode="#,##0&quot;원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B526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962912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요금비교 플랫폼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7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기획서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v0.6  ·  하위 페이지 v0.5  ·  백오피스 v0.7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2026.10.07   |   (주)아임공일공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180000">
            <a:off x="8503920" y="82296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 rot="180000">
            <a:off x="8503920" y="82296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망 · 5G · QoS 1Mbps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240000">
            <a:off x="7040880" y="26060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 rot="-240000">
            <a:off x="7040880" y="26060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3GB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망 · LTE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120000">
            <a:off x="8778240" y="42062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 rot="120000">
            <a:off x="8778240" y="42062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망 · 5G 완전 무제한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0233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4187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4498848"/>
            <a:ext cx="28895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im010_홈페이지_기획서.md (v0.6)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im010_하위페이지_기획서.md (v0.5)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im010_백오피스_기획서.md (v0.7)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im010_홈페이지_목업_2.html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685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704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88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 · 타깃 · 핵심 지표, 7개 제휴 브랜드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002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184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02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구성, 디자인 시스템, 섹션별 설계, 검토 이슈 반영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146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5328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9169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화면 설계, 공통 규칙, 개발 우선순위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4290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4472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8313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메뉴 구조, 수집 → 점검 → 승인 → 게시 예약, 접수관리 · 환경설정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3434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3616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운영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47457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소스, 트래킹 이벤트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5257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5276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· 다음 단계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5660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결정 5건과 진행 순서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서비스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알뜰폰 브랜드를 한 곳에서 비교하고 가입까지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비교 플랫폼 — 가입·개통은 각 제휴사에서 진행됩니다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제휴 알뜰폰 요금제를 한 곳에서 비교하고 제휴사 개통 페이지로, 인터넷은 제휴업체 신청 페이지로 연결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49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절감에 관심 있는 통신 3사 이용자, 단기·선불 수요자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클릭 수(알뜰폰 개통신청 — 후불 · 선불) · 인터넷 신청 이동 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브랜드 7개사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80760" y="2423160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marvelring.com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15784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52944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552944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ntontel.com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552944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025128" y="2423160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idowell.co.kr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025128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60152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497312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97312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sugarmobile.co.kr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497312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497312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080760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insmobile.co.kr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080760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50468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15784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552944" y="4389120"/>
            <a:ext cx="586232" cy="274320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552944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joytel.co.kr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52944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887968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025128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25128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siwolmobile.com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025128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360152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97312" y="4389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10497312" y="5166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선불 3개사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디자인 시스템 · 섹션별 설계 · 검토 이슈 반영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(Sticky Header)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+ 요금 계산기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배너 · 상품 비교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요금제분석 · 신뢰 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화면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페이지, 10개 섹션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메뉴는 섹션으로 스크롤 이동, 제휴사 페이지는 새 창으로 엽니다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순서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GNB (Sticky)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Hero + 요금 계산기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871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#calc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16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이달의 요금제비교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291693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4670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제휴사별 요금제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34670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#partners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77647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76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선불요금제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37764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#prepaid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20624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206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인터넷 배너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51460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6C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636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인터넷 상품 비교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514600" y="46360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#internet-compare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06577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0657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요금제분석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514600" y="50657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#analysis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495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신뢰 지표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92531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925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Footer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3434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 (GNB)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2057400"/>
          <a:ext cx="7269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3756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#month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#partners · 7개사 요금제 페이지(새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하위: 전체 비교 → S1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#prepaid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v0.5 선불 충전 메뉴 제외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#internet-compare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v0.2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#analysis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· 로그인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제외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기능 추후 기획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비교하기 (CTA)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#calc  Hero 계산기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4343400" y="5532120"/>
            <a:ext cx="7269480" cy="73152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44568" y="5696712"/>
            <a:ext cx="686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44568" y="6007608"/>
            <a:ext cx="6867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≤920px 햄버거 메뉴(☰/✕)로 전환 · 마이페이지 · 로그인 메뉴는 1차에서 제외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디자인 시스템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코랄 + 네이비, 숫자는 Space Grotesk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페이지도 같은 토큰과 컴포넌트를 사용합니다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A5A4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#FA5A47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5963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D9432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963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coral-dark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5963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#D9432F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1EE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063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77063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#FFF1EE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8162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E4D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162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coral-tint-2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162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#FFE4DF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9262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1F243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9262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#1F2430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362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4B5262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0362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gray-700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10362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#4B5262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1461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8A8F9C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1461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gray-500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#8A8F9C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2561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561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gray-200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561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#E9E7E3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43660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3660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cream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3660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#FFFBF8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4760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B02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760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4760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#FFB020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33756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타이포그래피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 · 22 / 800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통신비, 얼마나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3611880" y="42976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타이틀 · 40 / 800 (모바일 30)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754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36118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타이틀 · 26 / 800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212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3611880" y="5212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가격·지표 · Space Grotesk 700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669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7월, 가장 많이 비교된 요금제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611880" y="5669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서브·캡션 · 14 / gray-500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337560"/>
            <a:ext cx="534924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92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92240" y="3886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7863840" y="3886200"/>
            <a:ext cx="1221232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372600" y="3886200"/>
            <a:ext cx="14244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492240" y="4343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칩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4361688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574024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9538208" y="4361688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0375392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6492240" y="48006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· 태그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7863840" y="4818888"/>
            <a:ext cx="883412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823960" y="4818888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6492240" y="5257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(활성/기본)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7863840" y="527608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68512" y="5276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92240" y="5715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863840" y="5669280"/>
            <a:ext cx="137160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9326880" y="5669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radius 14–16 · hover 시 상승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계산기 — 조건에 맞는 최저가 요금제를 바로 찾기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사용량과 통신망을 고르면 게시 중인 후불 요금제에서 최저가를 조회합니다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21208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데이터 사용량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842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11GB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663440" cy="73152"/>
          </a:xfrm>
          <a:prstGeom prst="roundRect">
            <a:avLst>
              <a:gd name="adj" fmla="val 50000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487168"/>
            <a:ext cx="3291840" cy="7315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86584"/>
            <a:ext cx="274320" cy="274320"/>
          </a:xfrm>
          <a:prstGeom prst="ellipse">
            <a:avLst/>
          </a:prstGeom>
          <a:solidFill>
            <a:srgbClr val="FA5A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1GB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026664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7GB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1EE"/>
          </a:solidFill>
          <a:ln w="1587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4663440" cy="1417320"/>
          </a:xfrm>
          <a:prstGeom prst="roundRect">
            <a:avLst>
              <a:gd name="adj" fmla="val 90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최저가 요금제 · SKT망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29000" y="37947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2C3345"/>
          </a:solidFill>
          <a:ln w="9525">
            <a:solidFill>
              <a:srgbClr val="4A52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3904488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206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2GB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63600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보기 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조건에 맞는 최저가 요금제 · 월 요금만 안내 (3사 평균 비교 없음)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577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게시 중인 후불 요금제 기준 · 요금은 제휴사 공시 요금(예시)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1783080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764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0848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8단계(1·2·3·5·7·11·30GB·무제한)와 통신망(SKT·KT·LGU+) 선택. 기본값은 11GB · SKT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2770632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752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723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요금제에서 "선택한 망 + 기본 제공량 ≥ 선택 데이터"를 만족하는 최저가 요금제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3758184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7398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059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요금제명 · 월 요금, "요금제 보기 →" → S2 상세 → 개통하기 → 제휴사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4745736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4727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안내 제거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047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 대비 절약액 · 절약률 · 최대 절감률 안내는 프런트 · 백오피스 모두 제거 (10.07)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172200" y="5760720"/>
            <a:ext cx="5440680" cy="502920"/>
          </a:xfrm>
          <a:prstGeom prst="roundRect">
            <a:avLst>
              <a:gd name="adj" fmla="val 21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화면 값 = 기본 상태 → 페이지를 열 때 숫자가 바뀌지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통신망별 계산 결과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 예시 데이터 기준 — 최저가 요금제와 월 요금만 보여줍니다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589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94560"/>
                <a:gridCol w="219456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LGU+망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 17,900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26,400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24,900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503920" y="1783080"/>
            <a:ext cx="3108960" cy="2103120"/>
          </a:xfrm>
          <a:prstGeom prst="roundRect">
            <a:avLst>
              <a:gd name="adj" fmla="val 521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05088" y="194767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안내 제거 (10.07)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05088" y="2258568"/>
            <a:ext cx="27066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절약액 · 절약률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지표 "최대 절감률"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상세 "3사 평균 대비 절약"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기준 요금 관리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503920" y="4069080"/>
            <a:ext cx="3108960" cy="1783080"/>
          </a:xfrm>
          <a:prstGeom prst="roundRect">
            <a:avLst>
              <a:gd name="adj" fmla="val 6154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05088" y="423367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상태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705088" y="4544568"/>
            <a:ext cx="27066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· SKT망 → 마블링 넉넉 11GB+ 월 16,500원 (표의 회색 칸). 처음 화면 값과 같아서 로딩 시 숫자가 바뀌지 않음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1722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결과를 위해 예시 요금제 3종 추가: 토리모바일 5GB · 인스모바일 15GB · 마블링 무제한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요금제와 제휴사별 요금제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요금제는 제휴사 URL 수집 기반, 전체 후불 요금제는 브랜드 탭으로 필터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  #month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"이달의 요금제" URL 수집 · 순서 · 배지 관리는 보류 (사이트 순서대로)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8892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92608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100GB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19,800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166360" y="2286000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6948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40664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30GB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50976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64240" cy="2468880"/>
          </a:xfrm>
          <a:prstGeom prst="roundRect">
            <a:avLst>
              <a:gd name="adj" fmla="val 592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31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  #partners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15968"/>
            <a:ext cx="497332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347724" y="4315968"/>
            <a:ext cx="6179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203885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2971292" y="4315968"/>
            <a:ext cx="73863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83076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715510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647944" y="4315968"/>
            <a:ext cx="56972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29081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4681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요금제 </a:t>
            </a:r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· 낮은 가격순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724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6968" y="507492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88696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200MB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4,900원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696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56032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7004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267004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267004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8,900원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67004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34340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45312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45312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5GB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45312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45312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· LTE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12648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36208" y="5074920"/>
            <a:ext cx="536702" cy="219456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623620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6GB + 매일 1GB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623620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12,900원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623620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LTE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8046720" y="47091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요금제만 (선불 제외)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클릭 시 브랜드 필터 + 개수 표시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 낮은 가격순 정렬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클릭 → S2 상세 → 개통하기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선불요금제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— 보여주고, 개통은 제휴사로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기능(선불요금결제 폼 · GNB 결제 메뉴)은 프런트 · 백오피스 모두 제외했습니다 (v0.5)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938528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1GB · 30일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6,600원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017520"/>
            <a:ext cx="80568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사용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59207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227832" y="1938528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3GB · 30일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278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11,000원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27832" y="3017520"/>
            <a:ext cx="97840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유심 즉시 개통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27939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2278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742432" y="1938528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7424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무제한 · 7일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7424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42432" y="3017520"/>
            <a:ext cx="80568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 여행용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62127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7424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[자세히 보기]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3891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30632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632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상세 (선불형)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0632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[개통하기]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3891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55778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5778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URL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(새 창)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3492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클릭은 백오피스 RC-01 알뜰폰접수신청에 기록 (후불 · 선불 공통)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275320" y="1783080"/>
            <a:ext cx="3337560" cy="2011680"/>
          </a:xfrm>
          <a:prstGeom prst="roundRect">
            <a:avLst>
              <a:gd name="adj" fmla="val 5455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76488" y="1947672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규칙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76488" y="2258568"/>
            <a:ext cx="293522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URL로 수집 · 승인 · 게시된 것만 노출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비교에도 넣지 않음 (계산기 · S1 · 분석)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요금제는 회원 기능과 함께 추후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275320" y="4023360"/>
            <a:ext cx="3337560" cy="2240280"/>
          </a:xfrm>
          <a:prstGeom prst="roundRect">
            <a:avLst>
              <a:gd name="adj" fmla="val 489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76488" y="4187952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제외한 것 (v0.5)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76488" y="4498848"/>
            <a:ext cx="293522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선불요금결제 폼 (통신사 · 번호 · 금액)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"선불요금결제"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"선불 충전 요청" 내역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목업의 충전 폼은 다음 목업 갱신 때 삭제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인터넷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 비교와 제휴업체 신청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→ 상품 비교 섹션 → 상담 신청 → 제휴업체 신청 페이지(포워딩)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8148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(6)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54912" y="1755648"/>
            <a:ext cx="1272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단독 (3)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818384" y="1755648"/>
            <a:ext cx="1653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+ TV 결합 (3)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2834640"/>
                <a:gridCol w="1463040"/>
                <a:gridCol w="4937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혜택 (3년 약정 기준)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25만 · 공유기 임대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1G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28만 · TV 결합 추가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30만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B tv 이코노미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40만 · 셋톱박스 임대료 포함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지니TV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43만 · OTT 1개월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U+tv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45만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상품 3종 추가 (v0.2)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"인터넷 + TV 결합"이 실제로 걸러지도록 결합 상품을 추가했습니다.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탭은 그룹별로 독립 동작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탭과 제휴사 탭이 서로의 선택 상태를 바꾸지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→ 제휴업체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페이지로 포워딩, im010은 이동 기록만 (개인정보 없음, 백오피스 RC-02)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요금제분석 · 신뢰 지표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보여주는 합리성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 기준 GB당 평균 요금, 7개사 (선불 · 무제한 제외, 예시 데이터)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85800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349240" y="2487168"/>
            <a:ext cx="1607312" cy="25603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위너스텔 980원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1783080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965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 가장 많이 비교된 데이터 구간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258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~ 30GB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6680" y="3081528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55280" y="3264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 새로 게시된 요금제 (제안)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3557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726680" y="4379976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55280" y="4562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빠르게 성장 중인 요금제 구간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48554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무제한형 요금제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128,940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개통 건수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33756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이용 만족도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7개사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통신사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132개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가능한 요금제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반응형 · 접근성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· 태블릿 · 모바일 대응과 접근성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375px 폭에서도 가로 스크롤 없이 동작하는 것을 확인했습니다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0312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212848"/>
            <a:ext cx="256032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432304"/>
            <a:ext cx="1408176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1952" y="2432304"/>
            <a:ext cx="1024128" cy="541325"/>
          </a:xfrm>
          <a:prstGeom prst="roundRect">
            <a:avLst>
              <a:gd name="adj" fmla="val 67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 &gt; 920px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Hero + 플로팅 카드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그리드 4열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메뉴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4700" y="1874520"/>
            <a:ext cx="1417320" cy="192024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06140" y="1984248"/>
            <a:ext cx="123444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6140" y="2203704"/>
            <a:ext cx="1234440" cy="614477"/>
          </a:xfrm>
          <a:prstGeom prst="roundRect">
            <a:avLst>
              <a:gd name="adj" fmla="val 595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 ≤ 920px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 Hero, 플로팅 카드 숨김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햄버거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2열, 탭 가로 스크롤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460" y="2103120"/>
            <a:ext cx="868680" cy="169164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57900" y="2212848"/>
            <a:ext cx="68580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7900" y="2432304"/>
            <a:ext cx="685800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 ≤ 600px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버튼 축약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세로 정렬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줄바꿈 제거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3749040" cy="4480560"/>
          </a:xfrm>
          <a:prstGeom prst="roundRect">
            <a:avLst>
              <a:gd name="adj" fmla="val 390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체크리스트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237744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23591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 label 연결 · aria-valuetext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288950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 토글 aria-pressed, 탭 aria-selected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3438144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419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결과 · 개수 aria-live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3968496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0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오류 aria-invalid + 오류 문구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498848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03920" y="4480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키보드 포커스로 열림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502920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5010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:focus-visible 포커스 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92440" y="555955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0" y="55412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링크 rel="noopener noreferrer"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검토 이슈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 검토 이슈 13건 반영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v0.2에서 11건 완료, 2건 부분 반영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2800" b="1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3017520" cy="2743200"/>
          </a:xfrm>
          <a:prstGeom prst="roundRect">
            <a:avLst>
              <a:gd name="adj" fmla="val 4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63931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반영 2건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50208"/>
            <a:ext cx="26151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#9 하위 페이지 — 이번 하위 페이지 기획서로 설계, 구현 전까지 "준비 중" 안내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#13 사업자 정보 — 영역은 만들었고 실제 값(대표자·등록번호·주소 등)이 필요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51663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반영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정합성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절감률 자동 산출 → 10.07 3사 평균 안내 제거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렌더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상태(11GB · SKT)와 처음 화면 값 일치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최저가 요금제 조회 + 상세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망별 절약률 → 10.07 3사 평균 안내 제거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· 인터넷 탭 필터, 그룹별 독립 동작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폼 개선 → v0.5에서 충전 기능 자체 제외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스타일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칩 공통 클래스 분리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GNB "인터넷" 추가, Footer "서비스"로 이동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앵커 연결 + 미구현 페이지 "준비 중" 안내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차트 7개사 전체 표시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"실시간" 문구 제거, 섹션별 기준일 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ARIA 속성 · 키보드 드롭다운 · 포커스 링 · rel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고지 · 사업자 정보 영역 (값은 임시)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· 공통 규칙 · 개발 우선순위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 요금제 전체 비교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 요금제 상세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 이벤트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 인터넷 신청 이동 (포워딩)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  로그인 (1차 제외)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  마이페이지 (1차 제외)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  고객지원 (FAQ)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  약관 · 개인정보처리방침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80960" y="499262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49926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  오류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하위 페이지와 개발 우선순위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전환(제휴사 가입 · 상담)과 법적 필수 페이지부터 만듭니다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83296" y="32004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4464" y="3364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페이지가 완성되면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84464" y="3675888"/>
            <a:ext cx="31638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메인의 "준비 중" 링크를 실제 페이지로 교체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착수 전 결정 사항(06장) 확정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 + 법적 필수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85800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/plans/:planId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신청 이동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/go/internet/{id}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672584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485546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47457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개인정보처리방침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50200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/terms · /privacy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422392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5605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261872" y="5495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페이지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7698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· 500 · 점검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315968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453128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/support/faq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083296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추후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9043416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이벤트 · 오픈 후 회원 기능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83296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0456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796528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목록 · 상세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 · /events/:id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83296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220456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79652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(추후)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796528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830306" y="3246120"/>
            <a:ext cx="70942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083296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220456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796528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(추후)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796528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/mypage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0830306" y="3995928"/>
            <a:ext cx="70942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083296" y="4672584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8220456" y="485546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796528" y="47457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문의 (추후)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796528" y="50200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/support/inquiry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830306" y="4745736"/>
            <a:ext cx="70942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공통 규칙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페이지에 적용하는 규칙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 · Footer · 디자인 토큰을 쓰고, 화면 상태와 폼 규칙을 통일합니다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머리 · 레이아웃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breadcrumb(12px) · 제목 30/800 · 설명 15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GNB(sticky) · Footer, 본문 최대폭 1180px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제목 24px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로딩: 카드 모양 스켈레톤, 버튼 비활성 + 스피너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화면: 안내 문구 + 다음 행동 버튼 (예: 필터 초기화)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오류: 코랄 경고 박스 + 다시 시도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/login?next= 로 이동 후 원래 위치로 복귀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규칙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시 코랄 테두리 + 필드 아래 문구 + aria-invalid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시 첫 번째 오류 필드로 포커스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폼은 필수 동의 체크 + "자세히" 펼침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자동 하이픈 · 개인정보는 URL에 넣지 않음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2200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"준비 중" 링크 연결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포워딩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833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비교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   /plans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완료된 후불 요금제만 · 필터 · 정렬 · 최대 3개 비교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38528"/>
            <a:ext cx="1965960" cy="3657600"/>
          </a:xfrm>
          <a:prstGeom prst="roundRect">
            <a:avLst>
              <a:gd name="adj" fmla="val 465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</a:t>
            </a:r>
            <a:pPr indent="0" marL="0">
              <a:buNone/>
            </a:pPr>
            <a:r>
              <a:rPr lang="en-US" sz="900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초기화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2432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 SKT  ☐ KT  ☐ LGU+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9352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363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~5GB  ● 5~15GB  ○ 무제한…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447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64845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LTE  ☑ 5G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959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605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 ━━━━●━━ 30,000원+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4714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67258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마블링  ☐ 토리모바일 …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83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18464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유심비 무료  ☐ 첫달 무료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</a:t>
            </a:r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965960"/>
            <a:ext cx="1033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가격순 ▾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1965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| 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237744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✕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77440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5G ✕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990088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2990088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90088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44568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654296" y="2898648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54296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50GB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654296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17,900원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654296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654296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08776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318504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318504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318504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26,400원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18504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318504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13232" y="5715000"/>
            <a:ext cx="7086600" cy="438912"/>
          </a:xfrm>
          <a:prstGeom prst="roundRect">
            <a:avLst>
              <a:gd name="adj" fmla="val 20833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96112" y="571500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 2/3   [마블링 11GB+ ✕]   [시월모바일 50GB ✕]   [ + ]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0" y="57881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비교하기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6종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 · 데이터 · 세대 · 월 요금 · 브랜드 · 혜택. 필터 상태는 URL 쿼리에 저장(공유·뒤로가기 유지)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메인에서 이어받기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→ 망·데이터, 제휴사 탭 → 브랜드가 자동 적용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보기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가격순 · 데이터순 · GB당 요금순 · 인기순, 카드/표 보기, 24개씩 더보기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3개, 비로그인도 사용. 후불끼리만 비교, 항목별 최저 요금 · 최대 데이터에 ★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   /plans/:planId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자체 상세 → 개통하기 → /go/{planId} → 제휴사 개통 URL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96596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 매일 2GB · SKT망 · 5G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6596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QoS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1Mbps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22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상세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05993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기본료 16,500원 · 약정 없음 · 유심비 0원 · 개통 수수료 0원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370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· 유의사항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085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신규·번호이동 가입 시 유심비 무료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매일 2GB 소진 후 1Mbps로 계속 사용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120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0720" y="1965960"/>
            <a:ext cx="2011680" cy="27432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897880" y="2103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2606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 · 유심비 0원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31546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↗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897880" y="40416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 사이트로 이동해요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76072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우측 고정 (모바일: 하단 고정 바)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요금제 표기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후 요금을 반드시 함께 표기 — 예: 6개월간 12,900원 → 이후 18,700원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수집에서 사라지면 다음 날 자동 종료 · 회색 배너, 개통하기 비활성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후불만: 같은 망, 데이터 ±50%, 최대 3개 · 스펙은 통화 · 문자 · 데이터 · QoS 수집, 없으면 보완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추적 · 정산 (확정)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· 업체와 정산 협의 때 함께 결정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S3 · S9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이벤트와 오류 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목록 · 상세 2단계, 오류 페이지는 다음 행동 버튼을 함께 제공합니다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55648"/>
            <a:ext cx="510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755648"/>
            <a:ext cx="10764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브랜드 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73022" y="3657600"/>
            <a:ext cx="51511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첫달 요금 0원 이벤트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10.01 ~ 10.31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632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0632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FE4DF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657600"/>
            <a:ext cx="579882" cy="22860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871722" y="3657600"/>
            <a:ext cx="45034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인증하고 커피 받기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09.20 ~ 10.04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E6F0FF"/>
          </a:solidFill>
          <a:ln w="9525">
            <a:solidFill>
              <a:srgbClr val="E6F0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602222" y="3657600"/>
            <a:ext cx="471932" cy="2286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번호이동 혜택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진행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663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정렬: 진행 중은 마감 임박순, 종료는 종료일 최신순 · 종료 카드는 흑백 + "종료"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상세: 참여 방법 · 유의사항 · 대상 요금제 카드 · 링크 복사 · 이미지 대체 텍스트 필수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초기엔 제휴사 이벤트 모음만 (im010 자체 참여형 이벤트는 2차 이후)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75320" y="1783080"/>
            <a:ext cx="3337560" cy="2514600"/>
          </a:xfrm>
          <a:prstGeom prst="roundRect">
            <a:avLst>
              <a:gd name="adj" fmla="val 5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1920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4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27432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찾으시는 페이지가 없어요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30449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주소가 바뀌었거나 삭제된 페이지일 수 있어요.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641080" y="34747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메인으로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921240" y="34747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4526280"/>
          <a:ext cx="3337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찾으시는 페이지가 없어요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· 요금제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잠시 문제가 생겼어요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 · 메인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점검 중이에요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안내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신청 이동   /go/internet/{productId}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im010은 상담 신청서를 받지 않고 담당 제휴업체 신청 페이지로 포워딩합니다 (알뜰폰 개통하기와 같은 방식)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인터넷 상품 카드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[상담 신청]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194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4340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이동 주소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/go/internet/{id}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기록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2194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페이지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창 · 이름 · 연락처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업체에서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943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im010 자체 화면 없음 — 이동 주소만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백오피스 인터넷관리(PR-02)의 상품별 신청 URL → 없으면 제휴사관리 [인터넷]의 업체 기본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받지 않음 → 개인정보 수집 · 제3자 제공 동의 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· 통신사 · 제휴업체 · 일시 · 유입 화면 → 백오피스 RC-02 인터넷접수신청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비노출 · URL 없음 → 이동하지 않고 안내 토스트, 운영자에게 알림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183880" y="3566160"/>
            <a:ext cx="3429000" cy="2697480"/>
          </a:xfrm>
          <a:prstGeom prst="roundRect">
            <a:avLst>
              <a:gd name="adj" fmla="val 406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85048" y="373075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없어진 것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385048" y="4041648"/>
            <a:ext cx="302666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폼 · 완료 화면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제3자 제공 동의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"상담 신청 내역"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주체 결정 (해소)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S5 · S6  (1차 제외 · 추후 기획)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로그인과 마이페이지 — 추후 기획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· 비밀번호 가입 없이 간편 로그인만 제공 — 비밀번호 관리 부담과 유출 위험을 줄입니다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algn="ctr"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로그인하고 관심 요금제와 신청 내역을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곳에서 확인하세요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71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E500"/>
          </a:solidFill>
          <a:ln>
            <a:solidFill>
              <a:srgbClr val="FEE5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카카오로 시작하기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47288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>
            <a:solidFill>
              <a:srgbClr val="03C7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네이버로 시작하기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22776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Apple로 시작하기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처음이면 자동으로 가입돼요 · 이용약관 및 개인정보처리방침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로그인: 제공 정보 수신 → 추가 동의(필수 약관 · 선택 마케팅) → 가입 완료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관심 요금제 · 마이페이지 · 1:1 문의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불필요: 비교 · 상세 · 개통하기 · 인터넷 신청 이동 · FAQ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1663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메뉴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· S2에서 ♡ 한 요금제 · 저장 이후 가격 변동(▼인하 / ▲인상) · 판매 종료 표시 ·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· 작성일 · 상태(답변 대기 / 답변 완료) · 질문과 답변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간편 로그인 · 이메일 · 마케팅 수신 동의 변경 · 회원 탈퇴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84632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4748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제외 (10.07)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 · 마이페이지는 1차 기획 · 오픈에서 빼고 추후 기획. 이 슬라이드는 참고 초안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32104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2220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범위 안내 → 확인 체크 → 확인 모달 2단계. 관련 법령상 보관 정보는 기간 후 삭제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S7 · S8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고객지원과 약관 · 개인정보처리방침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1차는 FAQ와 고객센터 안내 — 1:1 문의는 회원 기능과 함께 추후 (제안)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궁금한 내용을 검색해보세요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230428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075688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가입·개통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30652" y="2304288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724912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7614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im010에서 바로 가입할 수 있나요?                                          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090672"/>
            <a:ext cx="5120640" cy="594360"/>
          </a:xfrm>
          <a:prstGeom prst="roundRect">
            <a:avLst>
              <a:gd name="adj" fmla="val 923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12724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im010은 비교 플랫폼이에요. 가입·개통은 각 제휴사 페이지에서 진행되며, 요금제 상세의 "개통하기"로 바로 이동할 수 있어요.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요금 정보는 얼마나 자주 업데이트되나요?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4224528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224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알뜰폰으로 바꾸면 번호가 바뀌나요?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608576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608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인터넷 사은품은 언제 받나요?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50749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52395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문의 — 회원 기능과 함께 추후 (제안)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550408"/>
            <a:ext cx="5084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· 제목 · 내용(10~2,000자) · 이미지 첨부 3개. 답변 · FAQ는 백오피스 ST-07 1:1문의관리 [1:1 문의] [FAQ]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개인정보처리방침에 반영할 수집 항목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19456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1508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(추후)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 로그인 식별값, 이름/닉네임, 이메일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(추후)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내용, 첨부 이미지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응대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수집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 기록, 쿠키, 이용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개선 · 통계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355080" y="534924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56248" y="55138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페이지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556248" y="5824728"/>
            <a:ext cx="48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시행일 · 이전 버전 · 목차 앵커 (ST-04). 인터넷 신청은 포워딩이라 수집 항목 없음 · 본문 법무 검토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메뉴 구조 · 요금제 수집 → 점검 → 승인 → 게시 예약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구조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처리 흐름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· 선불 구분과 비교 규칙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 (수집 URL)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배치관리 · 요금제관리 (점검 → 승인 → 게시 예약)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· 판매 종료 · 알림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 (포워딩) · 프로모션 보류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환경설정 · 권한 · 개발 순서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메뉴 구조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메뉴 그룹, 17개 화면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확정된 메뉴 구조 — 화면 ID는 그룹 약어 + 번호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 [알뜰폰] [인터넷]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204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2628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09320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상품관리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요금제관리 · 게시 예약 일정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587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인터넷관리 (별도 등록)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28620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프로모션관리 — 보류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04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88796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배치관리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스케줄관리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587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요금제배치관리 (점검)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8620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승인관리 → 요금제관리 이관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35204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" y="341071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298448" y="33832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7764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알뜰폰접수신청 (개통신청)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40507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인터넷접수신청 (이동 기록)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352044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31520" y="528523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298448" y="52578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회원관리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650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회원관리 — 1차 오픈 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43400" y="3703320"/>
            <a:ext cx="3520440" cy="256032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26280" y="386791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93208" y="38404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환경설정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44568" y="42336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프로그램관리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44568" y="4507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관리자관리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44568" y="4782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권한관리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44568" y="5056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ST-04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약관관리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44568" y="5330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ST-05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접속이력관리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44568" y="5605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ST-06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Footer관리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5879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ST-07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1:1문의관리 [FAQ] · [1:1 추후]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38160" y="370332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386791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4178808"/>
            <a:ext cx="31181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CM-01 로그인 (2단계 인증 필수)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후 첫 화면 = BA-02 (별도 홈 · 대시보드 없음)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기준 요금 — 제거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요금제 처리 흐름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→ 점검 → 승인 → 게시 예약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승인하면 요금제관리로 이관되고, 외부 노출 시점은 요금제관리의 게시 예약으로 정합니다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(BA-01)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스케줄 · 하루 1회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/ 선불 / 이달의 URL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8328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(BA-02)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것만 점검 대기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제외 → 승인 요청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(BA-03)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= 요금제관리로 이관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"게시 대기" (아직 비노출)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73252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905256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예약 (PR-01)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5372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· 개통 URL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지정 / 즉시 게시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후 변경 감지 결과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기록만 남김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8444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· 변경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대기로 → 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908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사라짐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+ 알림 (승인 없음)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256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5372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이상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5372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반영 안 함 + 알림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10667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983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프런트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S1 목록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2953512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요금제 상세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736592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4" name="Text 42"/>
          <p:cNvSpPr txBox="1"/>
          <p:nvPr/>
        </p:nvSpPr>
        <p:spPr>
          <a:xfrm>
            <a:off x="5129784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912864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306056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/go/{planId}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접수 기록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89136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9482328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(새 창)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후불 · 선불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구분은 수집 URL로, 비교는 후불끼리만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요금제와 후불 요금제는 서로 비교하지 않습니다 (확정)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기준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22402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240280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6207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URL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86207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862072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E0A21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같은 URL을 후불 · 선불에 동시에 등록할 수 없음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내용으로 추측하지 않음 — 등록된 URL 유형이 곧 요금제 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URL만 있으면 그 유형만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등록된 요금제의 유형은 바꿀 수 없음 → URL 유형을 고친 뒤 다시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항목은 연결된 요금제의 유형을 따름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규칙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194560"/>
          <a:ext cx="58521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기능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(게시 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 계산기 (최저가)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제휴사별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(선불 섹션에만)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전체 비교 · 비교함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 비슷한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 통계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760720" y="5349240"/>
            <a:ext cx="5852160" cy="868680"/>
          </a:xfrm>
          <a:prstGeom prst="roundRect">
            <a:avLst>
              <a:gd name="adj" fmla="val 126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61888" y="53492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URL로 수집 → 점검 → 승인 → 게시를 마친 "게시 중" 후불 요금제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대기 · 예약 · 판매 종료 · 비노출은 제외 · 선불끼리 비교하는 기능도 두지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PA-01 제휴사관리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수집 URL과 인터넷 제휴업체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[알뜰폰] 후불 / 선불 / 이달의 요금제 URL — 없는 유형은 수집하지 않음 · [인터넷] 업체 신청 페이지 URL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[알뜰폰] 탭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040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28016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스케줄 (BA-01)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월~금 05:00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983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[인터넷] 탭 — 제휴업체</a:t>
            </a:r>
            <a:endParaRPr lang="en-US" sz="115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0352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3291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업체명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 페이지 URL (포워딩)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○○ 인터넷 대리점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https://ooo.co.kr/apply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△△ 통신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https://xxx.co.kr/internet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00100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미등록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001000" y="207568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유형은 수집하지 않음 ("–")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26791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≠ 선불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29718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URL을 두 유형에 넣으면 저장 불가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8001000" y="3575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[테스트]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01000" y="38679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수집해 추출 건수와 앞 5건 미리보기 (저장 안 함)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001000" y="44714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삭제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476402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중지 · 게시 중 요금제는 비노출(기본) 또는 유지 — 판매 종료로 보지 않음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8001000" y="53675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제휴업체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001000" y="566013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업체 기본 신청 URL → 인터넷 상품 신청 시 포워딩 (상품별 URL은 PR-02)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점검 → 승인 → 게시 예약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BA-02 · BA-03 · PR-01 화면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권한관리에서 점검 · 승인 권한을 받은 사람은 둘 다 할 수 있습니다 (같은 사람 가능, 처리 이력은 접속이력관리에 기록)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527048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요금제배치관리</a:t>
            </a:r>
            <a:endParaRPr lang="en-US" sz="13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143000"/>
                <a:gridCol w="1143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게시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16,500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15,900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49808" y="36576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리스트 전체 확인 + 신규 · 변경만 점검 대기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요금제: 제휴사 코드 → 없으면 제휴사 + 이름 + 망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미보관 → [제휴사 페이지 열기]로 대조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완료 → 승인 요청 / 제외(사유 필수)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BA-03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294376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승인관리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517136" y="237744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4296" y="245059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시 예상 영향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11GB · SKT  16,500 → 15,900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1번 가격 변경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17136" y="3730752"/>
            <a:ext cx="315468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→ 요금제관리로 이관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420624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= 이관, 상태 "게시 대기" (아직 비노출)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 필수 → BA-02 점검 대기로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승인하면서 게시 일시 함께 지정 (선택, 제안)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미리보기로 프런트 확인 (외부 비공개)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83296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84464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061704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요금제관리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8284464" y="239572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802116" y="239572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9319768" y="2395728"/>
            <a:ext cx="75260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일정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84464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84464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3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915400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5400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915400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1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9546336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46336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9546336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10177272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177272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10808208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808208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10808208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1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284464" y="3794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· 개통 URL이 비면 예약 불가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예약(10분 단위) / 즉시 게시 / 예약 취소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게시하면 "○○ 기준" 날짜 = 수집일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[게시 일정] 주간 · 월간 달력, 롤백 7일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스케줄 · 판매 종료 · 알림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일정으로 수집, 사라지면 판매 종료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파싱이 정상 완료된 URL에서만 판매 종료를 판단합니다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BA-01 스케줄관리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36118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22960"/>
                <a:gridCol w="777240"/>
                <a:gridCol w="685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04:00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04:30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월~금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OFF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61188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1회 (판매 종료 1일 단위)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[즉시 실행] 재수집 · 재시도 30분 × 2회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[실행 이력] 성공 / 실패 / 이상, 건수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결과에서 사라짐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321808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(승인 없음)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97296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· Hero 자동 제외 + 알림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434840" y="1783080"/>
            <a:ext cx="3611880" cy="4480560"/>
          </a:xfrm>
          <a:prstGeom prst="roundRect">
            <a:avLst>
              <a:gd name="adj" fmla="val 4051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6008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조건 — "수집 이상"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36008" y="242316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4231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실패 · 시간 초과 · 오류 응답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36008" y="297180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75488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요금제 0건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636008" y="352044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4880" y="35204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건수가 직전보다 50% 넘게 감소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636008" y="406908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4880" y="406908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항목 추출 실패 20% 초과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46817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판매 종료를 포함해 아무것도 반영하지 않고 알림만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636008" y="5257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대량 종료라면 BA-01 실행 이력에서 [판매 종료 일괄 반영]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36676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300" dirty="0"/>
          </a:p>
        </p:txBody>
      </p:sp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194560"/>
          <a:ext cx="3246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결과 요약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수집 완료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실패 ·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 종료 · 메인 제외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 · 승인 지연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초과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게시 예약 실패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포워딩 URL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(추후)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 · 24시간 지연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8366760" y="54864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사람 · 채널은 ST-02 관리자관리에서 설정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접수관리 · 프로모션 보류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· 인터넷 모두 포워딩, 프로모션관리는 보류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신청서를 받지 않고 제휴사 · 제휴업체로 보내며, 이동 기록만 접수관리에 남깁니다 (개인정보 없음)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PR-03 프로모션관리 — 보류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801368"/>
            <a:ext cx="811022" cy="256032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추후 기획</a:t>
            </a:r>
            <a:endParaRPr lang="en-US" sz="9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보류 기간 임시 규칙 (제안)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· 승인된 항목을 제휴사 사이트 순서대로, 제휴사 이름순 (최대 7개) · 배지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Hero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 앞 3개 자동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배너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기획서 문구로 고정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(S3)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3차 범위 — 보류 기간에는 노출 안 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48920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 시 자동 제외 + 알림은 보류와 관계없이 적용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기획할 때 검토 범위: 이달의 순서 · 배지, Hero, 배너, 이벤트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 — 포워딩 이동 기록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240280"/>
            <a:ext cx="512064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350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알뜰폰접수신청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[개통하기]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278892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/go/{planId}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278892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96696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개통 URL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92240" y="3749040"/>
            <a:ext cx="512064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858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RC-02 인터넷접수신청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[상담 신청]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29768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/go/internet/{id}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784080" y="429768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6696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URL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5349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상품 · 제휴사(업체) · 일시 · 유입 화면 · 이동 결과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기능은 프런트 · 백오피스 모두 제외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→ 목록 합계 · 엑셀 · 정산 대조 자료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환경설정 · 권한 · 개발 순서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권한 그룹 × 화면 × 동작으로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프로그램관리에 등록한 화면을 기준으로 권한관리에서 동작 권한을 체크합니다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ST-01 프로그램관리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그룹 · 화면 · 허용 동작 등록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ST-02 관리자관리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· 권한 그룹 · OTP · 알림 수신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ST-03 권한관리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그룹별 화면 × 동작 체크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ST-04 약관관리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· 방침 · 동의 문구 버전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ST-05 접속이력관리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화면 접속 · 점검 · 승인 · 다운로드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ST-06 Footer관리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 정보 · 고객센터 · 고지 ·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ST-07 1:1문의관리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[FAQ] 관리 · [1:1 문의]는 추후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783080"/>
            <a:ext cx="2606040" cy="4480560"/>
          </a:xfrm>
          <a:prstGeom prst="roundRect">
            <a:avLst>
              <a:gd name="adj" fmla="val 5614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9202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권한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39572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23774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289864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2880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· 수정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40156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3383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390448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886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440740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75120" y="43891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· 게시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491032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892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541324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53949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열람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91540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222199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ST-01·02·03·05, PA-01, BA-01~03, PR-01 · PR-02, RC-01 · RC-02, ST-04 · ST-06, 알림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34747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915400" y="3913632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ST-07 FAQ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후 · 보류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915400" y="5239512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MB-01 회원 · ST-07 1:1 문의 (회원 기능과 함께), 파서 고도화 · 보류: PR-03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데이터 · 운영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 · 트래킹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목업의 요금제 데이터(PLANS)는 실서비스에서 크롤링 수집 → 승인된 데이터로 바뀝니다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(후불 · 선불)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크롤링(스케줄) → 점검 → 승인 → 게시 예약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항목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· 문자 · 데이터 · QoS, 없으면 보완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수집 (순서 · 배지는 보류)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등록 (PR-02)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통계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배치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문의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포워딩 이동 기록 · 1:1 문의 (ST-07)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트래킹 이벤트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(04장)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PA-01 · BA-01~03 · PR-01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프로모션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PR-03 보류 (임시 규칙)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PR-02 (상품별 신청 URL)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개통신청 · RC-02 인터넷 이동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ST-07 1:1 문의 · FAQ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Footer · 회원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ST-04 · ST-06 · MB-01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53712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calc_change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8072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calc_result_click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553712" y="30540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plan_click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33009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plan_detail_view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5478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plan_activate_click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53712" y="3794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plans_filter_change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40416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compare_add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553712" y="428853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internet_forward_click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53712" y="4535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faq_search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53712" y="5806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연락처 · 전화번호는 파라미터에 넣지 않음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결정 사항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결정 5건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10.07에 결정 13건을 확정했습니다 — 남은 항목과 이번에 확정 · 보류한 내용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결정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577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88036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사업자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ST-06 Footer관리에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운영 시간 · 연락처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ST-06에 입력 (1차 문의 창구)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#partners 섹션 유지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유지, 전체는 S1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 이력 보관 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법무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문의를 1차에서 빼고 FAQ + 고객센터로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ST-07 [FAQ]만 1차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235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지표 "최대 절감률" 자리는 "비교 가능한 요금제 수"로 교체 제안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46520" y="1783080"/>
            <a:ext cx="5166360" cy="4480560"/>
          </a:xfrm>
          <a:prstGeom prst="roundRect">
            <a:avLst>
              <a:gd name="adj" fmla="val 326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1920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10.07 확정 · 보류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23774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제거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23591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요금 안내 (프런트 · 백오피스)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28346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35240" y="28163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· 문자 · 데이터 · QoS, 없으면 보완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2918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35240" y="3273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초기엔 제휴사 이벤트 모음만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37490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37307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마이페이지 1차 제외 · 회원관리는 오픈 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675120" y="42062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635240" y="41879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 없음 · 2단계 인증 필수 · IP 제한 선택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675120" y="46634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635240" y="46451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= 사내 메신저 · 롤백 7일 · 파싱 값 30일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675120" y="51206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51023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포워딩 유입 추적은 정산 협의 때 결정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675120" y="55778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7635240" y="5559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PR-03 프로모션관리 (임시 규칙 운영)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확정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정보 · 고객센터 운영 시간, 1:1 문의 1차 제외 여부, 접속 이력 보관 기간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3891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개발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제휴사 · 배치 · 요금제 · 접수 · 환경설정 + S1 · S2(개통하기) · S4(포워딩) · S8 · S9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0467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3차 개발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2차: FAQ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후: 회원(로그인 · 마이페이지 · 회원관리) · 1:1 문의 · 이벤트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897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github.com/chlee-oss/im010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(주)아임공일공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im010 홈페이지 기획서</dc:title>
  <dc:subject>PptxGenJS Presentation</dc:subject>
  <dc:creator>chlee</dc:creator>
  <cp:lastModifiedBy>chlee</cp:lastModifiedBy>
  <cp:revision>1</cp:revision>
  <dcterms:created xsi:type="dcterms:W3CDTF">2026-10-07T00:35:53Z</dcterms:created>
  <dcterms:modified xsi:type="dcterms:W3CDTF">2026-10-07T00:35:53Z</dcterms:modified>
</cp:coreProperties>
</file>